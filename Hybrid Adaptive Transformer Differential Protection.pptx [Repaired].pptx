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微软雅黑" panose="020B0503020204020204" pitchFamily="34" charset="-122"/>
      <p:regular r:id="rId22"/>
      <p:bold r:id="rId23"/>
    </p:embeddedFont>
    <p:embeddedFont>
      <p:font typeface="Noto Sans SC" panose="020B0604020202020204" charset="-128"/>
      <p:regular r:id="rId24"/>
    </p:embeddedFont>
    <p:embeddedFont>
      <p:font typeface="Quattrocento Sans" panose="020B0604020202020204" charset="0"/>
      <p:regular r:id="rId25"/>
    </p:embeddedFont>
    <p:embeddedFont>
      <p:font typeface="MiSans" panose="020B0604020202020204" charset="-122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660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1636633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Hybrid Adaptive Transformer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Differential Protection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3293983"/>
            <a:ext cx="115728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4A6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Intelligent DWT-LSTM Framework for 300 MVA Transmission Nodes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5326380"/>
            <a:ext cx="11430000" cy="15240"/>
          </a:xfrm>
          <a:custGeom>
            <a:avLst/>
            <a:gdLst/>
            <a:ahLst/>
            <a:cxnLst/>
            <a:rect l="l" t="t" r="r" b="b"/>
            <a:pathLst>
              <a:path w="11430000" h="15240">
                <a:moveTo>
                  <a:pt x="0" y="0"/>
                </a:moveTo>
                <a:lnTo>
                  <a:pt x="11430000" y="0"/>
                </a:lnTo>
                <a:lnTo>
                  <a:pt x="114300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55626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PARAMETERS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59436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System: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300 MVA, 230kV/11kV Yd1 Wye-Delta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62484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Methodology: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Sim2Real / DWT Feature Extraction / Stateless ONNX LSTM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Central Conflict: Security vs. Dependability in 87T Relays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98220"/>
            <a:ext cx="5587365" cy="5320665"/>
          </a:xfrm>
          <a:custGeom>
            <a:avLst/>
            <a:gdLst/>
            <a:ahLst/>
            <a:cxnLst/>
            <a:rect l="l" t="t" r="r" b="b"/>
            <a:pathLst>
              <a:path w="5587365" h="5320665">
                <a:moveTo>
                  <a:pt x="0" y="0"/>
                </a:moveTo>
                <a:lnTo>
                  <a:pt x="5587365" y="0"/>
                </a:lnTo>
                <a:lnTo>
                  <a:pt x="558736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6240" y="1005840"/>
            <a:ext cx="5572125" cy="609600"/>
          </a:xfrm>
          <a:custGeom>
            <a:avLst/>
            <a:gdLst/>
            <a:ahLst/>
            <a:cxnLst/>
            <a:rect l="l" t="t" r="r" b="b"/>
            <a:pathLst>
              <a:path w="5572125" h="609600">
                <a:moveTo>
                  <a:pt x="0" y="0"/>
                </a:moveTo>
                <a:lnTo>
                  <a:pt x="5572125" y="0"/>
                </a:lnTo>
                <a:lnTo>
                  <a:pt x="5572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58240"/>
            <a:ext cx="538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Safety Backbone (Dependability)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36" y="2210513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Physics: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3880" y="2912974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ANSI 87T relays supervise current balance (Idiff = |IHV - ILV|).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37" y="3631201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Goal: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38" y="4073993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Recall for internal faults (e.g., inter-turn shorts).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4607274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Threat: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8639" y="5368660"/>
            <a:ext cx="526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High-impedance faults often generate differential currents below standard </a:t>
            </a:r>
            <a:r>
              <a:rPr lang="en-US" b="1" dirty="0">
                <a:solidFill>
                  <a:srgbClr val="FFFFFF"/>
                </a:solidFill>
                <a:highlight>
                  <a:srgbClr val="8B4513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 p.u. </a:t>
            </a: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 thresholds, leading to missed trips.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17920" y="998220"/>
            <a:ext cx="5587365" cy="5320665"/>
          </a:xfrm>
          <a:custGeom>
            <a:avLst/>
            <a:gdLst/>
            <a:ahLst/>
            <a:cxnLst/>
            <a:rect l="l" t="t" r="r" b="b"/>
            <a:pathLst>
              <a:path w="5587365" h="5320665">
                <a:moveTo>
                  <a:pt x="0" y="0"/>
                </a:moveTo>
                <a:lnTo>
                  <a:pt x="5587365" y="0"/>
                </a:lnTo>
                <a:lnTo>
                  <a:pt x="558736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5540" y="1005840"/>
            <a:ext cx="5572125" cy="609600"/>
          </a:xfrm>
          <a:custGeom>
            <a:avLst/>
            <a:gdLst/>
            <a:ahLst/>
            <a:cxnLst/>
            <a:rect l="l" t="t" r="r" b="b"/>
            <a:pathLst>
              <a:path w="5572125" h="609600">
                <a:moveTo>
                  <a:pt x="0" y="0"/>
                </a:moveTo>
                <a:lnTo>
                  <a:pt x="5572125" y="0"/>
                </a:lnTo>
                <a:lnTo>
                  <a:pt x="55721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377940" y="1158240"/>
            <a:ext cx="538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Nonlinear Reality (Security)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603" y="2070694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Physics: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64604" y="2659690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Iron cores and current transformers possess inherent B-H non-linearities.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64605" y="3249139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Goal: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77938" y="3778995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Precision. Avoid false blackouts during benign switching.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7939" y="4418435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Threat (Synthetic Data Paradox):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16040" y="5140060"/>
            <a:ext cx="5267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stochastic transients—like magnetizing inrush and CT saturation—create severe spectral overlap with genuine faults, fooling traditional harmonic-restraint relays.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Phenomenon Spectral Signature Matrix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948587"/>
              </p:ext>
            </p:extLst>
          </p:nvPr>
        </p:nvGraphicFramePr>
        <p:xfrm>
          <a:off x="381000" y="952500"/>
          <a:ext cx="11430000" cy="3134948"/>
        </p:xfrm>
        <a:graphic>
          <a:graphicData uri="http://schemas.openxmlformats.org/drawingml/2006/table">
            <a:tbl>
              <a:tblPr/>
              <a:tblGrid>
                <a:gridCol w="1709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9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8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3737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Phenomenon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Amplitude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Harmonic Content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Symmetry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 Behavior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7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Magnetizing Inrush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Large, decaying (2-10x rated)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2nd-harmonic (&gt;15-20%)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Significant half-cycle asymmetry (unipolar spikes)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Temporal decay over cycles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7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Internal Fault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Large, sustained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Predominantly fundamental/odd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Generally symmetrical bipolar waveforms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Sustained until breaker clears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73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CT Saturation Artifacts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Clipped/abrupt truncation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Broadband high-frequency + distortion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May be one-sided/asymmetric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Can persist while CT remains saturated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1000" y="4731924"/>
            <a:ext cx="11416665" cy="1078523"/>
          </a:xfrm>
          <a:custGeom>
            <a:avLst/>
            <a:gdLst/>
            <a:ahLst/>
            <a:cxnLst/>
            <a:rect l="l" t="t" r="r" b="b"/>
            <a:pathLst>
              <a:path w="11416665" h="891540">
                <a:moveTo>
                  <a:pt x="0" y="0"/>
                </a:moveTo>
                <a:lnTo>
                  <a:pt x="11416665" y="0"/>
                </a:lnTo>
                <a:lnTo>
                  <a:pt x="11416665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3412" y="4977424"/>
            <a:ext cx="1109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IMPERATIVE: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Faults are continuous sine waves. Inrush contains "dead intervals." CT saturation introduces high-frequency clipping. DWT is required to isolate these morphological differences in the time domain.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Proposed Architecture: The Hybrid Systems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6240" y="1005841"/>
            <a:ext cx="3648075" cy="571500"/>
          </a:xfrm>
          <a:custGeom>
            <a:avLst/>
            <a:gdLst/>
            <a:ahLst/>
            <a:cxnLst/>
            <a:rect l="l" t="t" r="r" b="b"/>
            <a:pathLst>
              <a:path w="3648075" h="571500">
                <a:moveTo>
                  <a:pt x="0" y="0"/>
                </a:moveTo>
                <a:lnTo>
                  <a:pt x="3648075" y="0"/>
                </a:lnTo>
                <a:lnTo>
                  <a:pt x="36480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01015" y="1158241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Pillar 1: The Nervous System (DWT)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297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964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"Spectral Lens" refinery process.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44141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16-sample sliding window (10ms / half-cycle at 1600 Hz).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2537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1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6-dimensional energy feature vector (E_approx and E_detail via db4 wavelet).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2080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9700" y="1005841"/>
            <a:ext cx="3648075" cy="571500"/>
          </a:xfrm>
          <a:custGeom>
            <a:avLst/>
            <a:gdLst/>
            <a:ahLst/>
            <a:cxnLst/>
            <a:rect l="l" t="t" r="r" b="b"/>
            <a:pathLst>
              <a:path w="3648075" h="571500">
                <a:moveTo>
                  <a:pt x="0" y="0"/>
                </a:moveTo>
                <a:lnTo>
                  <a:pt x="3648075" y="0"/>
                </a:lnTo>
                <a:lnTo>
                  <a:pt x="36480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374475" y="1158241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Pillar 2: The Brain (LSTM)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22100" y="17297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22100" y="19964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sequence pattern recognition.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22100" y="23774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22100" y="26441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32-step sliding window (20ms).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22100" y="30251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22100" y="3291841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Floating-point confidence score (P_Internal) via Stateless ONNX.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35541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3161" y="1005841"/>
            <a:ext cx="3648075" cy="838200"/>
          </a:xfrm>
          <a:custGeom>
            <a:avLst/>
            <a:gdLst/>
            <a:ahLst/>
            <a:cxnLst/>
            <a:rect l="l" t="t" r="r" b="b"/>
            <a:pathLst>
              <a:path w="3648075" h="838200">
                <a:moveTo>
                  <a:pt x="0" y="0"/>
                </a:moveTo>
                <a:lnTo>
                  <a:pt x="3648075" y="0"/>
                </a:lnTo>
                <a:lnTo>
                  <a:pt x="3648075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247936" y="1158241"/>
            <a:ext cx="34385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Pillar 3: The Safety Backbone (Adaptive 87T)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5561" y="19964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5561" y="22631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physics-based firewall.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5561" y="26441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95561" y="29108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 current magnitudes (I</a:t>
            </a: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</a:t>
            </a: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95561" y="3291841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95561" y="3558541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tripping decision (incorporating the AI's supervisory veto).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'Two-Brain' Paradigm: Physics vs. Cognition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98220"/>
            <a:ext cx="5587365" cy="3651934"/>
          </a:xfrm>
          <a:custGeom>
            <a:avLst/>
            <a:gdLst/>
            <a:ahLst/>
            <a:cxnLst/>
            <a:rect l="l" t="t" r="r" b="b"/>
            <a:pathLst>
              <a:path w="5587365" h="2339340">
                <a:moveTo>
                  <a:pt x="0" y="0"/>
                </a:moveTo>
                <a:lnTo>
                  <a:pt x="5587365" y="0"/>
                </a:lnTo>
                <a:lnTo>
                  <a:pt x="5587365" y="2339340"/>
                </a:lnTo>
                <a:lnTo>
                  <a:pt x="0" y="2339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9590" y="1196341"/>
            <a:ext cx="530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Classical Adaptive 87T 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9589" y="1927268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First-principles physics (Kirchhoff's Current Law).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9590" y="2447856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Magnitude-based (RMS over a sliding window).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39" y="3057337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Deterministic, lightning-fast, highly dependable for major faults.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39" y="3786666"/>
            <a:ext cx="526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Weakness: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Easily fooled by the "funhouse mirror" of CT saturation; rigid thresholds limit high-impedance fault sensitivity.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998220"/>
            <a:ext cx="5587365" cy="3651934"/>
          </a:xfrm>
          <a:custGeom>
            <a:avLst/>
            <a:gdLst/>
            <a:ahLst/>
            <a:cxnLst/>
            <a:rect l="l" t="t" r="r" b="b"/>
            <a:pathLst>
              <a:path w="5587365" h="2339340">
                <a:moveTo>
                  <a:pt x="0" y="0"/>
                </a:moveTo>
                <a:lnTo>
                  <a:pt x="5587365" y="0"/>
                </a:lnTo>
                <a:lnTo>
                  <a:pt x="5587365" y="2339340"/>
                </a:lnTo>
                <a:lnTo>
                  <a:pt x="0" y="23393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8890" y="1196341"/>
            <a:ext cx="530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WT-LSTM Supervisor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6039" y="1808732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Pattern recognition and waveform morphology.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6989" y="2333556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Time-domain transients (Wavelet energy spikes).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96990" y="2982449"/>
            <a:ext cx="526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Cognitively aware of "out-of-distribution" distortions; ignores benign asymmetry.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6040" y="3786666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Weakness: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Stochastic nature inherently lacks physical fail-safes.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725" y="5074683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0" y="0"/>
                </a:moveTo>
                <a:lnTo>
                  <a:pt x="11430000" y="0"/>
                </a:lnTo>
                <a:lnTo>
                  <a:pt x="114300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5783" y="5265183"/>
            <a:ext cx="1114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CONCLUSION: AI should not trip the breaker independently. It must act as a cognitive veto overlaying a deterministic physics baseline.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Modeling: High-Fidelity Physical Plant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60120"/>
            <a:ext cx="5606415" cy="1405890"/>
          </a:xfrm>
          <a:custGeom>
            <a:avLst/>
            <a:gdLst/>
            <a:ahLst/>
            <a:cxnLst/>
            <a:rect l="l" t="t" r="r" b="b"/>
            <a:pathLst>
              <a:path w="5606415" h="1405890">
                <a:moveTo>
                  <a:pt x="0" y="0"/>
                </a:moveTo>
                <a:lnTo>
                  <a:pt x="5606415" y="0"/>
                </a:lnTo>
                <a:lnTo>
                  <a:pt x="5606415" y="1405890"/>
                </a:lnTo>
                <a:lnTo>
                  <a:pt x="0" y="14058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0141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Yd1 Transformer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1"/>
            <a:ext cx="5362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 MVA, 230kV/11kV. Modeled as three single-phase units to prevent artificial magnetic coupling between phases. Secondary voltage lags primary by 30 degrees.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55055" y="960120"/>
            <a:ext cx="5606415" cy="1405832"/>
          </a:xfrm>
          <a:custGeom>
            <a:avLst/>
            <a:gdLst/>
            <a:ahLst/>
            <a:cxnLst/>
            <a:rect l="l" t="t" r="r" b="b"/>
            <a:pathLst>
              <a:path w="5606415" h="1158240">
                <a:moveTo>
                  <a:pt x="0" y="0"/>
                </a:moveTo>
                <a:lnTo>
                  <a:pt x="5606415" y="0"/>
                </a:lnTo>
                <a:lnTo>
                  <a:pt x="5606415" y="1158240"/>
                </a:lnTo>
                <a:lnTo>
                  <a:pt x="0" y="1158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5075" y="1143527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Current Transformers (CTs)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15075" y="1486427"/>
            <a:ext cx="5362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20:1 ratio with defined burden and non-linear magnetization curves. Placed on both primary and secondary boundaries.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5765" y="2497822"/>
            <a:ext cx="11380470" cy="850155"/>
          </a:xfrm>
          <a:custGeom>
            <a:avLst/>
            <a:gdLst/>
            <a:ahLst/>
            <a:cxnLst/>
            <a:rect l="l" t="t" r="r" b="b"/>
            <a:pathLst>
              <a:path w="5606415" h="1158240">
                <a:moveTo>
                  <a:pt x="0" y="0"/>
                </a:moveTo>
                <a:lnTo>
                  <a:pt x="5606415" y="0"/>
                </a:lnTo>
                <a:lnTo>
                  <a:pt x="5606415" y="1158240"/>
                </a:lnTo>
                <a:lnTo>
                  <a:pt x="0" y="1158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109" y="2589054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Vector Group Compensation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109" y="2739522"/>
            <a:ext cx="1121654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HV Wye currents are mathematically shifted -30 degrees to trap zero-sequence currents, fulfilling prerequisite 87T operational parameters.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90957" y="3526653"/>
            <a:ext cx="8206153" cy="2957777"/>
          </a:xfrm>
          <a:custGeom>
            <a:avLst/>
            <a:gdLst/>
            <a:ahLst/>
            <a:cxnLst/>
            <a:rect l="l" t="t" r="r" b="b"/>
            <a:pathLst>
              <a:path w="5606415" h="5320665">
                <a:moveTo>
                  <a:pt x="0" y="0"/>
                </a:moveTo>
                <a:lnTo>
                  <a:pt x="5606415" y="0"/>
                </a:lnTo>
                <a:lnTo>
                  <a:pt x="56064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9389" y="6412786"/>
            <a:ext cx="63312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4A6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Three-phase transformer model with CT saturation and vector compensation</a:t>
            </a:r>
            <a:endParaRPr lang="en-US" sz="16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276" y="3560890"/>
            <a:ext cx="8044129" cy="285633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Generating </a:t>
            </a:r>
            <a:r>
              <a:rPr lang="en-US" sz="2700" b="1" dirty="0" smtClean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'Realistic' </a:t>
            </a: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Transients: Magnetic Non-Linearity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60120"/>
            <a:ext cx="5587365" cy="5149877"/>
          </a:xfrm>
          <a:custGeom>
            <a:avLst/>
            <a:gdLst/>
            <a:ahLst/>
            <a:cxnLst/>
            <a:rect l="l" t="t" r="r" b="b"/>
            <a:pathLst>
              <a:path w="5587365" h="5320665">
                <a:moveTo>
                  <a:pt x="0" y="0"/>
                </a:moveTo>
                <a:lnTo>
                  <a:pt x="5587365" y="0"/>
                </a:lnTo>
                <a:lnTo>
                  <a:pt x="558736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52606" y="2621282"/>
            <a:ext cx="857250" cy="685800"/>
          </a:xfrm>
          <a:custGeom>
            <a:avLst/>
            <a:gdLst/>
            <a:ahLst/>
            <a:cxnLst/>
            <a:rect l="l" t="t" r="r" b="b"/>
            <a:pathLst>
              <a:path w="857250" h="685800">
                <a:moveTo>
                  <a:pt x="557079" y="281955"/>
                </a:moveTo>
                <a:cubicBezTo>
                  <a:pt x="573420" y="277535"/>
                  <a:pt x="590565" y="285304"/>
                  <a:pt x="597932" y="300439"/>
                </a:cubicBezTo>
                <a:lnTo>
                  <a:pt x="622846" y="350803"/>
                </a:lnTo>
                <a:cubicBezTo>
                  <a:pt x="636642" y="352678"/>
                  <a:pt x="650171" y="356428"/>
                  <a:pt x="662895" y="361652"/>
                </a:cubicBezTo>
                <a:lnTo>
                  <a:pt x="709776" y="330443"/>
                </a:lnTo>
                <a:cubicBezTo>
                  <a:pt x="723840" y="321067"/>
                  <a:pt x="742459" y="322942"/>
                  <a:pt x="754380" y="334863"/>
                </a:cubicBezTo>
                <a:lnTo>
                  <a:pt x="780097" y="360581"/>
                </a:lnTo>
                <a:cubicBezTo>
                  <a:pt x="792019" y="372502"/>
                  <a:pt x="793894" y="391254"/>
                  <a:pt x="784518" y="405185"/>
                </a:cubicBezTo>
                <a:lnTo>
                  <a:pt x="753308" y="451931"/>
                </a:lnTo>
                <a:cubicBezTo>
                  <a:pt x="755853" y="458227"/>
                  <a:pt x="758130" y="464790"/>
                  <a:pt x="760006" y="471621"/>
                </a:cubicBezTo>
                <a:cubicBezTo>
                  <a:pt x="761881" y="478453"/>
                  <a:pt x="763086" y="485150"/>
                  <a:pt x="764024" y="491981"/>
                </a:cubicBezTo>
                <a:lnTo>
                  <a:pt x="814521" y="516895"/>
                </a:lnTo>
                <a:cubicBezTo>
                  <a:pt x="829657" y="524396"/>
                  <a:pt x="837426" y="541541"/>
                  <a:pt x="833006" y="557748"/>
                </a:cubicBezTo>
                <a:lnTo>
                  <a:pt x="823630" y="592842"/>
                </a:lnTo>
                <a:cubicBezTo>
                  <a:pt x="819210" y="609049"/>
                  <a:pt x="804074" y="620033"/>
                  <a:pt x="787197" y="618961"/>
                </a:cubicBezTo>
                <a:lnTo>
                  <a:pt x="730940" y="615345"/>
                </a:lnTo>
                <a:cubicBezTo>
                  <a:pt x="722501" y="626194"/>
                  <a:pt x="712723" y="636240"/>
                  <a:pt x="701606" y="644813"/>
                </a:cubicBezTo>
                <a:lnTo>
                  <a:pt x="705222" y="700936"/>
                </a:lnTo>
                <a:cubicBezTo>
                  <a:pt x="706294" y="717813"/>
                  <a:pt x="695310" y="733083"/>
                  <a:pt x="679103" y="737369"/>
                </a:cubicBezTo>
                <a:lnTo>
                  <a:pt x="644009" y="746745"/>
                </a:lnTo>
                <a:cubicBezTo>
                  <a:pt x="627668" y="751165"/>
                  <a:pt x="610657" y="743396"/>
                  <a:pt x="603156" y="728261"/>
                </a:cubicBezTo>
                <a:lnTo>
                  <a:pt x="578242" y="677897"/>
                </a:lnTo>
                <a:cubicBezTo>
                  <a:pt x="564446" y="676022"/>
                  <a:pt x="550917" y="672272"/>
                  <a:pt x="538192" y="667048"/>
                </a:cubicBezTo>
                <a:lnTo>
                  <a:pt x="491311" y="698257"/>
                </a:lnTo>
                <a:cubicBezTo>
                  <a:pt x="477247" y="707633"/>
                  <a:pt x="458629" y="705758"/>
                  <a:pt x="446708" y="693837"/>
                </a:cubicBezTo>
                <a:lnTo>
                  <a:pt x="420990" y="668119"/>
                </a:lnTo>
                <a:cubicBezTo>
                  <a:pt x="409069" y="656198"/>
                  <a:pt x="407194" y="637580"/>
                  <a:pt x="416570" y="623515"/>
                </a:cubicBezTo>
                <a:lnTo>
                  <a:pt x="447779" y="576635"/>
                </a:lnTo>
                <a:cubicBezTo>
                  <a:pt x="445234" y="570339"/>
                  <a:pt x="442957" y="563776"/>
                  <a:pt x="441082" y="556945"/>
                </a:cubicBezTo>
                <a:cubicBezTo>
                  <a:pt x="439207" y="550113"/>
                  <a:pt x="438001" y="543282"/>
                  <a:pt x="437064" y="536585"/>
                </a:cubicBezTo>
                <a:lnTo>
                  <a:pt x="386566" y="511671"/>
                </a:lnTo>
                <a:cubicBezTo>
                  <a:pt x="371430" y="504170"/>
                  <a:pt x="363795" y="487025"/>
                  <a:pt x="368082" y="470818"/>
                </a:cubicBezTo>
                <a:lnTo>
                  <a:pt x="377458" y="435724"/>
                </a:lnTo>
                <a:cubicBezTo>
                  <a:pt x="381878" y="419517"/>
                  <a:pt x="397014" y="408533"/>
                  <a:pt x="413891" y="409605"/>
                </a:cubicBezTo>
                <a:lnTo>
                  <a:pt x="470014" y="413221"/>
                </a:lnTo>
                <a:cubicBezTo>
                  <a:pt x="478453" y="402372"/>
                  <a:pt x="488231" y="392326"/>
                  <a:pt x="499348" y="383753"/>
                </a:cubicBezTo>
                <a:lnTo>
                  <a:pt x="495732" y="327764"/>
                </a:lnTo>
                <a:cubicBezTo>
                  <a:pt x="494660" y="310887"/>
                  <a:pt x="505644" y="295617"/>
                  <a:pt x="521851" y="291331"/>
                </a:cubicBezTo>
                <a:lnTo>
                  <a:pt x="556945" y="281955"/>
                </a:lnTo>
                <a:close/>
                <a:moveTo>
                  <a:pt x="600611" y="455414"/>
                </a:moveTo>
                <a:cubicBezTo>
                  <a:pt x="568083" y="455451"/>
                  <a:pt x="541705" y="481889"/>
                  <a:pt x="541742" y="514417"/>
                </a:cubicBezTo>
                <a:cubicBezTo>
                  <a:pt x="541779" y="546945"/>
                  <a:pt x="568217" y="573323"/>
                  <a:pt x="600745" y="573286"/>
                </a:cubicBezTo>
                <a:cubicBezTo>
                  <a:pt x="633272" y="573249"/>
                  <a:pt x="659651" y="546811"/>
                  <a:pt x="659614" y="514283"/>
                </a:cubicBezTo>
                <a:cubicBezTo>
                  <a:pt x="659577" y="481755"/>
                  <a:pt x="633138" y="455377"/>
                  <a:pt x="600611" y="455414"/>
                </a:cubicBezTo>
                <a:close/>
                <a:moveTo>
                  <a:pt x="301243" y="-60945"/>
                </a:moveTo>
                <a:lnTo>
                  <a:pt x="336337" y="-51569"/>
                </a:lnTo>
                <a:cubicBezTo>
                  <a:pt x="352544" y="-47149"/>
                  <a:pt x="363528" y="-31879"/>
                  <a:pt x="362456" y="-15136"/>
                </a:cubicBezTo>
                <a:lnTo>
                  <a:pt x="358839" y="40853"/>
                </a:lnTo>
                <a:cubicBezTo>
                  <a:pt x="369957" y="49426"/>
                  <a:pt x="379735" y="59338"/>
                  <a:pt x="388174" y="70321"/>
                </a:cubicBezTo>
                <a:lnTo>
                  <a:pt x="444431" y="66705"/>
                </a:lnTo>
                <a:cubicBezTo>
                  <a:pt x="461174" y="65633"/>
                  <a:pt x="476443" y="76617"/>
                  <a:pt x="480864" y="92824"/>
                </a:cubicBezTo>
                <a:lnTo>
                  <a:pt x="490240" y="127918"/>
                </a:lnTo>
                <a:cubicBezTo>
                  <a:pt x="494526" y="144125"/>
                  <a:pt x="486891" y="161270"/>
                  <a:pt x="471755" y="168771"/>
                </a:cubicBezTo>
                <a:lnTo>
                  <a:pt x="421258" y="193685"/>
                </a:lnTo>
                <a:cubicBezTo>
                  <a:pt x="420320" y="200516"/>
                  <a:pt x="418981" y="207347"/>
                  <a:pt x="417240" y="214045"/>
                </a:cubicBezTo>
                <a:cubicBezTo>
                  <a:pt x="415498" y="220742"/>
                  <a:pt x="413087" y="227439"/>
                  <a:pt x="410542" y="233735"/>
                </a:cubicBezTo>
                <a:lnTo>
                  <a:pt x="441752" y="280615"/>
                </a:lnTo>
                <a:cubicBezTo>
                  <a:pt x="451128" y="294680"/>
                  <a:pt x="449253" y="313298"/>
                  <a:pt x="437331" y="325219"/>
                </a:cubicBezTo>
                <a:lnTo>
                  <a:pt x="411614" y="350937"/>
                </a:lnTo>
                <a:cubicBezTo>
                  <a:pt x="399693" y="362858"/>
                  <a:pt x="381074" y="364733"/>
                  <a:pt x="367010" y="355357"/>
                </a:cubicBezTo>
                <a:lnTo>
                  <a:pt x="320129" y="324148"/>
                </a:lnTo>
                <a:cubicBezTo>
                  <a:pt x="307404" y="329372"/>
                  <a:pt x="293876" y="333122"/>
                  <a:pt x="280080" y="334997"/>
                </a:cubicBezTo>
                <a:lnTo>
                  <a:pt x="255166" y="385361"/>
                </a:lnTo>
                <a:cubicBezTo>
                  <a:pt x="247665" y="400496"/>
                  <a:pt x="230520" y="408131"/>
                  <a:pt x="214313" y="403845"/>
                </a:cubicBezTo>
                <a:lnTo>
                  <a:pt x="179219" y="394469"/>
                </a:lnTo>
                <a:cubicBezTo>
                  <a:pt x="162878" y="390049"/>
                  <a:pt x="152028" y="374779"/>
                  <a:pt x="153099" y="358036"/>
                </a:cubicBezTo>
                <a:lnTo>
                  <a:pt x="156716" y="301913"/>
                </a:lnTo>
                <a:cubicBezTo>
                  <a:pt x="145599" y="293340"/>
                  <a:pt x="135821" y="283428"/>
                  <a:pt x="127382" y="272445"/>
                </a:cubicBezTo>
                <a:lnTo>
                  <a:pt x="71125" y="276061"/>
                </a:lnTo>
                <a:cubicBezTo>
                  <a:pt x="54382" y="277133"/>
                  <a:pt x="39112" y="266149"/>
                  <a:pt x="34692" y="249942"/>
                </a:cubicBezTo>
                <a:lnTo>
                  <a:pt x="25316" y="214848"/>
                </a:lnTo>
                <a:cubicBezTo>
                  <a:pt x="21029" y="198641"/>
                  <a:pt x="28664" y="181496"/>
                  <a:pt x="43800" y="173995"/>
                </a:cubicBezTo>
                <a:lnTo>
                  <a:pt x="94298" y="149081"/>
                </a:lnTo>
                <a:cubicBezTo>
                  <a:pt x="95235" y="142250"/>
                  <a:pt x="96575" y="135553"/>
                  <a:pt x="98316" y="128721"/>
                </a:cubicBezTo>
                <a:cubicBezTo>
                  <a:pt x="100191" y="121890"/>
                  <a:pt x="102334" y="115327"/>
                  <a:pt x="105013" y="109031"/>
                </a:cubicBezTo>
                <a:lnTo>
                  <a:pt x="73804" y="62285"/>
                </a:lnTo>
                <a:cubicBezTo>
                  <a:pt x="64428" y="48220"/>
                  <a:pt x="66303" y="29602"/>
                  <a:pt x="78224" y="17681"/>
                </a:cubicBezTo>
                <a:lnTo>
                  <a:pt x="103942" y="-8037"/>
                </a:lnTo>
                <a:cubicBezTo>
                  <a:pt x="115863" y="-19958"/>
                  <a:pt x="134481" y="-21833"/>
                  <a:pt x="148545" y="-12457"/>
                </a:cubicBezTo>
                <a:lnTo>
                  <a:pt x="195426" y="18752"/>
                </a:lnTo>
                <a:cubicBezTo>
                  <a:pt x="208151" y="13528"/>
                  <a:pt x="221679" y="9778"/>
                  <a:pt x="235476" y="7903"/>
                </a:cubicBezTo>
                <a:lnTo>
                  <a:pt x="260390" y="-42461"/>
                </a:lnTo>
                <a:cubicBezTo>
                  <a:pt x="267891" y="-57596"/>
                  <a:pt x="284902" y="-65231"/>
                  <a:pt x="301243" y="-60945"/>
                </a:cubicBezTo>
                <a:close/>
                <a:moveTo>
                  <a:pt x="257711" y="112514"/>
                </a:moveTo>
                <a:cubicBezTo>
                  <a:pt x="225183" y="112514"/>
                  <a:pt x="198775" y="138922"/>
                  <a:pt x="198775" y="171450"/>
                </a:cubicBezTo>
                <a:cubicBezTo>
                  <a:pt x="198775" y="203978"/>
                  <a:pt x="225183" y="230386"/>
                  <a:pt x="257711" y="230386"/>
                </a:cubicBezTo>
                <a:cubicBezTo>
                  <a:pt x="290238" y="230386"/>
                  <a:pt x="316647" y="203978"/>
                  <a:pt x="316647" y="171450"/>
                </a:cubicBezTo>
                <a:cubicBezTo>
                  <a:pt x="316647" y="138922"/>
                  <a:pt x="290238" y="112514"/>
                  <a:pt x="257711" y="112514"/>
                </a:cubicBez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6" name="Text 4"/>
          <p:cNvSpPr/>
          <p:nvPr/>
        </p:nvSpPr>
        <p:spPr>
          <a:xfrm>
            <a:off x="816888" y="3459482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Simulink Block Parameters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6413" y="3802382"/>
            <a:ext cx="470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6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Step_down_Transformer configuration with saturation characteristics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06761" y="4187192"/>
            <a:ext cx="2950845" cy="426720"/>
          </a:xfrm>
          <a:custGeom>
            <a:avLst/>
            <a:gdLst/>
            <a:ahLst/>
            <a:cxnLst/>
            <a:rect l="l" t="t" r="r" b="b"/>
            <a:pathLst>
              <a:path w="2950845" h="426720">
                <a:moveTo>
                  <a:pt x="0" y="0"/>
                </a:moveTo>
                <a:lnTo>
                  <a:pt x="2950845" y="0"/>
                </a:lnTo>
                <a:lnTo>
                  <a:pt x="2950845" y="426720"/>
                </a:lnTo>
                <a:lnTo>
                  <a:pt x="0" y="4267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1534" y="43053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Saturation: [0 0; 0.005 1.2; 5.0 1.8]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960120"/>
            <a:ext cx="5587365" cy="1844040"/>
          </a:xfrm>
          <a:custGeom>
            <a:avLst/>
            <a:gdLst/>
            <a:ahLst/>
            <a:cxnLst/>
            <a:rect l="l" t="t" r="r" b="b"/>
            <a:pathLst>
              <a:path w="5587365" h="1844040">
                <a:moveTo>
                  <a:pt x="0" y="0"/>
                </a:moveTo>
                <a:lnTo>
                  <a:pt x="5587365" y="0"/>
                </a:lnTo>
                <a:lnTo>
                  <a:pt x="5587365" y="1844040"/>
                </a:lnTo>
                <a:lnTo>
                  <a:pt x="0" y="18440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7940" y="1120141"/>
            <a:ext cx="536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Saturation Characteristic Matrix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77940" y="1501141"/>
            <a:ext cx="5267325" cy="1028700"/>
          </a:xfrm>
          <a:custGeom>
            <a:avLst/>
            <a:gdLst/>
            <a:ahLst/>
            <a:cxnLst/>
            <a:rect l="l" t="t" r="r" b="b"/>
            <a:pathLst>
              <a:path w="5267325" h="1028700">
                <a:moveTo>
                  <a:pt x="0" y="0"/>
                </a:moveTo>
                <a:lnTo>
                  <a:pt x="5267325" y="0"/>
                </a:lnTo>
                <a:lnTo>
                  <a:pt x="526732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335078" y="1501141"/>
            <a:ext cx="5353050" cy="10287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[0      0;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0.005 1.2;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5.0    1.8]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0300" y="2964182"/>
            <a:ext cx="567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 (The Knee Point):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 to 1.2 p.u. flux, the core requires only </a:t>
            </a:r>
            <a:r>
              <a:rPr lang="en-US" sz="1200" b="1" dirty="0">
                <a:solidFill>
                  <a:srgbClr val="FFFFFF"/>
                </a:solidFill>
                <a:highlight>
                  <a:srgbClr val="8B4513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0.5% 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rated current.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0300" y="3535682"/>
            <a:ext cx="567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 (Deep Saturation):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Pushing flux from 1.2 to 1.8 p.u. requires a </a:t>
            </a:r>
            <a:r>
              <a:rPr lang="en-US" sz="1200" b="1" dirty="0">
                <a:solidFill>
                  <a:srgbClr val="FFFFFF"/>
                </a:solidFill>
                <a:highlight>
                  <a:srgbClr val="8B4513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1000x 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in magnetizing current.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0300" y="4107182"/>
            <a:ext cx="567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Relevance: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non-linearity generates massive asymmetric harmonic-rich inrush spikes necessary for training.</a:t>
            </a:r>
            <a:endParaRPr lang="en-US" sz="16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61367"/>
            <a:ext cx="5620897" cy="5148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Crossing the Sim2Real Gap: Impairment Injection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60120"/>
            <a:ext cx="11416665" cy="3645588"/>
          </a:xfrm>
          <a:custGeom>
            <a:avLst/>
            <a:gdLst/>
            <a:ahLst/>
            <a:cxnLst/>
            <a:rect l="l" t="t" r="r" b="b"/>
            <a:pathLst>
              <a:path w="11416665" h="1577340">
                <a:moveTo>
                  <a:pt x="0" y="0"/>
                </a:moveTo>
                <a:lnTo>
                  <a:pt x="11416665" y="0"/>
                </a:lnTo>
                <a:lnTo>
                  <a:pt x="11416665" y="1577340"/>
                </a:lnTo>
                <a:lnTo>
                  <a:pt x="0" y="157734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01328" y="3958009"/>
            <a:ext cx="606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Simulink Impairment Injection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0853" y="4224709"/>
            <a:ext cx="604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6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 flow: IA_Prim → CT_Gain_Mismatch → Noise_Gain → Quantizer → Dig_IA_Prim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5283" y="4853356"/>
            <a:ext cx="2729865" cy="1653540"/>
          </a:xfrm>
          <a:custGeom>
            <a:avLst/>
            <a:gdLst/>
            <a:ahLst/>
            <a:cxnLst/>
            <a:rect l="l" t="t" r="r" b="b"/>
            <a:pathLst>
              <a:path w="2729865" h="1653540">
                <a:moveTo>
                  <a:pt x="0" y="0"/>
                </a:moveTo>
                <a:lnTo>
                  <a:pt x="2729865" y="0"/>
                </a:lnTo>
                <a:lnTo>
                  <a:pt x="2729865" y="1653540"/>
                </a:lnTo>
                <a:lnTo>
                  <a:pt x="0" y="165354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441" y="5013377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Hypothesis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5303" y="5356277"/>
            <a:ext cx="24860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AI on "polite" simulation data creates models that fail against real-world sensor degradation.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50883" y="4853356"/>
            <a:ext cx="2729865" cy="1653540"/>
          </a:xfrm>
          <a:custGeom>
            <a:avLst/>
            <a:gdLst/>
            <a:ahLst/>
            <a:cxnLst/>
            <a:rect l="l" t="t" r="r" b="b"/>
            <a:pathLst>
              <a:path w="2729865" h="1653540">
                <a:moveTo>
                  <a:pt x="0" y="0"/>
                </a:moveTo>
                <a:lnTo>
                  <a:pt x="2729865" y="0"/>
                </a:lnTo>
                <a:lnTo>
                  <a:pt x="2729865" y="1653540"/>
                </a:lnTo>
                <a:lnTo>
                  <a:pt x="0" y="165354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8041" y="5013377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10903" y="5356277"/>
            <a:ext cx="24860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Injected up to 2% independent gain error per phase. Band-limited White Gaussian Noise at 30dB to 15dB.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46483" y="4853356"/>
            <a:ext cx="2729865" cy="1653540"/>
          </a:xfrm>
          <a:custGeom>
            <a:avLst/>
            <a:gdLst/>
            <a:ahLst/>
            <a:cxnLst/>
            <a:rect l="l" t="t" r="r" b="b"/>
            <a:pathLst>
              <a:path w="2729865" h="1653540">
                <a:moveTo>
                  <a:pt x="0" y="0"/>
                </a:moveTo>
                <a:lnTo>
                  <a:pt x="2729865" y="0"/>
                </a:lnTo>
                <a:lnTo>
                  <a:pt x="2729865" y="1653540"/>
                </a:lnTo>
                <a:lnTo>
                  <a:pt x="0" y="165354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1" y="5013377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6503" y="5356277"/>
            <a:ext cx="24860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16-bit ADC block forces smooth sine waves into discrete staircase steps, mimicking digital relay hardware.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42083" y="4853356"/>
            <a:ext cx="2729865" cy="1653540"/>
          </a:xfrm>
          <a:custGeom>
            <a:avLst/>
            <a:gdLst/>
            <a:ahLst/>
            <a:cxnLst/>
            <a:rect l="l" t="t" r="r" b="b"/>
            <a:pathLst>
              <a:path w="2729865" h="1653540">
                <a:moveTo>
                  <a:pt x="0" y="0"/>
                </a:moveTo>
                <a:lnTo>
                  <a:pt x="2729865" y="0"/>
                </a:lnTo>
                <a:lnTo>
                  <a:pt x="2729865" y="1653540"/>
                </a:lnTo>
                <a:lnTo>
                  <a:pt x="0" y="165354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9241" y="5013377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02103" y="5356277"/>
            <a:ext cx="24860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LSTM is forced to learn true underlying fault morphology rather than memorizing perfect mathematical geometry.</a:t>
            </a:r>
            <a:endParaRPr lang="en-US" sz="16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979" y="1027184"/>
            <a:ext cx="4608121" cy="28317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Feature Engineering: The DWT </a:t>
            </a:r>
            <a:r>
              <a:rPr lang="en-US" sz="2700" b="1" dirty="0" smtClean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60120"/>
            <a:ext cx="5587365" cy="5320665"/>
          </a:xfrm>
          <a:custGeom>
            <a:avLst/>
            <a:gdLst/>
            <a:ahLst/>
            <a:cxnLst/>
            <a:rect l="l" t="t" r="r" b="b"/>
            <a:pathLst>
              <a:path w="5587365" h="5320665">
                <a:moveTo>
                  <a:pt x="0" y="0"/>
                </a:moveTo>
                <a:lnTo>
                  <a:pt x="5587365" y="0"/>
                </a:lnTo>
                <a:lnTo>
                  <a:pt x="558736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6740" y="1158241"/>
            <a:ext cx="530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Sliding Window Mechanics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6740" y="1615320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6740" y="1882020"/>
            <a:ext cx="526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relay cannot wait for a full offline dataset. It uses a "Time Machine" effect.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6740" y="2491620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6740" y="2758320"/>
            <a:ext cx="526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16-sample sliding window (10ms / half-cycle) shifts forward by 1 sample per discrete time step (t).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6740" y="3367920"/>
            <a:ext cx="5191125" cy="1666875"/>
          </a:xfrm>
          <a:custGeom>
            <a:avLst/>
            <a:gdLst/>
            <a:ahLst/>
            <a:cxnLst/>
            <a:rect l="l" t="t" r="r" b="b"/>
            <a:pathLst>
              <a:path w="5191125" h="1666875">
                <a:moveTo>
                  <a:pt x="0" y="0"/>
                </a:moveTo>
                <a:lnTo>
                  <a:pt x="5191125" y="0"/>
                </a:lnTo>
                <a:lnTo>
                  <a:pt x="51911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2313146" y="3527940"/>
            <a:ext cx="1339215" cy="396240"/>
          </a:xfrm>
          <a:custGeom>
            <a:avLst/>
            <a:gdLst/>
            <a:ahLst/>
            <a:cxnLst/>
            <a:rect l="l" t="t" r="r" b="b"/>
            <a:pathLst>
              <a:path w="1339215" h="396240">
                <a:moveTo>
                  <a:pt x="0" y="0"/>
                </a:moveTo>
                <a:lnTo>
                  <a:pt x="1339215" y="0"/>
                </a:lnTo>
                <a:lnTo>
                  <a:pt x="1339215" y="396240"/>
                </a:lnTo>
                <a:lnTo>
                  <a:pt x="0" y="396240"/>
                </a:lnTo>
                <a:lnTo>
                  <a:pt x="0" y="0"/>
                </a:lnTo>
                <a:close/>
              </a:path>
            </a:pathLst>
          </a:custGeom>
          <a:solidFill>
            <a:srgbClr val="4A6B8A"/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5066" y="3611761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10ms Window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99880" y="36117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3009900" y="4373761"/>
            <a:ext cx="152400" cy="247650"/>
          </a:xfrm>
          <a:custGeom>
            <a:avLst/>
            <a:gdLst/>
            <a:ahLst/>
            <a:cxnLst/>
            <a:rect l="l" t="t" r="r" b="b"/>
            <a:pathLst>
              <a:path w="152400" h="247650">
                <a:moveTo>
                  <a:pt x="0" y="0"/>
                </a:moveTo>
                <a:lnTo>
                  <a:pt x="152400" y="0"/>
                </a:lnTo>
                <a:lnTo>
                  <a:pt x="15240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4434720"/>
            <a:ext cx="152400" cy="180975"/>
          </a:xfrm>
          <a:custGeom>
            <a:avLst/>
            <a:gdLst/>
            <a:ahLst/>
            <a:cxnLst/>
            <a:rect l="l" t="t" r="r" b="b"/>
            <a:pathLst>
              <a:path w="152400" h="180975">
                <a:moveTo>
                  <a:pt x="0" y="0"/>
                </a:moveTo>
                <a:lnTo>
                  <a:pt x="152400" y="0"/>
                </a:lnTo>
                <a:lnTo>
                  <a:pt x="1524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18" name="Shape 16"/>
          <p:cNvSpPr/>
          <p:nvPr/>
        </p:nvSpPr>
        <p:spPr>
          <a:xfrm>
            <a:off x="3390900" y="4495684"/>
            <a:ext cx="152400" cy="123825"/>
          </a:xfrm>
          <a:custGeom>
            <a:avLst/>
            <a:gdLst/>
            <a:ahLst/>
            <a:cxnLst/>
            <a:rect l="l" t="t" r="r" b="b"/>
            <a:pathLst>
              <a:path w="152400" h="123825">
                <a:moveTo>
                  <a:pt x="0" y="0"/>
                </a:moveTo>
                <a:lnTo>
                  <a:pt x="152400" y="0"/>
                </a:lnTo>
                <a:lnTo>
                  <a:pt x="152400" y="123825"/>
                </a:ln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19" name="Shape 17"/>
          <p:cNvSpPr/>
          <p:nvPr/>
        </p:nvSpPr>
        <p:spPr>
          <a:xfrm>
            <a:off x="3581400" y="4526161"/>
            <a:ext cx="152400" cy="95250"/>
          </a:xfrm>
          <a:custGeom>
            <a:avLst/>
            <a:gdLst/>
            <a:ahLst/>
            <a:cxnLst/>
            <a:rect l="l" t="t" r="r" b="b"/>
            <a:pathLst>
              <a:path w="152400" h="95250">
                <a:moveTo>
                  <a:pt x="0" y="0"/>
                </a:moveTo>
                <a:lnTo>
                  <a:pt x="152400" y="0"/>
                </a:lnTo>
                <a:lnTo>
                  <a:pt x="15240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20" name="Text 18"/>
          <p:cNvSpPr/>
          <p:nvPr/>
        </p:nvSpPr>
        <p:spPr>
          <a:xfrm>
            <a:off x="705802" y="4693802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 smtClean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tt_1 </a:t>
            </a:r>
            <a:r>
              <a:rPr lang="en-US" sz="10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t_2 ... t_3 ...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960120"/>
            <a:ext cx="5587365" cy="5320665"/>
          </a:xfrm>
          <a:custGeom>
            <a:avLst/>
            <a:gdLst/>
            <a:ahLst/>
            <a:cxnLst/>
            <a:rect l="l" t="t" r="r" b="b"/>
            <a:pathLst>
              <a:path w="5587365" h="5320665">
                <a:moveTo>
                  <a:pt x="0" y="0"/>
                </a:moveTo>
                <a:lnTo>
                  <a:pt x="5587365" y="0"/>
                </a:lnTo>
                <a:lnTo>
                  <a:pt x="558736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6040" y="1158241"/>
            <a:ext cx="530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Parseval's Theorem &amp; db4 Extraction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6040" y="1615320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6040" y="1882020"/>
            <a:ext cx="526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Daubechies-4 (db4) mother wavelet selected for its jagged, asymmetrical shape optimized for fault inception spikes.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6040" y="2491620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Dimensionality Reduction: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6040" y="2758320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raw points convert into 2 energy features per phase.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6040" y="3139320"/>
            <a:ext cx="5191125" cy="723900"/>
          </a:xfrm>
          <a:custGeom>
            <a:avLst/>
            <a:gdLst/>
            <a:ahLst/>
            <a:cxnLst/>
            <a:rect l="l" t="t" r="r" b="b"/>
            <a:pathLst>
              <a:path w="5191125" h="723900">
                <a:moveTo>
                  <a:pt x="0" y="0"/>
                </a:moveTo>
                <a:lnTo>
                  <a:pt x="5191125" y="0"/>
                </a:lnTo>
                <a:lnTo>
                  <a:pt x="519112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6530340" y="3253620"/>
            <a:ext cx="503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6-dimensional vector: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0340" y="3520320"/>
            <a:ext cx="503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V_t = [E_approx_A, E_detail_A, ...]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6040" y="4015620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Relevance: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16040" y="4282320"/>
            <a:ext cx="5267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E_approx isolates the smooth 50 Hz fundamental. E_detail acts as a "flare in a dark room," highlighting jagged fault transients.</a:t>
            </a:r>
            <a:endParaRPr lang="en-US" sz="16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47" y="3380109"/>
            <a:ext cx="5325218" cy="21529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Supervisor: Attention-Enhanced LSTM Network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6740" y="1546861"/>
            <a:ext cx="3267075" cy="15240"/>
          </a:xfrm>
          <a:custGeom>
            <a:avLst/>
            <a:gdLst/>
            <a:ahLst/>
            <a:cxnLst/>
            <a:rect l="l" t="t" r="r" b="b"/>
            <a:pathLst>
              <a:path w="3267075" h="15240">
                <a:moveTo>
                  <a:pt x="0" y="0"/>
                </a:moveTo>
                <a:lnTo>
                  <a:pt x="3267075" y="0"/>
                </a:lnTo>
                <a:lnTo>
                  <a:pt x="32670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39115" y="1196341"/>
            <a:ext cx="3362325" cy="342900"/>
          </a:xfrm>
          <a:prstGeom prst="rect">
            <a:avLst/>
          </a:prstGeom>
          <a:noFill/>
          <a:ln/>
        </p:spPr>
        <p:txBody>
          <a:bodyPr wrap="square" lIns="0" tIns="0" rIns="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Global Temporal Attention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164" y="2281894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Physics: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39" y="2885051"/>
            <a:ext cx="3343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fault inception may only last 2-5ms within a larger time window.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9115" y="3945408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Implementation: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8165" y="4749020"/>
            <a:ext cx="3343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Attention Mechanism forces the network to focus exclusively on high-energy transient milliseconds, ignoring pre-fault ambient spectral leakage.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62080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0200" y="1813561"/>
            <a:ext cx="3267075" cy="15240"/>
          </a:xfrm>
          <a:custGeom>
            <a:avLst/>
            <a:gdLst/>
            <a:ahLst/>
            <a:cxnLst/>
            <a:rect l="l" t="t" r="r" b="b"/>
            <a:pathLst>
              <a:path w="3267075" h="15240">
                <a:moveTo>
                  <a:pt x="0" y="0"/>
                </a:moveTo>
                <a:lnTo>
                  <a:pt x="3267075" y="0"/>
                </a:lnTo>
                <a:lnTo>
                  <a:pt x="32670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412575" y="1196341"/>
            <a:ext cx="3362325" cy="609600"/>
          </a:xfrm>
          <a:prstGeom prst="rect">
            <a:avLst/>
          </a:prstGeom>
          <a:noFill/>
          <a:ln/>
        </p:spPr>
        <p:txBody>
          <a:bodyPr wrap="square" lIns="0" tIns="0" rIns="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Recursive Hidden States &amp; Weight Sharing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3999" y="2316482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Training: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84000" y="3040382"/>
            <a:ext cx="3343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hidden units across 2 layers. Trained offline on 1601-step sequences (1.0 seconds).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84000" y="3947164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Deployment: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12575" y="4655236"/>
            <a:ext cx="3343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 sharing allows the network to maintain temporal context when deployed on a 32-step (20ms) sliding window.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135541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3661" y="1813561"/>
            <a:ext cx="3267075" cy="15240"/>
          </a:xfrm>
          <a:custGeom>
            <a:avLst/>
            <a:gdLst/>
            <a:ahLst/>
            <a:cxnLst/>
            <a:rect l="l" t="t" r="r" b="b"/>
            <a:pathLst>
              <a:path w="3267075" h="15240">
                <a:moveTo>
                  <a:pt x="0" y="0"/>
                </a:moveTo>
                <a:lnTo>
                  <a:pt x="3267075" y="0"/>
                </a:lnTo>
                <a:lnTo>
                  <a:pt x="3267075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286036" y="1196341"/>
            <a:ext cx="3362325" cy="609600"/>
          </a:xfrm>
          <a:prstGeom prst="rect">
            <a:avLst/>
          </a:prstGeom>
          <a:noFill/>
          <a:ln/>
        </p:spPr>
        <p:txBody>
          <a:bodyPr wrap="square" lIns="0" tIns="0" rIns="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Stochastic Randomization (The Training Data)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33661" y="2583182"/>
            <a:ext cx="3343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script (ControlPanel.m) generates 1,000+ Monte Carlo scenarios varying critical physical parameters: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57461" y="4502836"/>
            <a:ext cx="3343275" cy="838200"/>
          </a:xfrm>
          <a:prstGeom prst="rect">
            <a:avLst/>
          </a:prstGeom>
          <a:noFill/>
          <a:ln/>
        </p:spPr>
        <p:txBody>
          <a:bodyPr wrap="square" lIns="19050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Fault Resistance: 0.01 Ohms to 100 Ohms</a:t>
            </a:r>
            <a:endParaRPr lang="en-US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Inception Angle: 0 degrees to 360 degrees</a:t>
            </a:r>
            <a:endParaRPr lang="en-US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Remanent Flux: 0.3 p.u. to 0.9 p.u.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Real-Time Deployment: The ONNX Bridge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60120"/>
            <a:ext cx="5587365" cy="5320665"/>
          </a:xfrm>
          <a:custGeom>
            <a:avLst/>
            <a:gdLst/>
            <a:ahLst/>
            <a:cxnLst/>
            <a:rect l="l" t="t" r="r" b="b"/>
            <a:pathLst>
              <a:path w="5587365" h="5320665">
                <a:moveTo>
                  <a:pt x="0" y="0"/>
                </a:moveTo>
                <a:lnTo>
                  <a:pt x="5587365" y="0"/>
                </a:lnTo>
                <a:lnTo>
                  <a:pt x="558736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8331" y="245745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257175" y="85725"/>
                </a:moveTo>
                <a:cubicBezTo>
                  <a:pt x="257175" y="62017"/>
                  <a:pt x="276329" y="42863"/>
                  <a:pt x="300038" y="42863"/>
                </a:cubicBezTo>
                <a:lnTo>
                  <a:pt x="385763" y="42863"/>
                </a:lnTo>
                <a:cubicBezTo>
                  <a:pt x="409471" y="42863"/>
                  <a:pt x="428625" y="62017"/>
                  <a:pt x="428625" y="85725"/>
                </a:cubicBezTo>
                <a:lnTo>
                  <a:pt x="428625" y="171450"/>
                </a:lnTo>
                <a:cubicBezTo>
                  <a:pt x="428625" y="195158"/>
                  <a:pt x="409471" y="214313"/>
                  <a:pt x="385763" y="214313"/>
                </a:cubicBezTo>
                <a:lnTo>
                  <a:pt x="375047" y="214313"/>
                </a:lnTo>
                <a:lnTo>
                  <a:pt x="375047" y="300038"/>
                </a:lnTo>
                <a:lnTo>
                  <a:pt x="535781" y="300038"/>
                </a:lnTo>
                <a:cubicBezTo>
                  <a:pt x="589091" y="300038"/>
                  <a:pt x="632222" y="343168"/>
                  <a:pt x="632222" y="396478"/>
                </a:cubicBezTo>
                <a:lnTo>
                  <a:pt x="632222" y="471488"/>
                </a:lnTo>
                <a:lnTo>
                  <a:pt x="642938" y="471488"/>
                </a:lnTo>
                <a:cubicBezTo>
                  <a:pt x="666646" y="471488"/>
                  <a:pt x="685800" y="490642"/>
                  <a:pt x="685800" y="514350"/>
                </a:cubicBezTo>
                <a:lnTo>
                  <a:pt x="685800" y="600075"/>
                </a:lnTo>
                <a:cubicBezTo>
                  <a:pt x="685800" y="623783"/>
                  <a:pt x="666646" y="642938"/>
                  <a:pt x="642938" y="642938"/>
                </a:cubicBezTo>
                <a:lnTo>
                  <a:pt x="557213" y="642938"/>
                </a:lnTo>
                <a:cubicBezTo>
                  <a:pt x="533504" y="642938"/>
                  <a:pt x="514350" y="623783"/>
                  <a:pt x="514350" y="600075"/>
                </a:cubicBezTo>
                <a:lnTo>
                  <a:pt x="514350" y="514350"/>
                </a:lnTo>
                <a:cubicBezTo>
                  <a:pt x="514350" y="490642"/>
                  <a:pt x="533504" y="471488"/>
                  <a:pt x="557213" y="471488"/>
                </a:cubicBezTo>
                <a:lnTo>
                  <a:pt x="567928" y="471488"/>
                </a:lnTo>
                <a:lnTo>
                  <a:pt x="567928" y="396478"/>
                </a:lnTo>
                <a:cubicBezTo>
                  <a:pt x="567928" y="378663"/>
                  <a:pt x="553596" y="364331"/>
                  <a:pt x="535781" y="364331"/>
                </a:cubicBezTo>
                <a:lnTo>
                  <a:pt x="375047" y="364331"/>
                </a:lnTo>
                <a:lnTo>
                  <a:pt x="375047" y="471488"/>
                </a:lnTo>
                <a:lnTo>
                  <a:pt x="385763" y="471488"/>
                </a:lnTo>
                <a:cubicBezTo>
                  <a:pt x="409471" y="471488"/>
                  <a:pt x="428625" y="490642"/>
                  <a:pt x="428625" y="514350"/>
                </a:cubicBezTo>
                <a:lnTo>
                  <a:pt x="428625" y="600075"/>
                </a:lnTo>
                <a:cubicBezTo>
                  <a:pt x="428625" y="623783"/>
                  <a:pt x="409471" y="642938"/>
                  <a:pt x="385763" y="642938"/>
                </a:cubicBezTo>
                <a:lnTo>
                  <a:pt x="300038" y="642938"/>
                </a:lnTo>
                <a:cubicBezTo>
                  <a:pt x="276329" y="642938"/>
                  <a:pt x="257175" y="623783"/>
                  <a:pt x="257175" y="600075"/>
                </a:cubicBezTo>
                <a:lnTo>
                  <a:pt x="257175" y="514350"/>
                </a:lnTo>
                <a:cubicBezTo>
                  <a:pt x="257175" y="490642"/>
                  <a:pt x="276329" y="471488"/>
                  <a:pt x="300038" y="471488"/>
                </a:cubicBezTo>
                <a:lnTo>
                  <a:pt x="310753" y="471488"/>
                </a:lnTo>
                <a:lnTo>
                  <a:pt x="310753" y="364331"/>
                </a:lnTo>
                <a:lnTo>
                  <a:pt x="150019" y="364331"/>
                </a:lnTo>
                <a:cubicBezTo>
                  <a:pt x="132204" y="364331"/>
                  <a:pt x="117872" y="378663"/>
                  <a:pt x="117872" y="396478"/>
                </a:cubicBezTo>
                <a:lnTo>
                  <a:pt x="117872" y="471488"/>
                </a:lnTo>
                <a:lnTo>
                  <a:pt x="128588" y="471488"/>
                </a:lnTo>
                <a:cubicBezTo>
                  <a:pt x="152296" y="471488"/>
                  <a:pt x="171450" y="490642"/>
                  <a:pt x="171450" y="514350"/>
                </a:cubicBezTo>
                <a:lnTo>
                  <a:pt x="171450" y="600075"/>
                </a:lnTo>
                <a:cubicBezTo>
                  <a:pt x="171450" y="623783"/>
                  <a:pt x="152296" y="642938"/>
                  <a:pt x="128588" y="642938"/>
                </a:cubicBezTo>
                <a:lnTo>
                  <a:pt x="42863" y="642938"/>
                </a:lnTo>
                <a:cubicBezTo>
                  <a:pt x="19154" y="642938"/>
                  <a:pt x="0" y="623783"/>
                  <a:pt x="0" y="600075"/>
                </a:cubicBezTo>
                <a:lnTo>
                  <a:pt x="0" y="514350"/>
                </a:lnTo>
                <a:cubicBezTo>
                  <a:pt x="0" y="490642"/>
                  <a:pt x="19154" y="471488"/>
                  <a:pt x="42863" y="471488"/>
                </a:cubicBezTo>
                <a:lnTo>
                  <a:pt x="53578" y="471488"/>
                </a:lnTo>
                <a:lnTo>
                  <a:pt x="53578" y="396478"/>
                </a:lnTo>
                <a:cubicBezTo>
                  <a:pt x="53578" y="343168"/>
                  <a:pt x="96709" y="300038"/>
                  <a:pt x="150019" y="300038"/>
                </a:cubicBezTo>
                <a:lnTo>
                  <a:pt x="310753" y="300038"/>
                </a:lnTo>
                <a:lnTo>
                  <a:pt x="310753" y="214313"/>
                </a:lnTo>
                <a:lnTo>
                  <a:pt x="300038" y="214313"/>
                </a:lnTo>
                <a:cubicBezTo>
                  <a:pt x="276329" y="214313"/>
                  <a:pt x="257175" y="195158"/>
                  <a:pt x="257175" y="171450"/>
                </a:cubicBezTo>
                <a:lnTo>
                  <a:pt x="257175" y="85725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6" name="Text 4"/>
          <p:cNvSpPr/>
          <p:nvPr/>
        </p:nvSpPr>
        <p:spPr>
          <a:xfrm>
            <a:off x="1264920" y="3295650"/>
            <a:ext cx="3829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Deployment Flowchart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3970" y="3676534"/>
            <a:ext cx="3790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4A6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Training → Simulink Runtime → Decision Logic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2070" y="4057534"/>
            <a:ext cx="378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Python:</a:t>
            </a:r>
            <a:r>
              <a:rPr lang="en-US" sz="105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Train WT LSTM, Save thresholds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2070" y="4324234"/>
            <a:ext cx="378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Simulink:</a:t>
            </a:r>
            <a:r>
              <a:rPr lang="en-US" sz="105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Acquire CT currents, Filtering, Scaling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2070" y="4590934"/>
            <a:ext cx="378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Logic:</a:t>
            </a:r>
            <a:r>
              <a:rPr lang="en-US" sz="105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 IDIFF, Adaptive parameters, Trip decision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4776" y="960119"/>
            <a:ext cx="3620509" cy="2032977"/>
          </a:xfrm>
          <a:custGeom>
            <a:avLst/>
            <a:gdLst/>
            <a:ahLst/>
            <a:cxnLst/>
            <a:rect l="l" t="t" r="r" b="b"/>
            <a:pathLst>
              <a:path w="5587365" h="1405890">
                <a:moveTo>
                  <a:pt x="0" y="0"/>
                </a:moveTo>
                <a:lnTo>
                  <a:pt x="5587365" y="0"/>
                </a:lnTo>
                <a:lnTo>
                  <a:pt x="5587365" y="1405890"/>
                </a:lnTo>
                <a:lnTo>
                  <a:pt x="0" y="140589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2312" y="1120141"/>
            <a:ext cx="3468677" cy="385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Mapping Python to Simulink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68484" y="1646339"/>
            <a:ext cx="3462505" cy="1074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Exporting to ONNX: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PyTorch .pth checkpoint is compiled to a 'Stateless' Open Neural Network Exchange (ONNX) format using Opset 14 (optimized for RNNs).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75252" y="3232451"/>
            <a:ext cx="3620509" cy="1158240"/>
          </a:xfrm>
          <a:custGeom>
            <a:avLst/>
            <a:gdLst/>
            <a:ahLst/>
            <a:cxnLst/>
            <a:rect l="l" t="t" r="r" b="b"/>
            <a:pathLst>
              <a:path w="5587365" h="1158240">
                <a:moveTo>
                  <a:pt x="0" y="0"/>
                </a:moveTo>
                <a:lnTo>
                  <a:pt x="5587365" y="0"/>
                </a:lnTo>
                <a:lnTo>
                  <a:pt x="5587365" y="1158240"/>
                </a:lnTo>
                <a:lnTo>
                  <a:pt x="0" y="115824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2788" y="3392472"/>
            <a:ext cx="34686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Axes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49436" y="3735372"/>
            <a:ext cx="34625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variable window sizes in Simulink, pruning the computational graph for speed.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4776" y="4679354"/>
            <a:ext cx="3620509" cy="1779271"/>
          </a:xfrm>
          <a:custGeom>
            <a:avLst/>
            <a:gdLst/>
            <a:ahLst/>
            <a:cxnLst/>
            <a:rect l="l" t="t" r="r" b="b"/>
            <a:pathLst>
              <a:path w="5587365" h="1405890">
                <a:moveTo>
                  <a:pt x="0" y="0"/>
                </a:moveTo>
                <a:lnTo>
                  <a:pt x="5587365" y="0"/>
                </a:lnTo>
                <a:lnTo>
                  <a:pt x="5587365" y="1405890"/>
                </a:lnTo>
                <a:lnTo>
                  <a:pt x="0" y="140589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2312" y="4839375"/>
            <a:ext cx="3468677" cy="337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Speed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58960" y="5182275"/>
            <a:ext cx="3462505" cy="94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Simulink's 'Predict' block utilizes C++ execution to run the LSTM matrix multiplications in </a:t>
            </a: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~2ms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—negligible compared to the 40-60ms mechanical delay of an SF6 breaker.</a:t>
            </a:r>
            <a:endParaRPr lang="en-US" sz="16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43" y="921829"/>
            <a:ext cx="7641564" cy="54746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SYNTHESIS: The Hybrid Decision Handshake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952500"/>
          <a:ext cx="11430000" cy="2343150"/>
        </p:xfrm>
        <a:graphic>
          <a:graphicData uri="http://schemas.openxmlformats.org/drawingml/2006/table">
            <a:tbl>
              <a:tblPr/>
              <a:tblGrid>
                <a:gridCol w="3021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7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0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Physical Phenomenon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87T Relay Math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 Confidence Score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Decision Handshake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Internal Fault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Operates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(&gt;= 0.85)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TRIP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High-Res Fault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Restrains (Miss)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(&gt;= 0.85)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TRIP (Sensitivity Gain)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Magnetizing Inrush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Operates (False)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 Confidence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BLOCK (Veto applied)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Ext. Fault (CT Sat)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Operates (False)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 Confidence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BLOCK (Veto applied)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8620" y="3497584"/>
            <a:ext cx="11416665" cy="1339215"/>
          </a:xfrm>
          <a:custGeom>
            <a:avLst/>
            <a:gdLst/>
            <a:ahLst/>
            <a:cxnLst/>
            <a:rect l="l" t="t" r="r" b="b"/>
            <a:pathLst>
              <a:path w="11416665" h="1339215">
                <a:moveTo>
                  <a:pt x="0" y="0"/>
                </a:moveTo>
                <a:lnTo>
                  <a:pt x="11416665" y="0"/>
                </a:lnTo>
                <a:lnTo>
                  <a:pt x="11416665" y="1339215"/>
                </a:lnTo>
                <a:lnTo>
                  <a:pt x="0" y="133921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20320">
            <a:solidFill>
              <a:srgbClr val="4A6B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115" y="3695700"/>
            <a:ext cx="1111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FAIL-SAFE (Two-Key Protocol Override)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3878" y="4076700"/>
            <a:ext cx="111061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Instantaneous Overcurrent Override:</a:t>
            </a:r>
            <a:r>
              <a:rPr lang="en-US" sz="135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I</a:t>
            </a:r>
            <a:r>
              <a:rPr lang="en-US" sz="1013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</a:t>
            </a:r>
            <a:r>
              <a:rPr lang="en-US" sz="135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&gt; 10.0 p.u., the system bypasses the AI completely to clear catastrophic faults instantly, prioritizing absolute grid survivability over classification depth.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Offline Validation: Establishing Baseline Efficacy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60120"/>
            <a:ext cx="5587365" cy="5320665"/>
          </a:xfrm>
          <a:custGeom>
            <a:avLst/>
            <a:gdLst/>
            <a:ahLst/>
            <a:cxnLst/>
            <a:rect l="l" t="t" r="r" b="b"/>
            <a:pathLst>
              <a:path w="5587365" h="5320665">
                <a:moveTo>
                  <a:pt x="0" y="0"/>
                </a:moveTo>
                <a:lnTo>
                  <a:pt x="5587365" y="0"/>
                </a:lnTo>
                <a:lnTo>
                  <a:pt x="558736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6740" y="1158246"/>
            <a:ext cx="530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Statistical Performance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2453" y="1653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862013" y="161532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K-Fold Validation: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2013" y="1843925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5-Fold Cross-Validation utilized to ensure robustness against varying fault resistances and inception angles.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7690" y="249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849273" y="24535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 Highlights: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9273" y="2682125"/>
            <a:ext cx="5000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ROC curve demonstrates an </a:t>
            </a: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 of 0.96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proving the db4 wavelet successfully decoupled raw transients into a linearly separable feature space for the LSTM.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50080" y="3520325"/>
            <a:ext cx="1327785" cy="609600"/>
          </a:xfrm>
          <a:custGeom>
            <a:avLst/>
            <a:gdLst/>
            <a:ahLst/>
            <a:cxnLst/>
            <a:rect l="l" t="t" r="r" b="b"/>
            <a:pathLst>
              <a:path w="5191125" h="1028700">
                <a:moveTo>
                  <a:pt x="0" y="0"/>
                </a:moveTo>
                <a:lnTo>
                  <a:pt x="5191125" y="0"/>
                </a:lnTo>
                <a:lnTo>
                  <a:pt x="519112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4431470" y="3672725"/>
            <a:ext cx="130829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0.96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50080" y="3917509"/>
            <a:ext cx="1271750" cy="158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4A6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 Score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5587365" cy="5796280"/>
          </a:xfrm>
          <a:custGeom>
            <a:avLst/>
            <a:gdLst/>
            <a:ahLst/>
            <a:cxnLst/>
            <a:rect l="l" t="t" r="r" b="b"/>
            <a:pathLst>
              <a:path w="5587365" h="5320665">
                <a:moveTo>
                  <a:pt x="0" y="0"/>
                </a:moveTo>
                <a:lnTo>
                  <a:pt x="5587365" y="0"/>
                </a:lnTo>
                <a:lnTo>
                  <a:pt x="558736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6040" y="1158246"/>
            <a:ext cx="530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Confusion Matrix Analysis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16040" y="1615325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0"/>
                </a:lnTo>
                <a:lnTo>
                  <a:pt x="762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377940" y="1615325"/>
            <a:ext cx="838200" cy="381000"/>
          </a:xfrm>
          <a:prstGeom prst="rect">
            <a:avLst/>
          </a:prstGeom>
          <a:noFill/>
          <a:ln/>
        </p:spPr>
        <p:txBody>
          <a:bodyPr wrap="square" lIns="114300" tIns="76200" rIns="1143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92340" y="1615325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Positives: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92340" y="1843925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Correctly identified internal faults.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16040" y="2186825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0"/>
                </a:lnTo>
                <a:lnTo>
                  <a:pt x="762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22" name="Text 20"/>
          <p:cNvSpPr/>
          <p:nvPr/>
        </p:nvSpPr>
        <p:spPr>
          <a:xfrm>
            <a:off x="6377940" y="2186825"/>
            <a:ext cx="838200" cy="381000"/>
          </a:xfrm>
          <a:prstGeom prst="rect">
            <a:avLst/>
          </a:prstGeom>
          <a:noFill/>
          <a:ln/>
        </p:spPr>
        <p:txBody>
          <a:bodyPr wrap="square" lIns="114300" tIns="76200" rIns="1143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92340" y="2186825"/>
            <a:ext cx="439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Negatives: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92340" y="2415425"/>
            <a:ext cx="4391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restrained during normal load, inrush, and external faults.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16040" y="2986925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0" y="0"/>
                </a:moveTo>
                <a:lnTo>
                  <a:pt x="762000" y="0"/>
                </a:lnTo>
                <a:lnTo>
                  <a:pt x="762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4513"/>
          </a:solidFill>
          <a:ln/>
        </p:spPr>
      </p:sp>
      <p:sp>
        <p:nvSpPr>
          <p:cNvPr id="26" name="Text 24"/>
          <p:cNvSpPr/>
          <p:nvPr/>
        </p:nvSpPr>
        <p:spPr>
          <a:xfrm>
            <a:off x="6377940" y="2986925"/>
            <a:ext cx="838200" cy="381000"/>
          </a:xfrm>
          <a:prstGeom prst="rect">
            <a:avLst/>
          </a:prstGeom>
          <a:noFill/>
          <a:ln/>
        </p:spPr>
        <p:txBody>
          <a:bodyPr wrap="square" lIns="114300" tIns="76200" rIns="1143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92340" y="2986925"/>
            <a:ext cx="439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Negatives: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92340" y="3215525"/>
            <a:ext cx="4391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Indicates the boundary limits of the AI during extremely low-energy fault conditions (explored in Stress Testing).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7003" y="3939425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Confusion Matrix: [222, 0; 84, 194]</a:t>
            </a:r>
            <a:endParaRPr lang="en-US" sz="1600" dirty="0"/>
          </a:p>
        </p:txBody>
      </p:sp>
      <p:sp>
        <p:nvSpPr>
          <p:cNvPr id="31" name="AutoShape 2" descr="data:image/png;base64,iVBORw0KGgoAAAANSUhEUgAABFcAAAGzCAYAAADqs/jOAAAQAElEQVR4AezdB2AUxRoH8P+mFxJC7733LkV6UZpIlS7NQlMRsCBIB0VBRBAElCoqKihN6SAC0qT33nsgpNfL22/i5SUhIe0uufLnvbmyNzs789vzdvLt7KxD2fIVo60hLdh7I/rGjeTS2eh1Y6yjPdZgzjqm77s0Zv3ZFHxnb0Tv+S5927HF/ZS43d7oBZn8exVTLxPUY8z66DPG37O936byN/jb6D36upb/vYmpZ7K/22fWR4/J5P2a3H9D6viTkv0Ud7/q++jGjbM8JmXgvo357zNOP8EKvlvJffeS/zzmv7Onfg++26sff0zwW5WB+y/5tvJYSSN+B/gd4HfABN+BVPY7aZ4acwdYyb8vXmuFFi8mlzrjvdVW0iBW0+YFfn2/cwq+s60wYIbNU6S6gYnbvYEvUl2SaVeIqZcJ6rH6Q3Qw/p699mUqK/klBujrWv73Jqaeyf5ud/oQv6ZSIKOzq+NPSvZT3P2q76MWL/KYlJH7Kua/zzj9BCv4bqXfJ+a/s6d+D2a8oR9/TPBblf4KsgQKUIACaRDgKhSwTgGHM6dOgIkG/A7wO8DvAL8D/A7wO8DvAL8D/A7wO8DvQAq/A/wbin9D8jvA70CC74DVjFyxztgVa00BClCAAhSgAAUoQIHMEeBWKUABClAg4wQYXMk4a26JAhSgAAUoQAEKUCC+AN9RgAIUoAAFbEKAwRWb2I1sBAUoQAEKUIAC5hNgyRSgAAUoQAEKUODZAgyuPNuHn1KAAhSgAAWsQ4C1pAAFKEABClCAAhTINAEGVzKNnhumAAUoYH8CbDEFKEABClCAAhSgAAVsUYDBFVvcq2wTBSiQHgGuSwEKUIACFKAABShAAQpQIFUCDK6kiouZKWApAqwHBShAAQpQgAIUoAAFKEABCliKAIMrlrInbLEebBMFKEABClCAAhSgAAUoQAEKUMAOBOw+uGIH+5hNpEA8gfDwcGzZsgVjxoxB//790bt3b1y9ejVeHlO92bx5M4YNG4YDBw6YqkibLefo0aMYNWoU/vjjD4SGhtpsO9kwClCAAhSgAAUoQAEKZJaAObfL4Io5dVk2BeIIBAYGYtu2bSqo0aNHD3To0EEFNiZOnIhdu3ZBgh5xspvtpdRhypQp2L59O4KCgmAwGMy2rXPnzuH333/H9evXzbaNlBQ8fvx4tGvXDm3atMG1a9eeWiU6OloFnDp37qzyrFq1CmFhYU/lS26BtHfkyJFYsGABnjx5klz2eJ/fvHkT69evx+nTpxERERHvM76hAAUoQAEK2KqAHINPnTqljr9ynJbUtm1bdOnSBXJMlRM10odKrP2y7v3797Fw4UIMHDgQnTp1QteuXfHBBx9A1gsICEhsNbVMjrV79uyB9BF69eql+mU9e/bE2LFjsXXrVvj7+6t8KXm4d+8efvrpJ3VCSerdsWNHvP7665g1axakb2DOvlZK6sc8VifAClupAIMrVrrjWG3rErim/0EvI0UGDRqkgg0S1PDy8oJ0Fn755Re8+eabmDdvXob8Ub1jxw7cuHED77//Pj777DN8+umnyJ8/v1lAX3zxRcyePRu1a9c2S/kpLfTff//Fxo0bVfrxxx+fWu3hw4cquLJ27Vr8+eefuHz5MqKiop7Kl9wCCaj8888/OHPmTKqDM9WrV1f7QzqUbm5uyW2Kn1OAAhSgAAVsQkACJI8ePVLHYTnRkC9fPuTKlQshISFYs2YNhg4dqgIX0mdK2OBDhw6he/fu+OSTT3DixAnI8VOO35s2bVLrTZgwIdETPNIPGz16NAYMGIAffvgBfn5+yJIlixo5umHDBrXu119/jQcPHiTcZLz3kZGR2Lt3L6R/J/08ea1pGjw9PSFtkTJeeeUVlSfeijbxho2gAAUSCjC4klCE7ylgYgE5mzF9+nT8/PPPaNSoEZYtW4ZvvvkGsmzu3LmQ4Mqrr76Ku3fvmnUUibFZd+7cgYeHB0qXLo0iRYqgUKFCcHFxMX5s0ucSJUqgZcuWKFCggEnLTUthzs7OqFWrFr777jtIZyhuGRJM2b9/v6pnnjx54n6UYa/z5s2L5s2bo1SpUpC6ZtiGuSEKUIACFKCABQhIYKRx48bqpI+c/JHRKBIckeVy7L569Wq8Wt66dQv9+vVTIz5HjBgBOXkyc+ZMzJkzB4sXL0b9+vWxYsUK1edKGCT56KOPVH+gQoUKaj0ZcTpjxgxIMGSFvs7AgQPVSRYJ8MTbaJw3EhSSkylS1smTJ/HGG29A1pWTSlLWt99+i++//x41atSA9AXjrMqXFKCAjQowuGKjO5bNsgwB+SNezqosX75cHeTlEqCqVatCzsrkzp1bPZcpUwYyL8l7770XG+SQ4aOXLl3CW2+9hcqVK6N48eLqD+9FixZBzu4gzr+pU6eiaNGiuHjxoupA1KlTB8WKFUOrVq3UKBk5+Et2ORMjHY1ff/0VZ8+eRcOGDSF/0L/00kuQPHKpkGzr2LFjkj02ScdBhsm+8847asSL8QNpV9++fVX9JEhTrVo11cmRy42MeaRzU7duXTWPiHGZPEtn5YsvvkC9evVUgKdq1aqQ9l+4cEE+jk1yCVOTJk3U6Jd169ap4b5iIfUUy9ReuiNBrCtXrqhLoowbkWHB0kYZdVKzZk111sv4mTzLPpQOmxhIG6Wtkk/OUMmIJMkjSUa8iNHBgwfVZUEVK1ZUvmIs25B5VGSoc2O94yj76u2334bkkcuV9u3bpy4Za9GiBebPn69GNEmZ48aNU2VIp0/eG9Px48fRvn17yLDjw4cPGxfzmQIUoAAFrFCAVY4R0DRNnfzJmTOnGrkifaXWrVurY6Uc9xL2f6QfcPXqVTXK5LXXXkPhwoUhfSs57lapUkVdhi3HawnSSPBD+layJRlhKstKliypRg3LsV1G8BrXlX6ZBFekDyZ1kHUSSzLaRU6QSR9C+giSX8qUkzRSlpxYku3LpUFyfJcyHj9+rPpsMnpY3sdNX375JST/zp07YxfLJUoFCxaE9F0kcCR9vKpVq+LDDz9Uo27kEii5nDh2hf9e/PXXX+okmvTt/lukLj+XkTXSFypfvrw6mSN9CbkkOTg42JiNzxSgQDoEGFxJBx5XpUByAnKtr8w5ki1bNnUtrxykHRzi/2enaRrc3d2RPXt2aJoG+SeBFTkQyxkPCSZIoEQO4jI0Voa+yvXFkk+SDJOV93KglY5GuXLlVODkyJEjkLMpsn3JV0wPuMjQVBlNItuSa4LlLMvLL78sH6s/6OXMjgQC1IL/HiS4INuWa49lqK0slmuU5YAsl9HI5SxycJdAgXQw5PIbySNJgihyyY0EFuS9JJlbplu3bup6aNmW1EPqJmeL+vTpAwnaSD5JEjzx9fVVo3uk7VIXuWxG6iFBJZkAVvKlNEkwwtvbG0uXLo1d5fbt25BLpaRD9Nxzz8UuN76QoIvYyqVUMvJF5mWR4coSHJLrqaXDI3mLFi0KGZkknSqxkImCxVeScZ9Lx1D2iyyTDk6DBg0gwScZSWRsq3RwJNglZUrnS/aVBHJkuLMsk30k3wtxatmyJaSTJcuZKEABCphRgEVTIFMEZCSno6PjU9uWY6Ucy318fDBkyBC4urrGyyPHXWP/SUbnymVCcjyXTDIKRvoT0q+QIIjkleXGpGmaOtGSNWvWZ44klf6N9LFkJLD0DaQvp2kx/ThjWVK2XAYufQ9ZJgEe6bNJn0rex01yqZKUKf0k43LpR8qoFwncyGgY6eMZA04SIJFRt9KvMOY3PsvccTLfnZxAk2VS5m+//abmtZHgjQRx5OSVnOyRvpdcGiV9NsnLRAEKpF0g/l95aS+Ha1KAAokIyIFKRhbkyJFDjfBIJMtTiyRwINcBywH1888/V6NPJPCwevVqSHBEOhN/6WckjH+AGwuQP77lACujRWSEi+STS41kRIV0IuQgLKMlZNSHBADktQRj5GyPpsXvDBjLTOpZDtBy9kVGkyxZskTNFSKjc3bv3o2PP/44qdXUchmFIcEMmdRX7iIkl0fJyBAZsSFtkLlnxE1l/u9BRtPImR85Q/TVV19B5lCRgIyMwpFOx3/Zkn1yc3ODdCKkkyU2YiidD9lH0tGQS6QSFiIdIum8iLnUXTo30pkSZ5mkTiawk3WkwyPBGzlzJiNyZDI98ZUUt2Mo+0ICXDt37lRnzCRAJPtEykiY5JrtlStXqrNNgwcPhnTI5E5Psm3ZllxnLh23hOvxPQXsU4CtpgAFrF1A+kASCJAkJ2Zkwn85cVOpUiXIiSpj+6QfIHlk1IkEWIzLEz7LyQ45ISL9CwnIyOfSV5HjspwQkfdpSdJ/kGCNjASWkTISYElLOSldR4Ig0meS47+cXJIJeMVEgkrS95M+o7Es6Z/JhLzyufT9ZLlcQiWTA8sJMTGVS9SlTyN3KGzWrJnqj4iz5GWiAAXSLsDgStrtuCYFkhWQToKMVpCDX9xOwbNWlJEoMkRThqXK6AdjXvmjXSaIlQnXpFMhIzqMn8mz/JEuQRN5LZ0GCT7IQVT+IJcky02VJEihaRrkYC4HcQmGyNkYJycnyBmapLYjnREZ7SJ5x48fHztSR8p7/vnn1cgP6ajI8N+4ZbRv317NlyJnn2S55JezRNLxSm1nQCavkxEzEhSR+svwYDnbJJdMSdkJk5w1k+CYtFNGucgEdeIpZ7tk6LJsXwImCddL6r3sIxnxIvsxqTxxl0vnaPLkyeqacgmEyQTEsl9l8rxnWcctg68tSIBVoQAFKECBRAXkmC4nHmS0qAQC5FIbGekpJ1FkdIqMMDWuKKM45bVcziPPSSXpe8kxXvpixmO1HMM1TYMERZJaL7nl0o+R4IqmaZDgjvQVklsnPZ/LnDIJ2yoecsMACa5IX8RYvowglj6ijBKWEzDSbjnRJn0fWSYmUndJMjpH+j9iIiNxJa+xHD5TgAKpF3BI/SpcgwIUSKmApmmQQIcEFSTQghT8O3/+vJrYVv6olqBM3FVkvg+59lYuUUk4pDTh6AcJRMglJXJmRzoscctJ72u5NKds2bLqel/p8MikbRKkkHrJ9pIqXwJHEpyQESIJOwkyQkTOMBmDGHHLkKG9culM3GXSKRJXKTPu8uRey+R1EpyQkUAyZ4qMBJEzO7IssXUlcCQjXWTSPBlCK5cOyeVBMopIruGWM2EylDexdRNbJp08CZwl9llSy/r27avmp5GRQrItCRDJSJmk8qd3OdenAAUoQAEKZLSA9JPkuCxzt0mQRUatSkBATjTJpdJubm6xVZKTOfJGPpfnpJKUKYEQ6YtpWswo3ZSum1SZslzTNNW/g/5PtiH9Ef2l2f4vk+ImLFz6UtIfkVEtp06dUhPwiocEUiSvXBIkwRWpn1hKf0YCLxK8iptkTj7pS8kJJLlEWdZlogAF0ibA4Era3LgWBVIkIGcyJBgifxDLQSslK8mBTdM0dRu/hPkl2CJBEzl4Smch7udyCUnc95qmQQ6quTqCugAAEABJREFUcsBPmBep+CfrSoq7ikyoJnc8kstSpF0ytFQu85EJ4GS4qRzI4+Y3vpbAi9QnsVEb0tmRAIqsm/DMiXSopGNkLAeA6tRIWQnrFjdPYq81TYN01OSSHpnVXzpyMjRYtp1YfungyYgRaaeMlpHLnmTeGzmLJMEu2b7UObF1E1sm7ZRAUmKfJbVM9rdMjCfrymgVGZWUVF4upwAFKEABClijgPRj+vfvj6NHj6r51+RSYJlbTOYDkctxpS9lbJccfzVNg9zt71nHYDl2S+BAjqHSJ5P15Rgqx26Z307epyVJ/0pGrMgJExkVIyNh01JO3HWkTtKvibvM+FpOlhlfG5+lPXIiTkbEyuXNMl+LBFrET0ajyEkoY145ESR9MBmdIiOE4yZZLvO3yYhcTYsJQBnX4zMFKJA6AQZXUufF3BRIhQDURLVyuYsMX5U7wiQMGsQtTA6q8l4ObnJwlVEgxmWyXJIM85SRHXJAl4CDLDNVksCNbE8OwHHLlE6JpLjL5LXMUSLzpcgZEpkcTobuyjXNMpu91FPyJEwSVJHOk8x3ImdQ4n4u7+WaYAlypDb4ELeclLyWy6vET+Z5kRE0jRs3TnI16dxJh07yyqz7cjmOjCSRDp90rhJbUfZfYsuNyzQt5Z0XKWvNmjVqUl+ZAFecZF4a6TAay+MzBShAAQpQwJYE5ESSzKci88PJfCYyv5tc+iL9FGmnjJ6Vy6VlmSRZljDJySqZ/F2CDjLCQ/ogkkduEiABGeNlyrIssSTHX0mJfSbLpC8mfSE5SSOXa8uypJKx3pqmQU6UyLE8bl45iSIjkqXOcZcbX2ta4v0GcRAnuVOhBFZkNK70wTp06KAm5ZX1NU1Td6eU/qWcHJJ57xJLcnMC6YPJOkwUoEDaBBhcSZub7azFlphVQAIJchCXYIGcdZGJURMeOOWAKwdEOTDKwV46C3JWRQIVcW+vJwEOua5Wrj2Wg6kc1E1ZedmunL2QS12MnQk5+Mv7q1evxtuUHLiNgSI5ayOXysjZJrlURQJJcu1uvBX+eyMBHBnaKmd5pAPw32I1lFXOpshkbXJ2Sa4jNn5mjmeZQ0UurZE79cglTnKnn6S2IwbSEUp4Bkgug5LJcOOuJ2eRZISNrCP7Mu5naX0tHTYJ6kjnSSY4ltFCcqchmTNGvhNpLZfrUYACFKAABSxdQG6pLP0oOeEkl+gaR4hIf0Lu9iMnhOQWxgmPx9LXkolr5TIYOX7LCFXpk0l75TgqfR4ZvSqjbaXvI8uNSY7f0u+RS2medZyVedc6deoE6RPJ6Brpy0mfzliOPEs9pH8nI2zkvZyUkZEmUl85WSbLpM8ll4TLaBJj30qWpyRJWdI/kH6XnMSTiWylzyn9MumTSBnSL5GTM9LObdu2Qe4AKcuNSbYvy+Rz4zI+U4ACaROwiuBK2prGtSiQ+QJyQJMhmzIviQQdxo0bB7mERkZ7yAFdOgoyX4ksl+CLHFTlbI3klwCEnGGQMyty/bGctZF5QiTwIKNhjGdgTNVKudRHypQ/2uUuPHKAljsOybW40nmJux0ZzTF37lzIXYPkshmpn6wjnRG5DEpm5o+bP+5ruSRHhvPKxKzff/895C48MjJDRmNIm2VUiXwedx1Tv5ZOmYxAkTv/yN2DNC3xM0KyXXGRzpLcrUgCQpJkn8ndkYwdNcknSdotQS/pkImJBEGksyMdF/k8tUlGp3z00Ucq+CTXR8u8MDLBn8yvI/tJ7KQTmNpymZ8CFKAABShgDQLSj5JbD0tfSu6eFzeAIaNI27dvD5mPTCZ+//nnnyF9EjlOy4haOTEhwRi5jbHMdSaBDWmzvJZjq7yWY6vckVHumiP9ss2bN0P6WxMmTID0ayToIPkSS9Jnkrq1adMGf//9N+TugNKvkQCGHJ+l/zZ79mzINuRElZQhfTyZP0ZG28yZMwdSV+kDyV0eJcAiJ3MkX0qTpmmQvoH0myRYJCfx5O4/EvjRtJi+jRjKySRZLv02GWEsdZPRKxJ8kvaKgQR8Urpd5qOAuQWstXwGV6x1z7HeViMgM7HLfCQy873M0C5/lE+aNAljxoyBPMtBTf74bty4sRoqKgd/Oavy5ptvQq4Hljwyz4fcfk8uYRk+fDhk4ldTA0jQRobfyuzxcicf6ZTIQV9G0ciQ3Ljbk87KqlWrICMppG7SCZF2yagUuROODD2Nmz/uaznAS6dGrh/+7LPPlIMEWqStElSSs0Cp7VzELT8lrzVNgwRCZKSNPD9rHRlaK/tPAluyz+QWiBJ4knaIWdx15QySdLJkf8qZNLmDk3SqJGgWN19KXsskxBLQkc7eO++8A5lMV9M0yCgbMRYj+U5IBy0l5TEPBShAAQpQwBoFSpUqBTnxIpf3SCDCeMJHRqFKf0UuS5Z51Ix9ElkmfSvpc7333nuQ47iM5ojbdrmVsZzYkgnzZdSJ9LXkGC8BEgl0yOXAErTw8fGJu9pTr2VSWZmDTU7UyOgRCZhIuVLWtGnTIPUtW7YsZDJ9WVkuSe7Xr5+6A6LUcezYsZCTVdJvkBMncvJH8qUmSfkSfJL+gNS7efPmT925USykPyLBIAkgSTBK+m/Sp5G+hIyskRNJqdku84IEFHhKgMGVp0i4gAKmF5AOgARMjAcz+eNYDuwyUaocgOVgLgdDObsgW5fAw7vvvgsJcEjAoW/fvvjggw/UWZEXXngh3mS3L7/8MuQPefnDXtY1JilDLn2R9eMGEOSgPnr0aMgwWWNeeZazKdJBkUCHBHBkm8OGDYP8YS91lBEn0g7JK7fyk86DDMl99dVXIZ0KCSTIMjkjo2kxZ0sa6wEj6bDIkFVZT5K0UdaXUTlyoBcHqaMc4MVFAkiST5IEkaSu0ma3OHcJkM9kiKsEZ6QzIu+flWSUihgldy2xBIekvrIvxEPKlKHD0jZxkf0lLu+//z6kMyXLxcxYrgzBleCQ7DfZprRT7iokbZbPpJMngSUpN2GSjpG0VbYtbZUgm7jJWS/ZppQh60g5cutFqadsS86cyXImClCAAhSggDUKaJoGOVkho0mlT5OwDXI8lOOdfC6jSeXkgjGPBEfk2CrHXem7SJ9ELlOWY630ueQYbOy7GNeRZwlidOnSRZ3kkhNEckJL+iPSb5K+ifTLJBAhk8hL/qSS1E3qLv0Y2Z70D+SYLX2mwYMHq36bBFAkj5Qh+WXyWKmvbEPqKv0F6U/JulKGnPiRvJJkIn3pB0ifTt4nliRwJP0wySepXr16kL5CTN6YR+lDlC9fHuIi25X6yjrSr5H2iqGMfonJzUcKUCCtAgyupFWO61EglQJyIJehqHJrPAlwyB/lcgCWg7ccdOXAZyxS0zTI2RIZwil5JOggHQT5A1z+8Dbmk2f5Q1vKkvzy3pikQyCBDplTREbPGJfLMpm0TM5iGJcZnyWfXNssnQs56EoAQzouMhqjadOmsWdC5EyNvJcRHVI36RzImSFpX9xOj9RXOhglSpQwbkI9Sx6ZBE7Wlw6NbEsCMQnrJIENqasEGYzBDlWA/iBngWS7MpJDf/vM/4ux1DNhGQlXkrNj0rmS7UkdjZ9LPaRjJ2VIXcVFgkDt2rWDTGwbd5/IUFwJkEjdpMMknSvpTMn+7dixI6Q9xnLjPkunRoIx0umSTpHUVd7LNmW/xM0rHSn5bkjALiXtj7suX1OAAhSgAAUsSUDT+zz58uWD/KFfp06dRKsmx2HpM8jxPO4xV9M0yDFR7o4jx0Q5ZkofRi4XkiBF3LwJC5bjsvRPpEzpa0lfSvpn0k+T0SDPWjdhWVIH6ddIMETaIWXJZbxNmjSBnPzStJiTTrKeHOPlxJB8LvWV/pP0tWTSXekzSR9L8kmSy8AHDhwY2/+SZYklOTkk25X6JzV6WPoiUhfpB0pfRrYtwShpv7RX+qmJlc1lFKBAygUYXEm5FXNSgAIUoAAFKEABCtihAJtMAQpQgAIUSE6AwZXkhPg5BShAAQpQgAIUsHwB1pACFKAABShAgUwUYHAlE/G5aQpQgAIUoIB9CbC1FKAABShAAQpQwDYFGFyxzf3KVlGAAhSgQFoFuB4FKEABClCAAhSgAAVSKcDgSirBmJ0CFKCAJQiwDhSgAAUoQAEKUIACFKCA5QhYVXAlIjIK/oEhTDTgd8A6vgOp3k/BIeGW8+vImlCAAhQwgUB0dDQePHiAS5cu4caNG7h58yYTDfgd4HeA3wF+B/gdsJLvwNWrV9Xx22AwJNsrsKrgys8b/0WeBu8x0cCE3wF+nyzpv6leHy5GaCSYaMDvgI1+B8Kjku2X2FyGkJAQfPXVV5BbpcrtYk2d6tatC1OXyfLqP2Uqt8StV6/eU8tp9bRVekzobFrPZ+0LsZb0rDz8zDT7Q347aG0ay2d9J83lXLt2bQwePBj+/v7J9lEcks3BDJkvwBpQgAIUoAAFKGCVAk5OTnBxccGgQYNw9OhRnDp1ymTpxIkT+OuvvyDPpiyXZT29j44dO4bdu3fT2oTf34Tfs5MnT+Lw4cP4559/IK8Tfs73T38v02oivgcOHIAkeZ3Wcrhe8vtEfOU7Ld9teU2z5M3SYiTHwT179pj8OHv8+HHMmTMHcix3dXVNth9isuBKsltiBgpQgAIUoAAFKGBnApqmQdM0FWDx9PQEk3UbZMmShfvQTN9jo62HhweNzWTM35/M/f0xfsdtZT9YUjvE1ly/HW5ubqrnommaen7Wg8OzPuRnFKAABShAAQpQgAIUoAAFKEABKxRglSmQoQIMrmQoNzdGAQpQgAIUoAAFKEABClDAKMBnClDAVgQYXLGVPcl2UIACFKAABShAAQpQwBwCLJMCFKAABZIVYHAlWSJmoAAFKEABClCAAhSwdAHWjwIUoAAFKJCZAgyuZKY+t00BClCAAhSggD0JsK0UoAAFKEABCtioAIMrNrpj2SwKUIACFKBA2gS4FgUoQAEKUIACFKBAagUYXEmtGPNTgAIUoEDmC7AGFKAABShAAQpQgAIUsCABBlcsaGewKhSggG0JsDUUoAAFKEABClCAAhSggH0IMLhiH/uZraRAUgJcTgEKUIACFKAABShAAQpQgALpFGBwJZ2AXD0jBLgNClCAAhSggOkErl69iokTJ6J27drIkycPvvnmG4SGhia5gfv37+Ozzz5DhQoVULp0aYwZMwa3b99OMj8/oAAFKEABClDA/gQYXDHVPmc5FKAABShAAQpYhYAEUrJly4aBAwciZ86cCAsLS7LewcHB+OGHH/Dbb79h9OjR+Pzzz7F161YsWrQIfn5+Sa7HDyhAAQpQgAIUsGGBRJrG4EoiKFxEAQpQgAIUoIDtCpQtWxZvvfUW+vXrp4Irz2qpjHI5cOAAOnXqhB49euDll19G37598c8//yQ5eiU6OhrGZDAY1OtnbSM9n8l20rM+102dAL1T5xWb2xAJhAcAoY+fmbQwP2jhT56ZJ7ky+PmzjZVP2GOINfRnlZI06V8AABAASURBVJLZL2od5knz9zLWOhMM7WHfGUL8EBLgD0Oof8zvR7Qh9qcno18wuJLR4tweBShAAQpQgAJWI/D48WPI6JVSpUrF1rlixYrw9fVFQID+x2Ls0pgXUVFRuHXrFo4dO6bS8ePHcffuXUiQJSIiAqZOsj1Tl8nyEt9PkZGRJt9/1modGRqAqCfXYXh8OWXp0gZEr+uK6KUVEb24XJLJ5Yeq8F5VG1hSPsk8z1qfnyVtG9cGi8vDfWUNeKysCXkd97NMeG3T+1q+y176d9r1h2o23c7M/N5cmV4bE1/pi3MzOwArmyIi4J5Jf6vltz/mCJ/8I4MryRsxBwUoQAEKUIACdioglwyFh4fD09MzVsDLywsS1AgJCXlqVIosW7ZsGQYMGKDSm2++id9//13N6eLv7w9TJwn8mLpMlhd/Pz158kTtt6CgIPVssz7SznuX4X95D/wv/f3MFHRwHgyr2gA/1AFW6MGQZJK2oRu0q39CC7wNLdRXT4+TSI/gEPY4ic8yc7ntbVucJWmhttc2S2tTjPMjfq/N9F07ec0V28/kxdoj+fHELxgB/jG/2f4mOubKcTa2A5DMCwZXkgHixxSgAAUoQAEK2K+Ag4MDJMU9cyWvNU2Do6MjEv6TIMzIkSPx999/q7R9+3YVZHF3d0f27NlNniTQY45yWWb8fSVz9Hh7e5t8/5nUOb3fr2w+yH51ObLv7IXs27s+M2U9NBrOj0/CIfQBHCIDkk0aogEnDyBbKUSXeAnRZTo/nUp3RlTJTggv2h7R+utE8yS2Hpch1Va6b0TxDpBE60S+i6b8TunW4cXa69/tjqC1aaxDCrfHZefmuOvTSpm++FJVvPdaDnTrWBDeFV5Atpx5TfpbLcdZpPCfQwrzMRsFKEABClCAAhSwO4EsWbLAzc0N9+/fj2273CnIw8MD8pmmabHL5YWmaXBxcYF8LkmCLfJe0zRoGpOmWZ+BBNckaZqmAm2aZuFt0AMZ2pPL0K78Ae3yutSlk4ugBd6KOcMeEQQtiQQHZ8DFC8hXG6jYT0/9k0+VXwcafg6t1TJorVc8ndqsQESLxQhqPB9o/f3Tnye2DpelyUl8w5p9B0nyOtH9Qds02Sa0FN/gxgv07/YSaPp3POHnfJ/Ib0ES3z20+h4Pay3A7+FjMGZvf/zo9yECGy6C28vL0HnMJBTp9gnQdBY0Nx+TH2+Rwn8OKczHbBSgAAUoQAEKUMAmBOSSHhku/PDhQ3VdtlzuYZxDxWAwYN++fSpJY/PmzYtChQqpCWwvXrwImeBW7hZUsmRJdWZM8jBRwKIEosKAQ9OBTXrA488+QEqT5A++C2iOQLbSQPVhz041hgONZwLN5gLNU5CafAmUfBlwzgL+owAFKJAagYgIA06cuI8vv9yH0aO3Y/v2K3jyJBTBwRGpKcbseR3MvgVugAIUoAAFKEABEwuwuPQIyCS1K1aswIQJE3Dt2jVs3LgRU6ZMwW+//aYmnpU5U+Rz2UaePHnQqlUryOS106ZNw6effqomrG3Xrh3kM8nDRIEMEQjzA65tAY7qgYwjs4Ek0xzg/C9A8H0gIhCIjkp5ksCHVyGgYl+gwdRnp3rjgfx1oZ8iBv9RgAIUMJdAUFA4fv/9DMaM2Y6vvz4Ib29XvPtuHfTuXRm5c/9/PjRzbT815TK4khot5qUABShAgZQLMCcFLFTAyclJ75DlRpEiRfQO2ruQQEnx4sWRM2dOddlH27Zt0bp1a1V7Z2dnPP/88xgyZAhq1qyJypUrY+jQoWjSpIm6XEhl4gMFMkLg4Ulg32Rg90fA389I/0wAQh5BXbqT9zl1KY5cjpOi1OhzPaDyCVC2e0a0iNugAAUo8EwBgyEaCxb8i7Fjd2Lnzmto2bKkfjKkKQYNqoUSJbLrsV3tmetn9IcMrmS0OLdHAQpYlAArQwEK2J+Aj48POnXqBJl4Nm6SgIrMrSHPMlrFKCPzptStWxdy55/BgwejcePGSM0Ed8Zy+EyBdAkE3gYengDC/PViDFDBE5n75KnkArhlA7KXASoNAKq8mfJUWc9bthsgo1f0rfD/FKAABTJbIDLSgPDwKHz44fMYN64RWrUqpUavZHa9Ets+gyuJqXAZBSxLgLWhAAUoQAEKUMDeBaL1gIokJ3c9WDIYaLMi6dRa/6z5PKBEO3tXY/spQAErE7h3LxD79t1EVJQBDg4aeveuggUL2qrRKuXK5VLLLLVJDK5Y6p6xunqxwhSgAAUoQAEKUIACZhdwcAJyVQaKtXpGagkUqA+45zR7dbgBClCAAqYQiI6Oxs6dV/Hmm+sxePAGXLjwSBWbN28WNG1aDNmyuan3lvxgX8EVS94TrBsFKEABClCAAhSgAAUoQAEKUMDOBOTOPzNn7sPbb/+JP/+8CGdnRzg5abEKmvb/17ELU/Iig/MwuJLB4NwcBShAAQpQgAIUoAAFkhS4/Afwc1NgRe34ac8YIDwwydX4AQUoYJ0C9l7r48fvYfDgPzB58t9qtMqgQTXx44+dULRoNqujYXDF6nYZK0wBClCAAhSgAAUoYLMCe8cCN/8C7h2Mn/wux9xS2dEVcHC22eazYRYpwEpRwCwC69efR58+v+Pnn08hVy4PLF3aHpMmNUGxYtng5GR9oQrrq7FZdisLpQAFKEABClCAAhSgQCYI3NwF/NICWFAImF8AuH9ED6IYYgIoXoUBY/LWX2crBZTrAeSrnQkVtfRNsn4UoIC1CWTP7o7s2d3QqVM5rFnTDV26VICXlyus5CogJPzH4EpCEb6nAAUoQAEKUIACFKCASQSigcgQINQXCHkIJJZOLgJu7wYCbgJBd2O26ugCFNEDLq9fBeKm/ueBJl8CWYvF5OMjBShAASsRiNZ/DoOCInDhgi+uXHmsal2nTkH88ENnzJ/fFmXL5rTaoIpqjP7A4IqOwP9TgAIUoAAFKEABCsQI8NGEAhF6YOXQDGB5DWBJxcTTuZV6ACYUkMt9ZESK3OWnaEug1nsmrAiLogAFKJB5AlFR0bhx4wnmzDmAFi2+x6xZ+xEWFgkHBw158ngia1bLvxNQSvQYXEmJEvNQgAIUoAAFKGBJAqwLBaxDICIIOPEt4H8NCHkAhOlnaxOmaAPgpP9hkbcW0PEPoOtfQPs1QMFG1tFG1pICFKDAMwRktMrevTfw1lt/4OOPt8PFxRHZs7sjODjiGWtZ50cO1llt1poCFKAABShg6QKsHwUoYNcCgbeB23v1gIo/oOldbu+iQJmuiadyvYDnRgHOnuA/ClCAArYgEB0djStX/LB06VH06rUa27dfRZMmxTB1alN88EF9ZMvmbgvNjNcGh3jv+IYCFKAABexLgK2lAAUoQAHTCgTeAi5vAPZPBba+CYT7AXJ3n0JNgFbLEk8vLASKt47JZ9rasDQKUIACmSKgx1Ywf/4hvP32n3B01PDaa9Uwa1ZLdO5cHq6ujplSJ3NvlMEVcwuzfApQIN0CLIACFKAABShgNQInFgFb9KDK0a+BoHt6tfXutldBIFdF/TX/TwEKUMC2BQyGaNVATQNy5vRA48ZFMXZsI0ye3FRNWqs+tNEH/dfeRlvGZlEgYwW4NQpQgAIUoAAFKABc3agHVW5D3fYiS36gXE+g7ligVEfwHwUoQAFbFZAJav/66yrWrTuHJ09C9Z9ADa+/Xh3Tp7+Avn2rwtPTxVabHtsuBldiKezhBdtIAQpQgAIUoAAFKGBWgahwQE7cuuUAGk0Hnp8IlH8V8Cps1s2ycApQgAKZJXDnTgAWLz6KMWO2Y9y4nTh3zhcygkXuAlS1at7MqlaGb9fygisZTsANUoACFKAABShAAQpQIJ0Cj84CBz4FAm/oBenRFRcvoGx3wLuI/p7/pwAFKGB7ApGRBhw6dBuTJ/+NTz7ZjfPnH6F+/cLIlcsDcllQilpsQ5kYXLGhncmmUIACFKAABShAAQpkgEDQXeDYfGDzG8DGfjFpy0Dg0HQg+EFMBZxs704YMQ3jIwXsT4AtflrgyZMw/PTTSYwcuRnff39cBVQmTWqCDz+sj8KFffTgivb0Sja+hMEVG9/BbB4FKEABClCAAhSgwH8C4YHAmR+ADd2BtR1TnBw3vIIs2/vq+TvpSV9P1v9nInB6OXBWL0/Srb+BEF8g2gB4FQIqvf7fRvlEgQwR4EYokGECcsnPgQM3MWnSLhw7dg8vv1wGM2e2RI8elVCwoLe6O1CGVcaCNsTgigXtDFaFAhSgAAUoQAEKUMCMAkF3gEOfAxdWA5fWpzg5XNkA15sboV3+b52beiAl6DYQFQo4ugGuPoB7TkAuAaqnB106b9aDK/3N2BBrLZr1pgAFbEFA0zQUKeKDjh3LYuzYhvjkk2aoW7cgsmRxsYXmpbkNDK6kmY4rUoACFKAABShAAQpYlYBMNhtwSw+KROhBEf2PAPccelAkQUpkWbRbDhhccyDa+JlHLqgJaiu9BnTZArx6LCb13A/UHAFkLwu4eFsVDStLAQpQ4FkCwcERmDNnP/btuwk9toISJbJh9OiGGDiwJvLn94aTE0MLFHjWN4ifUYACFKAABShAAQsUYJVSKHBpA7C8OvBdyZi0uhUQ6gs4uQGV3wBeu5KiFNn3PB53/hcYcPn/+fufA5rPBfLUAjzzxiSPPICzRworx2wUoAAFrEPg/HlfNG++DCNHblV3BAoKCoejo4MaqeLu7qyCLdbREvPW0sG8xbN0ClCAAhSgAAXsVIDNpkDmCxyYAtw/Avhd0pMeGAm4CURHx4xakZElEmRJaZLLfxLmdXAG/6oA/1GAAjYoID+VYWFRmDfvEKpXn48DB26jaNGseP/9evD0dLHBFqe/SQyupN+QJVCAAhSggNUKsOIUoIBNC4QHxTTP0RXIXTUm5akBlO4ClOoY8xkfKUABClAgnoBMWHv+/EP06rUKw4ZtVKNUevWqhF27+uGFF0rGy8s3/xdgcOX/FnxFAQpQwDIFWCsKUIACFEifQNaiQO/DManXQeCFhUCuyukrk2tTgAIUsFGBgIAwjBixGRs3XlJzq8yd2xqLF7+M3Lk9bbTFpmkWgyumcWQpFLB7AQJQgAIUoAAFKEABClCAAtYpEBISiaCgCMiolaxZ3dC5c3m8+mplrF7dFT16VIamadbZsAysNYMrGYjNTWW6ACtAAQpQgAIUoIA9CIQ8BG7tASIC7KG1bCMFKECBNAtER0fj/v0grF17Fr/8cgp37gSqsnr2rISvvmqFsmVz6oEVtYgPyQgwuJIMUMZ/zC1SgAIUoAAFKEABCqRL4NwvwOYBgP/1mGJk4tmYV3ykAAUoQIH/BMLDo3DixH3MmrUPH364DbNnH8ClS76QgIuzs6Oaa+W/rHxKgYBDCvI8nYVLKEABClCAAhSgAAUoYCkCIb7A1c3AyUXAiW9jnv0uAtEGwC0bULChpdSU9aAABShgEQJ+fqFYu/YcPv54h7ojkI+PG7p0KY8iRXzZaWjXAAAQAElEQVT0+iW4BEhfwv8nL8DgSvJGzEEBClCAAhSgAAUoYMkCt/cCe8cBO0foaTjw4ChgiALcswP1JgLV3rbk2rNuFKCACQRYRMoEZFTK9etP8OWX+zBu3E7s3n0dLVoUx6RJTTB4cC0VXOH0KimzTJiLwZWEInxPAQpQgAIUoAAFKGBdAn4XAN/TQNgTqNEqzp6AR26gTDeg6mAgexnrag9ra6sCbBcFMl0gOlqPPz8IwvLlxxERYcC779bRgyyN0apVSXh7u2Z6/ay5AgyuWPPeY90pQAEKUIACFKAABaBGqURHARJUqfU+8OIiqNst1xwOaA7gv9QIMC8FKGCLAo8fh0BGrTg4aChc2AcjRtTF55+3wKBBtVC+fC7Or2KCnc6jjQkQWQQFKEABClCAAhSgQAYKJLUpRxegYAOgVEegRDsga/GkcnI5BShAAbsQkIDKrl1X0b//Wqxff161OUcOd7z6ahW0bl0K8lot5EO6BRhcSTchC6AABShAAQpQgAJPC3CJGQXC/ICTi4F1rwC/twdOLQEiQ824QRZNAQpQwPoEAgLCMGPGPxgy5E8VWPnpp5Oxo1eyZHGBszPDAabcq9Q0pSbLogAFKEABCliXAGtLAesU8L8O/PsFcPF34MoG4NFZQC4LcnQFNEfwHwUoQAF7Fzh+/B5ef30dpk3bg/PnffUASy1MndoMmsY7AZnru8HgirlkWS4FKEABCphIgMVQgAIU0AUkeHLmR+DHesC6zjEBFUMk4OgGeOQBvIsA5XoCPiX0zPw/BShAAfsUCA2NxNKlR9Gr12qsXn0WWbO64qefOmPSpKbqTkD2qZIxrWZwJWOcuRUKUMDWBdg+ClCAAhQwr4AEUv6ZANzeBzy+AMh7V2+g9ofAG9eAAfqyhp8CWfKbtx4snQIUoIAFC/j6BmPduvM4ffoBOnUqi02beuHll8vAy8vFgmttG1VjcMU29iNbQYEUCTATBShAAQpQwGoF5P6h4U9iqi93BcpeDijZAWriWgdnQJK6JEiLycNHClCAAnYgID+NERFRCAuLVPOpFCjgjXfeqY0//uiJ+fNfQokS2eHgwN/FjPgqMLiSEcrcRmoEmJcCFKAABShAAQrEF4gMAYLvAtEGwMEJKPoC0O800HIxkLNS/Lx8RwEKUMBOBKKiDLhx44matPbddzfh6lU/1fIGDYrghRdKwNvbVb3nQ8YIMLiSJmeuRAEKUIACFKAABSiQYQInlwArmwAhD/7bJLuw/0HwiQIUsFOBoKBw7NlzA2+//SfGj/8L+/bdwpEjehDaTj3M2+yUlc4jU8qcmIsCFKAABShAAQpQILMEjs0F/K/GbN3VB8haLOY1HylAAQrYocC1a0+wdOkx9Ou3Bjt2XEXDhoUxZkwDtG5dyg41LKfJDK5Yzr5gTShAAQpQgAIUoAAFEhOICI5Z6pYDqPIGUKFPzHs+UoACViXAyqZf4ObNJxg3bgdGjtysCuvfvxq+/LIlOnYsBzc3J7WMD5kjwOBK5rhzqxSgAAUoQAEKUIACSQkE3wOu6n84nPsZOLcSiAjUc2qAV2Hg+clAzor6e/6fAmYRYKEUsGiB27cD1WiVevUK4eOPG2LixMYoXz6XRdfZXiqXIcGVqKgo3Lp1C6dPn8alS5fg7+9vL75sJwUoQAEKUIACFKBASgWCHwCXNwAHpgE73ga2vBmTQh4CemwFjs7gPxFgogAF7EUgPDwKhw7dRmBguGpyrVr5MW5cI3z6aXP06VMVXl6uajkfMl/A7MGVBw8eYN68eRgzZoweVZuofxHGYdq0adizZw/Cw2O+IJnPwBpQgAIUoAAFKEABCphUIC2F3dwJ7B0HHP0aeHQOCPMD5A5BzlkAjzxA4eZpKZXrUIACFLBKgbt3A7F48VGMHr0Nv/56ChERUdA0DXIpUM2a+fXXVtksm620WYMr0dHR+Oabb/D777+jVKlSaNGiBWrXro27d+9i4cKFOHr0qM3CsmEUoAAFKEABCli+AGuYQQIPTwL7pwK7P3p2kqCK5I2KANyyA2W6Ao1nAE1nA02+BCq/nkEV5mYoQAEKZJ5AVJQB+/ffxOTJu1Q6fPgunjwJh/7ndeZViltOVsDswZUVK1ZgwIABeOedd9TzwIEDMWTIEP2LEY1jx44lW0FmoAAFKEABCti5AJtPAesS8L8ONfJk+9vAtiExSV4f/Bz498tnp1t7gaiwmMBK3bHA85OAiv2BCq/GBFq8i1iXBWtLAQpQIJUCjx+HYsWKE/joo23qjkB582bBlClN0blzeTg7m/XP91TWlNkTCph97zg6OqJixYrw9PRU23Z2dkbBggWRN29eFWBRC/lAAQpQgAJWLsDqU4ACFPhP4Pp24PAs4MS3eloUk27sjLnEJzIEcPZIOrl6A575gNKdgFIdgWylAM0R/EcBClDAHgRu3w7A7Nn7MX78TsholU6dymHGjBfQq1dlFCjgBU2TyafsQcI62+hgzmprmobXXnsNX3/9Na5evao2JZPZbty4ETLJba1atdQyPlCAAhTIEAFuhAIUoAAFzC8QdAcI1FNUKODkBrh4Ae45ARl10uBToPPWZ6dOG4G642KCLOavLbdAAQpQwGIEPDycERYWCU9PF0yY0BgTJzZBvXqFIMstppKsSJICDkl+YoIPZM4Vmcz2p59+QtOmTVGhQgVIQOWDDz7Ajz/+iL59+6JmzZoqHT582ARbZBEUsH4BtoACFKAABShg1QIyAS2i9aBKVuCFhUDP/TGp619AtSFA7qrPTrkqA1nyAw5OVs3AylOAAhRIiUBAQDhOnryvsnp7u2LgwJr45ZcuGDCgGgoVygonJ7P+ya62ywfTCJh1T2mahmHDhmHKlCkYMWIEBg8ejLffflvdOeijjz7Cm2++if79+6sklwmZpkksJQMEuAkKUIACFKAABSgQIxD8ADgwDfi+FrBUD4wcmQ3I5T+a3s2US3yyFgMkycgVuetPzFp8pAAFKGDXAgZDNI4fv4cOHX7S/y5ejyNH7sLBQUPBgt4oUyaHGr2i/zlt10bW1nj9qGe+KmuahkGDBqmgigRWEib5zJjy59fPUJi0KiyMAhSgAAUoQAEKUMAsAqe/BxaXBxYU0QMqFYHdo4B7h4CHJ4Dge4CMXnFy5+gTs+CzUApQwNoF5AqPb789jIYNF2PHjqsICYmAv3+oapamaZxbRUmk9iHz85sluHL37l01p4o079atW0gqBQYGqi+OpmmSlYkCFKAABShAAQpkiEBkZCSCgoL0zqw/pD8i75PasMFg0Du+ISqvzB0XHBwc289Jah2bWn5tG/BzE2B+QeAb/WSYpD97A4/OAAHXgZCHenP1vpyDM+CZF8heFshVFaj2FuBTQv+M/6cABShAARGIjDTg2jU/dOiwEgMHrpdF6NOnCjZs6IFGjYqq93ywXgGzBFfat2+P69evQzojzz33HGrXrh0vyTJJP/zwg/XKseYUoAAFKEABClilQHh4ONauXYsuXbqgRo0aaN68OX7++WfI8oQNkgn4Dx48qHeCB+L5559H3bp10bt3b+zZsyfR/AnXt4n3Z/X+2p19QOAtIPh+THJwBBxdAS894JK3FpC/rh5MGQq8shPodwZ49Qjw3AdQE9naBAIbQQH7EWBLzSewd+8NNGmyFH/+eRElSmTHV1+1wsKF7ZAvn5f5NsqSM0zALMGVb7/9FgUKFFCjUuT1qlWrVCdGOjKS1q1bB0kShMmwlnJDFKAABShAAQpQQBc4cOAAFixYgDp16mD16tXo2bMnRo0ahdOnT+ufxv+/jL5dsmQJZGTLsmXLsHLlSvj4+GDOnDm4efNm/My2+k7u+iOX+Ti6AIUaAUWaA4X1VLYb8NIqoIceeOm2G2j8BZC9jK0qsF2WJcDaUMBqBAyGaMhlQFJhNzcnZMnigjZtSuGPP3rg1VerwNFRk4+YbEDAwRxtqFixIlxcXNSQ2T///BNFihRRZ4Zq6GeH4qY8efKYY/MskwIUoAAFKEABCiQqIB3c3bt3I3fu3GrkSqVKlTB06FCULFkSiY2olUuAQkNDIfnKly+PMmXKqD6NwWBAREREotuwmYXhAf/NofIwZg4V12x6MOVXQG6VLKnlEiDfczbTXNM3hCVSgAL2LCDHm/v3g3DgwB3cvRsMgx5kee65Apg3rw1+/LEzSpXKYc88Ntl2swRXjFIODg7YtWsXHj7UD8rGhXymAAUoQAEKUIACmSQgAZHbt28jV65cyJ49u6qFpmmoWbMmjh8/rt7HfZAgTNWqVXHq1CksX74cK1aswD///IN69eqpMuLmNb6WS4lkO8Yk742fSWfb1EnKTnOZ0TFnVBNbHzd3AduGALf0Z0Mk4OCEaH1jieXlsqQdaZNyG/3rpf5Ps5SbpcVKkI3rxX1tXMbn9PuHhUXi5Mn7mDVrvx7A34p16y4gKChcjWCpV68QXFwc1Gtap9/aaCjfZUnG96Z4NpYnzylJZg2uaJqGBg0aqI7Iv//+i8uXL+PatWuxSSaFS0klmcd6BdxcnFG6SG40r1sOr7SsgT4v10UX/blu1eLw8XKPbZj+VUG2rB6oVq4w2jSqhB5tnkOvl2rj5aZVUL5EPsjniPPP2ckRhfJmQ4MaJdGxRTWVt1vrWmhauwxyZ/eCQ8IV4qzLlxSgQOYKBAcF4cTxY9j4xwas+X01tm3dguv6sSFza8WtW7KAKesWFhYGSe7u7nB2do4t2tvbG0+ePIl9b3zh4eGhRrWEhITg999/h1zqLCeN5PJnV1dXY7bYZ5m3RU4sffPNN5Aklx/JnC0SaJFRMKZO0haZmNcU5Yb4+yLixl4YzvyI6NMrYDixCLh7CIgMQ7STJ8JyVEVIaARMsS1rK0P2v1hbW72tsb4yUswa621tdRZn+V6b6vfD2tpvzvrevv1YP16cwUcfbcO8eQf1Y000DIZwBAYG2eXvpzmt45Yt3+m47031Wn77Yw/yybxwSObzNH8s1zBLA2Vi2++++w4ffvghxo0bh/Hjx8cmOfOT5g1wRasQqF6+ED54rSXGDGyN1zs3QJ/2dTGsdzNMfac9BnR6Hvlz+0D+ubk6o03DSpgwtC1G9G2B/h2fx2ud62PsoDb6spf0IEtVyRabCujrDe3ZRH0+tEcT9OtQD2/r7ycMfQnD+zZH8UI54eCgxebnCwpQwDIEAvz9sWnjn5g9ayaWLV2MVb/8jG++no2v58zCqZMnLKOSaasF17ISAWc9oCJJgiBxR5RIJ8zT0/OpVty4cQNyibNcEjRjxgx8+eWXaNiwIX788Uc1eX/CFQwGAx48eIBLly6pJCeWHj16pHesDepyadmmKZNsz2TlPTqP6H8mQts2FNg2GNrl9UBkCKJdvGCo9BoM1UciUnM2SztM1oaoKNaPBvwOJPMdkDmk5L85k/5+JLNN2Z6tp7CwCJw+fR+zZ+/D2LE7sG/fTTRtWgyjRtVGhw6lcwWt+AAAEABJREFU4OnpxO+mGb8n5vo+S7kJj/VJvTdbcGX8+PGQSKjMrD9y5Eg1E7/MxVK2bFkYU/b/huMmVTkut36BPDm94RcQjB83HMT0xZsx/ut1mLV8G27e98Pg7o3R+YXqKgji4uQELw83nLl8F4tW7cEnC//EpHkbsPDX3WrkyqS3X0bZYnljQdzdnOHs5IhNe06r8iZ9swGffrcJx8/dwista6KfHpzxcHOJzc8XFKCACGRukuGZBw8ewA8rlsPDwxO9X+2LIW+9g05duuLwv4cw56svERAQkLmV5NZtXkBGm8ilPr6+vrEjVeS7KZf9yHwqCQHu3bsHCbDIZUPyeYkSJdCoUSPcuXMHfn5+CbPDzc0NHTt2xLRp01SaOnUqXnjhBch2s2TJAi8vL5MmGYFjqjKzaIFw9T0Mh/DHcIiOgObkBrjlgFb0RTjUeBduxRrBy9vHpPU3Vd3NXY7sOw8PD7tsu7lt45YvzhLkjLuMr037m2H0FGdJxvd8Tr9zRIQTfvvtEr777hQcHR3x1lu1MXFiY7RuXQq5c/vw98PEx7+E31lz/EbLb5IcZ5862CexwCGJ5eleLDPoS5Tngw8+QFKpVq1a6d4OC7BsgX3HruhBlS16kORvFQjZdegCVm0+grk/7kRoWAQa1iqF7N6eCA4Nx9odx/DZd5uwYsMBbNt3VqVv9eDKivUHUKJwLrxQr1xsY2/cfYyvvt+OOT/sxJrtx7DzwHms1Z8/1wM48lmnFtXg6e4am58vrEiAVbVZAflDdN/ePYiKjET7jp3Q4sWWqF2nrh5ceQVt2rbDgf379PSPzbafDbMMAU3T1Pwq9+/fx9atW3H16lWsWbMGJ0+eRPv27SFnVpcuXYpt27apCkvHSjrJMtr24sWLKv/OnTv1AKEH5DOVKcGDk5OTCqZIQEWSvJcsmqZB0ywoIRra7b3Q9o6D9vcoaCe+BWQSW0c9qFK6C9D8a6DZHKD2R9Cy5LWsuluSI+ti0u+GRf63wn1s0n2saRb0O2jCuri5OaFQoaxo1qw4Jk9uiiFDaqF8+dxw0k8Ia5pttlnTLKdd8tshSdNMXycpNyXJbMEV2bgEWOLOsZLwNedcESXbTncePIEkgyE6tqFRBgPuPvDHQ78geLi5QEahRERG4dZ9P/jqy+QMojFzZJQBJy/cgqYvyJkti/4Y8//A4DBcveWrAjQxS2Ier91+hMf+wcjm7aFGxMQsNf0jS6QABVIvcPvWTVy5chklSpVCseLF9c6GkypELtFo0/Yl9Uft7l271DI+UMCcAjIZbcuWLbFlyxbInYJkbpS+ffuibt266vKdX3/9FXJHIalDcf272rlzZ3WJz3vvvYfhw4dD5pHr3bs3ChcuLFmsL937F/hrJLB1ELBjGHD4S+DIV8ClNUBUGCAjVvLVBcr1Asp2A3JXBRxdra+drDEFKEABMwvs3XsDCxb8C/n7xdvbDa+8UlGNVmnbtjRy5PAw89ZZvKUJOJizQm+++Sa6desWL3Xv3h3GtGHDBnNu3t7Lttj2Ozo4IH/urCicLzvuPfTHg8eBeNa/RrVK6z9YwNFzN5+VTX1WrnheNaHt2ct3IQEbtZAPFKCARQg88vWFpHz58sPbO2u8OhUtVhxyhv/ihQvxlvMNBcwh4OPjo/oio0ePxogRI9RccIMGDYKnp6cK+k2YMAE9e/ZUm/b29sZLL72Ejz/+GO+++y6GDRuGsWPHQgIu8pnKZG0P/84Ejs8HTi0F7h2KGa1iiARcvAGPPEDBBjEBFWtrF+tLAQpQIIMEgoIiMH36XgwcuB5ffPEPJMiiadADKu4oXToHXFwcM6gm3IwlCZg1uPLOO+9gzJgx8ZJ0ZIypdu3almTBumSQQI5snni3T3MEhYTht21Hnxp9ErcazeuWQ8cW1XHo5FVs2XsGz/rn7emG/p2eV0Gb71bvQUBQ6LOy8zMKUCCDBUJCQyFJ/oB1cYk/J5KMXvHMkgV+fo8yuFbcnL0KyLxv1atXR5MmTVCnTh29Q5wDmqapJMtLliwZSyPXdVeqVElNZNuwYUNUqVJFDxB6q7yxmazhhdz5Z/PrwGX95Fa4fmLDEBETTMlTA2g+F+iyXU9bgaaz9eBKNWtoEetIAQpQIMMFTp68hz59fsO0aXtw9uxDtGpVCmXK5MzweljnBm271mYNrjRt2hQvvvhikqlo0aLP1A0LC0NgYGBsCg0NgRrC8My1+KElC7i5OmPCkJdQs2IRNcnt5j2nk6xujfJFMHVYe8hlREMm/fjMYIm7Xu6bXRuiY/NqWPnnQTW/S3i4fhYuydL5AQUokNECMmQ2OtoAB80h0T9KHRwc1H/vGV0vbo8CdiMgc6qc+xkIexLT5OzlgJ4HgA7roC4BylUJyFkR8C4CdWlQTC4+UoACFLAvgSRaGxERhUWLjqBbt1VYt+48PDycsXJlZ4wb10gP0HsksRYX25OAgzkbKxO4PStJRzqp7UdFRWHSpEkoWLBgbHpn4KuICkz+0pCkyuTyzBXQNA1fvN8FHfQAyA/rD2DG4i1JjlqpVq4QZn30CnL4eKLne9/i5MXbSVZeAjZv6IGVQd0aYdPuU2qi2/u+AYhOcg1+QAEKZIaAi7MzXJxdEBYeBrkNZMI6BAcFwdPDM+FivqcABUwlEHwPiAyGHt0EfEoBdcbogZTCgGc+MJgC/qOAVQmwshkvMGfOQYwduxOnTz9Ex47lsHt3P7RrVwY+Pm7qZzXja8QtWpqAg7kqVL9+fbgkGPadmm3JzPxySdH169dhTF/OXQqHLAVSUwzzWoiApmn4ZlxP9GpXG9+v348xX61BaHhEorWrWrYQvvqoGwrk8UHvDxfh4MlriI5OPFTi5uKM/h2fx4g+zbFj/zlM+24TZFLbpPInukEupAAFMkTAO2tWSPJ9+BASSIm7UbUsOBgFC+t/6MX9gK8pQAHTC3jkBvqeBGSyWtOXzhIpYBTgMwVsSuDll8ugcuXc+Pbbl7BkycvqzkCOjg421UY2Jn0CZvs2rF27FjJhXHqq5+bmBpkszpjcPTz0qKDZqpyeqnLdZwjIHYHmjOmOrq1q4rtVu/H+9FWIe/cg46qODg6oWaEIPhvZUU1K+/rY73HgxLVE88o6nu6ueLV9HQzXAyvb9cDKp99uhNxBSD5jogAFLE8gX/4CKFCgAC5cOI979+7GBk0lGPr3rr/033cNNWs+Z3kVZ40oQAEbFmDTKEABCjwtEBUVjVu3/LF27VkcPRrTZylePJv+vjv69asGV9eYOx4+vSaX2LMAIxX2vPczoO3eWdwx9d326NGmFn7fdhST5/+JrPqybN4ekOTl6QYnPeLr4KBBLgWa8NZLKFU4t55vA06cvwUvD1eVT/Jm0V8bqyyBlVda1sD7A17E6Uu3seCXv/HwcWBsXskv5Rrz85kCFMh8gbx586JK1Wq4d/cOdv21Ezdv3ICf32PI7ZmXLV2MnDlz4YWWLTO/oqwBBSxNgPWhAAUoQIEMEZDB8nInoN27r2PQoA3o3n01fvnltN5fCVXbd3Jy0E8GqZd8oMBTAg5PLeECCphQQEardHmxhjpDHRYeiYlDX8Lkd16OTTJPitySOXtWT/RpXxdy22W5NXPjWmUwdnCb2HyT334ZPdvWjq1Z+RL51IgVbz044+zkpH/23P/z/ld+wbzZ+OMXK8YXFMh8AQcHBzRt3gLNmr+APzasw+SJ4zBt6hSMfPcdyATm7458D7ly5c78irIGaRLgShSgAAUoQAFrFoiKMuDGjSdq0trXXluLv/66hnr1CqF27QJwd3e25qax7hkkwOBKBkHb62b8A0Ow+/BF7DlyGflz+6BwvhzxUr5cWeHiEjOs7tptX+zYfx73fAOQO4d3vHyF82dHruxesYwhoeE4fv4m9h+/ikj9hzBhufLeVZWrxa7DFxSgQOYL5MmTF6+9OQgDXn8TOXLkQHBwEGrUrImPx01A6zYvmbuCLJ8CFKAABShAAQo8JRAZacD+/bcwbtwOfPTRNsj7AQOqYfbsVnjppTJwc4v5e+WpFbmAAnEEzB5cMRgMOH/+PDZs2IBffvkFv//+u/7F3Q8/P7841eBLWxVY+echdB2+EC8NnpNoevfTn3H28l11Sc/0xVsSzROz7teY/M2GWCa5e1DP9xc9I/8cnLtyDzKXQ+xKfEEBqxCw/UrmzJkTnbt0xdRp0zFrzjyM/ng86tStZ/sNZwspQAEKUIACFLBIgdDQSMyf/y9+/vk0nnuugB5kaaRS2bI5ORIe/JdSAbMHVw4ePIhPPvkE8+bNw/Lly/Hdd99hxowZWLlyJR48eJDSejIfBShgSQKsCwUoQAEKUIACFKAABaxYQEanPHkSqlrg4uIIuRtQ//7V9L9dm+HVV6sga1Y39RkfKJBSAbMGV2TUwKxZs1RdRowYgWnTpukRwHGoU6cOtm3bBgm8qA/5QAEzCLBIClCAAhSggN0IRIUDd/YDx74BjsxOPPldAqINdkPChlKAAhRISuD+/SAsXnwUs2cfQEREFCS40q5dGUyY0FiNXHFw4NQCSdlxedICZg+u7N27F4MGDUKTJk1Qrlw51KxZE926dUOePHlw9erVpGtmH5+wlRSgAAUoQAEKUCDtAhIsuXcIOPAp8PeHevoo6fToTExwxdE17dvjmhSgAAWsWMBgiIbMrTJ58i79pP8OfPvtYdy7F6haJHcCyp7dXb3mAwXSIpCC4Epaiv3/Om5ubrh///7/F+ivgoKCEBoaCmdnzrqsc/D/FKAABShAAQpQIG0CenBFO/gZcGg6cGMnEPYYMIQDDk5PJ+csgEceoGR7QDN7FxD8RwEKUMCSBPz8QrFs2TGMGbMN3313BPnyeWHUqPrw9GTAOf5+4ru0Cpj1yKppGrp06YKpU6fi888/VxPaypwrU6ZMQUBAACpXrpzWenM9ClCAAhSgAAUoQAE9uIK7+4HwAEBGpOStBdSfCrT5IfHUehlQ413AwZF2FKAABaxXIBU1j44GTp16gIkT/8KkSbvUyJWuXStg5swX0adPVWTLxrlVUsHJrM8QMHtwZeDAgejatav+Jd6Pb7/9Vt0tKEeOHBg8eDCDK8/YMfyIAhSgAAUoQAEKpEjAEAVoerAk33PAi98BlV8HirVKPBV5AfAuAkAD/1GAAuYVYOmWI3D8+F2sW3cecunPlClNMXZsIzz/fGG4uTlZTiVZE6sXMGtwRXTy58+P/v37Y/r06Zg9ezZmzpyJDz74AHXr1oW7O69pEyMmClCAAhSgAAUokC4BTQ+WuGYHclYCXLzTVRRXtisBNpYCNisg86tERUVDfh7r1y+MDz98Ht980wb9+lVDkSI+cHTUfzdttvVsWGYImD24omkavLy8ULRoUZQuXRolS5ZE7ty5Od9KZuxtbpMCFKAABShAAQpYnQArTAEKUCDlApGRBuzbdxNDhvyB3347o1YsUMAbPXtWRoMGRZAli3mX3/MAABAASURBVIsKuKgP+EABEwqYLbhSuHBh+Pj4PDN9/fXXJmwKi6IABShAAQpQgAKZJJAZm728Dtk3tQGC4984IDOqwm1SgAIUsASB4OAIyB2AOnRYiUWLjmD9+vN4/DgEDg6augRILguyhHqyDrYpYLbgyvz587Fs2bJ4aenSperyoHr16iEiIgJRUVG2qcpWUYACFKAABSxQgFWyLQHtn4lwfnQCWrTen9IcARdP22ogW0MBClAghQIyae3t2wHo3fs3DBq0ARJk6du3CmR+lWzZOBVFChmZLZ0CZguutGrVCu3atVOpdevWqFOnjv4lD8aSJUv06OFjLFy4EP369Utn9bk6BShAAQrYmACbQwEKpFQgIlDljHbS/3Ao0gKoMki95wMFKEABexKQwMr69efw3HMLsW7dOZQpkwNz5rTC11+3gVwOZE8WbGvmCpgtuCLNMhgMuHv3LjZv3gy5a5BMZtu5c2esWbMGPXr0UHOxSD4mClCAAtYlwNpSgAIUsBQBDchWGuiwDihQ31IqxXpQgAIUyDCB8PBIjBu3EyEhkfqJ/TL47bdu6N27irozUIZVghuigC5gtuCKBFV27dqFjz76COPHj0f58uXx008/YdiwYWpCW33b/D8FKGBOAZZNAQpQgAIUoAAFKEABGxOQkSq+vsF4+DAYcjcgV1cnfPVVK/3vzvpYvrwDypXLaWMtZnOsRcBswZUpU6agQ4cOOH/+vBq10rFjR/j5+eHw4cOx6f59TsBmLV8Uc9WT5VKAAhSgAAUoQAEKUIACFEiJQHh4FM6ceYCZM/dh+vS9ePAgSK0mt1oeMaIe3N2d1Xs+UCAzBMwWXNm9ezfy5cuH/PnzY9OmTZg2bdpT6cCBA5nR5tRuk/kpQAEKUIACFKAABShAAQpQIBMFZLTKH39cwHvvbcHs2Qewc+dV+PuHIVqGsmRivbhpmxNIc4PMFlz58MMPIZcEyaS2L730EhJLJUqUSHPFuSIFKEABClCAAhSgAAUoQAEK2LZAZKRBjVaZN+8QRo3ahgMHbqF58+L4+ONGKFw4KzRNs22ARFvHhZYoYLbgSteuXdGrV69npnLlylmiCetEAQpQgAIUoAAFKEABClCAAukRMMG6UVEGHD58B+PH/4VZs/bDwUHDkCG1MHVqM7RsWQJubk4m2AqLoIBpBMwWXDFN9VgKBShAAQpQgAIUoAAFKEAB8wiwVEsX0HD/fhAuXnyEOnUK6kGWxnj77dooUyYHHB35p6yl7z17qx+/kfa2x9leClCAAhSgAAUoQAFrEmBdKWBXAhERBpw79xBPnoTqARQNtWrlxyefNMPkyU3Qrl0ZZM/ublcebKz1CDC4Yj37ijWlAAUoQAEKUIACFirAalGAAhRIv0BQUATmzDmAIUP+wPLlxyFz1ebO7anmWKlcOS9cXR3TvxGWQAEzCTC4YiZYFksBClCAAhSggIUJsDoUoAAFKGCxAmfOPED//mswbdpuNc+K3AlI5lzRNE3NtaI/gf8oYMkCDK5Y8t5h3ShAAQpQwO4E2GAKUIACFKCAPQlIAGXRoiPo2HEl1qw5B29vV8yd2wZvvFEDnFfFnr4J1t9WBlesfx+yBRSgAAUyWoDbo0CmC0RGRiIqKirT68EKUIACFKBA2gV8fYP1IMo6vP/+Fpw754uXXy6DP/7oqQdayiFnTg9wtErabblmxgswuJLx5twiBSiQIQLcCAUoYGsC0dHROHLkCLp3746CBQti5syZCAoKwvLly7Fw4UIEBgbaWpPZHgpQgAI2LeDl5YqHD0NUG7/9tp3+e94BJUpkh4sL51ZRKHywKgEGV6xqd7GyNifABlGAAhSgQIoFzpw5gxkzZsDDwwP169eHwWBQ6xYuXBjr1q2Dv7+/es8HClCAAhSwTAEJkj98GIzHj0P03/BoFUSZNasljh0bhH79qqn3HK1imfuOtUpegMGV5I3sPgcBKEABClCAApYgcO3aNTg7O2P06NGoUKECNE1T1SpWrBju3buHiIgI9Z4PFKAABShgWQLR0UBISAR27bqGXr1Wq0uBLlzwVZUsWtQHBQp46b/p6i0fKGC1ArYSXLHaHcCKU4ACFKAABSiQMoHw8HD9TKcBWbJkibeCXBokCzQtJtgir5koQAEKUMAyBCIjDbh1yx8LFhzGgAFrsWfPDTx+HAq57bIEXSyjlqyFlQlYZHUZXLHI3cJKUYACFKAABSiQUCBXrlxq5MrevXsREBCg5li5fv06Vq9ejVKlSsHd3T3hKnxPAQpQgAKZKBAcHIF9+25izJjtGDt2ByIiDHjtteqYN68tqlXLZ+OjVTIRnpvOFAEGVzKFnRulAAUoQAEKUCC1AmXLltU749Xw66+/4tChQ/j7778xdepU7NixA127dkXWrFlTWyTzU4ACFLBvATO2PirKgGPH7mLYsI16EPwMqlfPh8mTm2D8+EZ6QDw7AytmtGfRmSPA4ErmuHOrFKAABShAAQqkUiB79uzo1asXunXrpia0ldEqctcgmYOlefPmcHFxSWWJzE4BCliDAOtonQJyyU94eBS8vV313+7K+Oyz5ujRo7IeCHezzgax1hRIRoDBlWSA+DEFKEABClCAApYhcPXqVRw/fhwtW7ZUI1bmz5+PTz75RAVaNm/erC4TsoyashZ2KMAmU4ACuoCvbzB++ukk7t0LgpOTA2rUyI8ZM17AuHGNUKtWATg6anou/p8CtinA4Ipt7le2igIUoAAFKGBzAhJY+eGHHxAWFhavbSEhIfjiiy/w6NGjeMv5JqEA31OAAhQwj0B0dDQOHryNSZN2YeTIzVi27JjaUJYsLpC5VfLkiT8RufqQDxSwMQEGV2xsh7I5FKAABShAAasWSKTyEjw5efIkLl26hFu3buHUqVOQ95Ik4LJ161YY7xiUyOpcRAEKUIACZhTw9w9TwZTRo7dh7txDyJHDAwULeplxiyyaApYpwOCKZe4X1ooCFKAABSxYgFXLWAEJqLz99ttYtGiRmsj2vffeg7yX9O6772L27Nlo3LgxvL29M7Zi3BoFKEABOxc4deo+Jkz4CxMn7sLu3TfQs2clzJrVEh06lLNzGTbfHgUYXLHHvc42U4AC9iDANlLAZgRy586NESNGoHPnzqhdu7YKrMh7YxozZgzeeusteHnxTCn4jwIUoEAGCVy58hjTp/+Db789DAcHDdOmNVNzqzRuXBRubk4ZVAtuhgKWI8DgiuXsC9aEAnYowCZTgAIUSF5ARqS0adNGBVVmzpypnxHtAHkvqXXr1mjWrBmKFCkCR0fH5AtjDgpQgAIUMIlA7tyeyJPHEx07lsOCBW3Rr181FC3qA/6jgL0KMLhir3ue7U65AHNSgAIUoIBFCGTLlg0FCxaE3DVo/fr1kMltv//+exhTYGCgRdSTlaAABShgiwKRkQbs23cTW7dehtxi2dPTBSNH1lO3WG7QoAhk8lpbbDfbRIGUCjC4klIpC8/H6lGAAhSgAAVsXeDJkyf4+uuv0apVK7z22muQuVeGDx8OSVOmTIF8busGbB8FKECBzBDw8wvF3LkH0aPHKowbtxN//31dVSNnTg/kyuWpbrsM/qOAnQtkZHDFzqnZfApQgAIUoAAF0iNw7Ngx7NixAxMnTsSAAQPUPCt79+5Fx44dMXToUPj4+KSneK5LAQpQgAIJBOQWyxcvPsIbb6zTA9mb4esbglq18qNMmRwJcvItBZ4SsLsFDK7Y3S5ngylAAQpQgALWKfD48WMVQGnatClcXFwgnX6Z7HbYsGFYu3Yt5HPrbBlrTQEKUMDyBMLCIvH772fRvPkyrF59RgVU5s5tjc8+a4GCBW3l7myW584aWa8AgyvWu+9YcwpQgAIUoIBdCTg5OcHZ2RkGgwFZs2aFv78/Hjx4gMjISP1sqi+ioqLsyoONpQAF7EQgk5r5229n0b37Kv23NgydOpXDzz93Rs+elfXgNicPz6Rdws1auACDKxa+g1g9ClCAAhSgAAViBGSUSp48eXDv3j2UL18eFy5cwOzZszFp0iQUKFAA7u7uMRn5SAEKZLgAN2gbAkFB4YiOjmnL888XQv36hTF6dAMsWvQyKlTIHfMBHylAgUQFGFxJlIULKUABClCAAhSwNIGyZcvqZ1G7I2fOnGjQoIGaa+Xu3btwdXXF+++/D7mbkKXVmfWxKAFWhgIUSEIgIiIK5849xOLFR3Hrlr/KJZf+/PJLFwwfXhdyZyC1kA8UoECSAgyuJEnDDyhAAQpQgAIUsCQBLy8v/cxpBeTPn1+NUunRowd++uknzJ07V+/4e6rLhVJaX7mcaM+ePZBbOsskuffv39fP1v53ujZBIXIZkoyWkfwbNmzAxo0bcfHiRURERCTIaYq3LIMCFKBAxgo8ehSCTZsu4Z13NuqB6i3YsOGCqoCmaXrQ2h2apqn3fKAABZ4twODKs334KQUoQAEKUIACCQUy4X1YWBguXbqEQ4cO4cqVKwgPD0dISAgOHz6M7777DlOnToWfn1+Kavbo0SOsWLECX375JZYuXYrp06djzpw5CAwMfGp9mTT36tWrWLJkCb755hu13g8//ID9+/er7T+1AhdQgAIUsBKByEgDzp59qP+2HcKwYZtw8OBtNG9eHMWK8c5rVrILWU0LE2BwxcJ2CKtDAQpQgAKmEWAptiMgQZTt27dj/PjxGD16tJpj5Y8//sAvv/yC+fPn48iRI3j++efh4eGRokbLCJRt27bhxRdfxIwZMzB48GD8+OOP2L1791Pry6S5Mrrl5MmT6Nu3L7744gtMmTIFjRo1gpub21P5uYACFKCANQgEBIRj69bL+u/qTj3AvBeuro76b2EtzJzZUgVYrKENrCMFLE2AwRVL2yOsDwUoYE8CbCsFKJACAbmER0aLODg4oHr16pBAh4w6OXXqlJp7ZezYsRgyZAjksqHkipNLfGS0i0yM26RJExQuXBitW7dGpUqVsHbt2qdWv3nzphotkyNHDly+fBlSj3///VddluTi4vJUflkgdy+SkTaSQkND1d2MZLmMgjFlkjKNyZTlsqxodYkYHTLHQb7TtDe/vZ9fKH799Sy2bLmsB6cLYdy4hhg5si6KF/eBXAXEfWD+fUBj0xqb87dDyk5JYnAlJUrMQwG7FmDjKUABCmSugIweuXPnjt7xH4lRo0ahadOmyJIlCzp16oRu3brpfwwUh5OTU4oqKQEPmV8le/bs8Pb2VutomqbuPnT+/Hn1Pu6DXEIkwRxJZ8+excOHD9WlQTLS5fHjx3GzqtcyykbmgXnrrbcgadiwYZB5WmS7AQEBkLaYKhmiotQ2DVEGk5ZrqvrZUjmy74KCgujs729WA7k0T5ItfXcsqS1+fk/037DHah86OUWiVq2cGDy4Ct5/vyaaNMmv/56Eqc8sqc62UBf57ZDfEFtoiyW3wRzOst+Cg4P1/zZS9n8GV1LmxFyWLsD6UYACFKCAzQrISBCX6I3jAAAQAElEQVRJBQsWVAGR3Llzq2BIqVKlUhxUMeJIOZJk1Imjo6NxsRqJklgHSvJKEKVo0aIYOHCgCpjIJUhyqdDt27dj1ze+kDKLFSuG2rVrxyapt4y6cXZ2himTpmlqs5qmmbRcU9bRlsqSAJ4ttccS20Jj0/5GxN3H/v6RWLLkBObPP4qwsGhky+aB9u3L6b9pdVC9ekF4errxd8TEv9FGf36vzfe9NhrLs7mcpVx1sE3BA4MrKUAyVRaWQwEKUIACFKBA6gVk6LSMGJG79KxZswZyOZBMMmt8L8skJRYcSbg1V1dXNVeKjDCJe7efJ0+ewMfHJ2F29ceGXEJUsWJFSDAnX758qFevHiTg4ufnpy4fibuSBG3q1q2LPn36qNS7d29Uq1ZNlePu7q6COKZ61hxiunGag2bSck1VP1sqR+bXke+OLbXJUttCZ9P+Tri5uePSpQB89NFfmDHjINatu4yLF/3V72Du3N7InTsrPDxMu01L/W5lVr3kO+3m5sbfaRMfAxPuT3FOuMwU76XcuMf5Z72OOSr/PwdfUYACFKAABShAAYsSkDNSMtx31qxZ+PTTT9Wdek6cOAHje1k2bdq0FN0tSMoqUKAA5NIgueRHGirBm4MHD6Jq1aryNl7y8fGB5JfAjeSTD+WyBTmTJYEUTYsZPSLLjUlGqcjnxiTvjZ9pmgZNM00ylinPmmaaMjWN5WgaDTQtcwzkuyxJ0zJn+5pmW9uNjgaWLz+OXr1+w2+/nUW2bO54553aqFAhtzCr3yJ5oWm21W5NY3s0LcUG6nugadafX77LkjTNdG2R8lKTGFxJjRbzUoACFKAABSiQ4QKlS5eG3C1I5jmRCWXXrVsHuVuQ8b0sk1sry+VCyVVO0zTUr18fMknuypUrcfz4ccycOVM/s3sJPXr0UJPPfvjhh1iyZIkqqkiRIqhTpw62bt2qJryVyXCXLl2KkiVL6md8Y/5AURn5QAEKUMCCBO7eDUS/fr9j5MjNOH/eFy+9VAY//NARHTuWQ9asbhZU05RUhXkoYB0CDK5Yx35iLSlAAQpQgAJ2KyAjRIoVK4bkkowUSQnSc889h6FDh+Kff/5RdwqSII0EWMqVK6cu85G7AV28eBHyTybO7d69Oxo3bqwm0+3atStkJMrw4cMhc6lIHiYKUIACsDCCH388gZUrT+sBYwNmzWqJBQvaomLF3HBzc7KwmrI6FLAdAQZXbGdfsiUUoAAFKEABCqRAQIIwbdq0wZ9//olr166py4w6duyoJseVy4Y2bdqEiRMnqpI0TVNBlI8//hhyKZLcMei7775DlSpVIJPXqkx8oICVCLCa9iMwaFAtvPpqZRw8+Dpef706vLxc1eUf9iPAllIg4wUYXMl4c26RAhSgAAUoQIFMFtA0TY1AkQCJjETRNA3Gf/JekvG9PGuapoIpxvzgP3MJsFwKUCCVAhERUdiz57oeRFmHI0fuwmCIViNUFix4CSVLZmdQJZWezE6BtAowuJJWOa5HAQpQgAIUoICdCrDZFKAABTJfICrKAJlbZfbsA+jZczV++OEE1qw5i4CA8MyvHGtAATsUYHDFDnc6m0wBClCAAnYgYKNNjIqKwpMnT3Djxg31LHfwkTv5hISEqPlSbLTZbBYFKECBeAJBQRHYv/8WRozYhAkT/lJzq7z5Zg0MGFAN3t4u8fLyDQUokDECDhmzGW6FAhSgAAUo8LQAl1AgNQIRERE4ffo0Fi5ciPfeew8bNmxAWFgYDh48iC1btkACLKkpj3kpQAEKWKOAv38YVq8+g6FD/8C6dedRpUoefP55Cz3I0hiFCmXlZUDWuFNZZ5sQYHDFJnYjG0EBCphRgEVTgAIWInD9+nV8++23kLv53L9/X41ekZEsMnJl2bJlaiSLhVSV1aAABShgNoF794L04PJ5PHoUgp49K+PLL1vilVcqqElrzbZRFkwBCiQrwOBKskTMQAFrEGAdKUABCti+wMWLF/U/Jh5h9OjRaNCggZqQVlpdtmxZ3Lp1CzKyRd4zUYACFLA1gcePQ3Hlip9qVuHC3njjjRoYO7YRxo9vhOrV88HRkX/WKRw+UCATBfhfYSbi292m2WAKUIACFKBAOgTkEiBHR0fkzJkzXimyPDo6Ot4yvqEABShgKwKHD9/BtGm7MXPmP3jwIBiurk5o0qQY+vWrijx5sthKM9kOCli9QGxw5e7duzhz5kyy6dq1a1bf6Gc1gJ9RgAIUoAAFKGCZAtmzZ1eT1h46dAjh4eHq9YMHD7B69WoULVoUbm5ulllx1ooCFKBAGgQCA8OxfPkxjBq1DbNm7ceJE/cREBCmStI0cG4V8B8F0i9gyhJigyvSMRk+fDiSS/PmzTPl9lkWBShAAQpQgAIUSJGAXP5Tt25d/PDDD9i4cSN+//13NbHt33//je7duyNr1qwpKoeZKEABCli6wOnTDzBu3E6Vdu68ildeKY8xYxogb16OVLH0fWeG+rFIKxGIDa5IZ6V///5ILrVq1cpKmsZqUoACFKAABShgSwI5cuRAx44d0aNHD3Tt2hX169dHjRo11ImhZs2awdXV1Zaay7ZQgAJ2KrB+/Xk9cLwFCxb8C4MhWt0JaNy4xmjatDg8PJwtVIXVogAFYoMr1apVQ5cuXZJNjRo1ohoFKEABClCAAhTIcIGAgABERkaiZcuWGDx4MEaOHKmemzZtiixZeDY3w3cIN0gBaxOwkvoGBYXj6NG7aNGiOJYsaY8BA6qhePFskEuBrKQJrCYF7FIgNriSsPUyOdz+/fuxatUq/PTTT7Fpx44dCbPyPQUoQAEKUIACFDC7gPRLOnfujBEjRuDAgQNwd3eHt7c3ZJJbs2+cG6BABglwM/YnEBlpwP37QQgICFeNf/HFkli4sC1mzHgBDRsWgaeni1rOBwpQwLIFEg2uXLlyRY1gefXVVzFkyBCMHTsWb7/9NkaNGoUff/zRslvE2lGAAhSgAAUoYJMCNWvWxPvvv4+QkBA1auXFF1/E+PHjcfLkSd6GOWP3OLdGAQqYSMDXN1hNVtux40ps3HgBEmjx8XFDixYlUbRoNjg4aCbaEouhAAXMLZBocOWrr75Sk8Jt3boVoaGh+OWXX/Drr7+iSpUqeOWVV8xdJ5ZPAQpQgAIUoAAFnhLIli0b2rZtiy+//BJr1qzBG2+8AblzkARZ5FKhe/fu4f//+IoCFKCA5QpER0fjxIl7GDz4D/1E9g6cOvUA1649QXBwhKq0s7MDLwNSEnyggPUIOCRW1RMnTkBGreTPnx9OTk7q1oa1a9dWE8h9//334D8KUIACFKAABUwgwCJSLSD9Eg8PDxQpUkT1VcaPH486depALhkKDg5OdXlcgQIUoEBGC4SGRuonrs+gffuV+PnnUyha1AcLFryEt96qDW9v14yuDrdHAQqYSCDR4Erc2fYlwHLhwgU13FYirA8fPjTRplkMBShAAQpYgwDrSAFLEYiKikJgYCBOnz6NGTNmQCbZ79SpExwcHLB06VLkzZvXUqrKelCAAhRIVODRoxCMGrUVvXuvxsOHwfrJ60p6gEVuKlIerq6Oia7DhRSggHUIJBpcqV69Oq5fvw6Zkb9Nmzb47LPPMHv2bHz33XeoXLmydbSMtaQABexJgG2lAAXsQEDmVhkwYIC6RHnz5s3o2rUrdu3ahZUrV0KCLDLBrR0wsIkUoIAVCshJaql2REQUbt8ORIkS2TFhQmPMm9cGFSrkko+YKEABKxdINLgiHRe5NbPMvi8Tx1WqVAky/4rMuSK3PrTyNrP6FMgkAW6WAhSgAAXSIxAREYFy5cph8eLFWLt2LYYOHaouD5KRK+kpl+tSgAIUMJeATFB7+fJjnDvnqzaRK5cnPv+8hbob0Dvv8DIghcIHCtiIQKLBlaJFi0JGr8h1zTJ53Ndff41t27bpPwSfo2DBgjbSdDYjUQEupAAFKEABCliQgFwK9PjxY8hZXznZI3cxlH6Kv78/Hjx4EC9JXguqOqtCAQrYuYCfXyi2b7+CN99cryauDQoKh4ODhsKFs6JevcLQNN4JyM6/Imy+jQkkGlzZs2cP1q9fjw0bNjyV9u3bl+kErAAFKEABClCAAvYhIEEUGakSFhaG8+fPqxM9n3/+eaLPT548sQ8UtpICFLBogaioaJw9+xDz5x/Ca6+txYEDt+Du7oQnT8Isut6sHAUsVcBa6pVocOX333/HwoULsWDBApXmzZuHCRMmYNiwYWoYrrU0jvWkAAUoQAEKUMC6BQwGA+QuQPIsc8EFBAQgsSQT3croFutuLWtPAQpYu4AEUDZvvoRx43Zi8uS/4enpgsGDa+Gbb9ogf34va28e65+0AD+hABINrvTu3Rsy14oxvffeexg4cCBq1Kihrm2mGwUoQAEKUIACFMgIgRw5cmDMmDGQ2y8XL14co0ePhlyuLCd+jEneDx8+HF5e/MMlI/YJt0EBCiQuYDBEY+vWS/j44+3YtOkSGjcuop+gboyxYxuhUKGsia+UoUu5MQpQwJwCiQZX5I5Azz//PIxJbnXYo0cPtG7dGkePHjVnfVg2BShAAQpQgAIUSFRA7hYkdwYKDw+P93loaCi+/PJLyNws8T7gGwpQwPoErLjGMoVKdDSQO7enfmK6BqZMaYaOHcupS4KsuFmsOgUokEKBRIMria1rMBjg6+uLhw8fJvYxl1GAAhSgAAUoQAGzCty9exfHjx9HwolrJaiyf/9+SJDFrBVg4RT4T4BPFDAK3LkToCatvXbNT01Q27x5cUye3BQjRtRFpUq54eSU4j+3jEXymQIUsFKBRP9rnz17NuRSIGMaMWKEHn0diFWrVqFp06ZW2lRWmwIUoAAFKEABaxS4desWRo4ciWXLluHff/9VlwbF7aPIJUHe3t5wcXGxxuaZq84slwIUMKNAZKRB/z26rf8ebcf772/B6tVn9ABvJHx83FC9ej7kyuWpgi1mrAKLpgAFLEwg0eCKzMgfEhKi/0CEqhQREYHChQtDOi9dunTJtCaUK18U7wzvxkQDfgds9DuQp1wZvDzxTyYa8Dtgo9+Bj5YkvOMgUvRPJqqVUSnSH5FRK3H7KDLJbalSpfDxxx9D5mdJUYHMRAEKUCAdAsHBEfj+++MYNGgDfv31DBwcNJQqlQPOzon+aZWOLXFVClDAmgQS/QXo16+fmjxOJo0zJgmstG3bFjlz5sy09nln9UTpsoWZaMDvgI1+B9y8vbDr5G0mGljWd4D7w2T749gV3zT1IfLkyaP6JRJAGTdunAqkGPsnH330kTr5U79+fY5cSZMuV6IABVIjcPt2AN55ZyNGjdqGc+d80b59Gcyb1wZNmxaDo2Oif1qlpnjmpQAFrFgg0V+A119/HXfu3EHu3LmRN29eSKfGx8cHhw8fRs+ePa24uaw6BShAAdsUYKsoYMsCzs7Oqj9Sq1YtdOjQAQUKFFDvjX2U7Nmzw8nJyZYJ2DYKUMACBAID+HjebwAAEABJREFUw9Gq1QqsWHFcBVI++aQZZs58EdWq5YOHh7MF1JBVoAAFMlMg0eCKTBgnlwbFrZgMyQ0MDFST2sZdztcUoAAFUijAbBSgAAVSLXDz5k288MIL8Pf3x+bNmyGXABUtWhRFihR5Kt24cSPV5XMFClCAAikV8PR0QePGRVCrVgFs2NAdr79eAzlyeKjLglJaBvNRgAK2KxAvuLJx40Z1K0MJrsitDmfNmqXey+0Np02bpkdmZ0I6NLbLwZZRgAIUoAAFKGBJAjJy9q233oK7uzsqVKiAyZMnY9KkSYmmbNmyWVLVWRcKUMDKBQyGaBw4cAsnTtxDVJQBcqvlzz9/AVu29EaVKnk5x4qV719WnwKmFogXXNm9ezeWL18OuaWhBFq+//579V6e//jjDxQvXhxy5yBTV4LlpVKA2SlAAQpQgAJ2IpAlSxa89NJL+h8xzmpy/R49eqBXr1549dVXIa87duwISXLZsuS1ExY2kwIUMKOABFUePQrBF1/s1X9/fkSfPr9D3ssmXVwcIQn8RwEKUCCBQLzgipwNklscDhs2DOvWrcOhQ4cg7+VZAi9yi2YZjpugjETfciEFKEABClCAAhQwpcC9e/cg/RGZF07uGvT333/jvffeUxPaHjt2TD+zHGXKzbEsClDADgWCgyP0v4Fu480312PixF1KoGHDImqOFfWGDxSgQKICXAjEC64YQfr376+G38o8K8Zl0omR655v3bplXMRnClCAAhSgAAUokGECJ06cgIymlTngJMCyePFiNReLn58fpk+frp9ZfpRhdeGGKEAB2xKQ0Sr37gWqyWpfe20tNm26iPLlc2H27Fb45JPmyJ7d3bYabJ+tYaspYFaBRIMrn376KX755ReEh4fHbjwkJAQyD8vMmTNjl/EFBShAAQpQgAIUyCiB4OBgNTolZ86cOH78ONzc3PDOO+9gypQpuHbtGqSvklF14XYoQAHbEoiIiML69ecxadIu+PmFonv3Sli48CV06lROP+nslIGN5aYoQAFrFUg0uHL+/HmULVs23m0NXV1d1ZwrFy5csNa2st4UoAAFKEABClixgIuLC0JDQ3Hu3DnIJcsSZMmfPz9kuYywjTvi1oqbyapTwPIFbKSGMlolNDQS8izzqBQvng0vvlgCH33UQA+yNEGlSnl4OZCN7Gs2gwIZIZBocEVm5L99+7b+Q2OIrUNkZCRkCK4EWWIX8gUFKEABClCAAhTIIIHChQtD7h4kdzOU4Er58uWRK1cunDlzBhJocXZ2zqCacDPWIMA6UuBZApGRBhw9ehfLlh3D2bMPoWka6tQpiE8/bY5+/aoid27PZ63OzyhAAQo8JZBocKV58+ZYvXq1SjJB3NGjR7Fq1SrIHYMaNWr0VCFcQAEKUIACFKAABcwtUKJECXWXoOeeew6vvPIKmjZtCjnp4+3trZZnzZrV3FUwdfksjwIUyASBoKBwrFx5CqNHb1eT1v7xxwX9pHI03N2dkSOHh/67wsuAMmG3cJMUsHqBRIMrnTp1QsWKFbFixQp8/PHHmDRpEn777TdUr14dDRs2tPpGswEUoAAFKEABCqRUwHLyyRwrdevWxRtvvIGaNWuqEbWXLl1C1apV0blzZ3h68kyz5ewt1oQClilw7pwvJkz4C+PG7cCePdf1IG1R1KiRD5pmmfVlrShAAesRSDS4UqBAAQwbNgxDhw5Fly5d0KpVK5QsWRJ3797Fr7/+aj2tY00pQAEKUMA+BNhKuxCQS5T379+vn20ejZEjR2LMmDGqv2Kc0NZgMNiFAxtJAQqkXiA8PEr/O+Y03n13I77++qAqYNy4RvqJ5IZo3LioHlzR1DI+UIACFEirQKLBFSksb968KFq0KB4/fow///wTp0+fhlzLXKFCBfmYiQIUoAAFUinA7BSgQPoELl68iEWLFiEoKAg9evTAW2+9hY4dO6o+yvz58+Hv75++DXBtClDAZgXkDkBffrkPGzdeQosWxTFvXlu8/noNlCqVg4EVm93rbBgFMlbgqeBKQEAANmzYoP/YvI7BgwerSeK2bdum3n/44Ydo27ZtxtaQW6MABTJSgNuiAAUoYLECV65cUSd9Bg0apEbWtm7dWgVZpL+ye/duSB/GYivPilGAAhkuEB39/01mzeqmB2PLYfr0FvjiixfRrFkxeHu7/j8DX1GAAhRIp4BD3PWXLl2q/+h0xPLly1G5cmXMmDEDMueK5ClXrhwKFSoEDw8PectEgUwU4KYpQAEKUMAeBcLCwtQo2vz586tnMZAJbWWkbWhoKHhZkIgwUYACIuDrG4zPP9+DH388oQdew+Hq6ojXXquON96oAbnlsoODJtmYKEABCphMIF5wZdeuXZDJ4vr06aNm3a9SpQqkA2OyrdlTQWwrBShAAQpQgAImFciZMyf8/Pzw+++/q0uDpHB5/9133yFPnjz6H088Cy0mTBSwZwEZrXL48B0MGrQBU6f+jU8/3YMrVx4rEhmpkiWLi3rNBwpQgAImFdALixdckcnh5I5AMplty5Yt8dVXX+HBgwd6Nv6fAhSgAAUoQAEKZK5AtWrV0K5dO/1s9OeQEbVyZ8OyZctizZo1GD58OCT4krk15NYpQIHMFAgKisCyZcfQo8dqrF59BoUKZcXEiY1RunSOzKwWt00BixFgRcwrEC+4Ih2VCRMm4NixY2oW/o0bN6J48eJqmO327dvVdc4yU795q8TSKUABClCAAhSgQHyBaP10tIyu7d+/P7Zu3Ypp06apueFkItu9e/eiWbNmcHJyir8S31GAAnYhoP884Pp1P7z33mYMGrQe16756QGWSli1qgtefrks3Nz422BFXwRWlQJWKxAvuGJshXReOnXqpO4SdPToUXWbw9mzZ6NmzZoYP368MRufKUABClCAAhSggNkFZC4Vmcx26tSp6N69O2bOnIkCBQqoyfZffvllZMuWzex14AYoQAHLFQgMDMPq1WexdOkxFC6cFZ9/3gJz5rRG6dI5zVRpFksBClDgaYFEgytxs5UoUQITJ07EgQMH8NlnnyF37txxP+ZrClCAAhSgAAUoYFYBuURZ+iArVqxAeHg4Dh8+DBlp+88//5h1uyycAlYtYOOVj4qKxv37QZBnLy9XtGxZEh9+WB/fftsOgwfX4p2AbHz/s3kUsESBZIMrxkrLXYJkNMvbb79tXMRnClCAAhSgAAUoYHYBX19fnDt3DrNmzcLatWshQZZ8+fKpZTKqxewV4AbMJsCCKZAWAX//MOzefQ0ffLAVp07dV0WULZsTH3/cEPXrFwbvBKRI+EABCmSwQIqDKxlcL26OAhSgAAUoQAEKKAEZrSIv5PJkeZZbL0vy9/eH3J5ZlpkxsWgKUMBCBAyGaFy48AgLFx7GK6/8qgdbz2HTpksWUjtWgwIUsHcBBlfs/RvA9lOAAhSggA0I2HYTZDJbCaScPHkShw4dwr///ov79+/j+vXr6r0sk8RAi21/D9g6+xYICAjHtm2XMWbMNowatRVZs7piwIBq6NSpnH3DsPUUoIDFCDC4YjG7ghWhAAUoYOMCbB4F0ijg4uKiRqh888036tIguTzozJkzOHr0KObNmxe7TAIwadwEV6MABSxYQOZWWbLkCN59dxM2bLiI5s2LY9KkJioVL84JrcF/FKCARQgwuGIRu4GVoAAFLEWA9aAABSxPQOZXGTlyJF588UU0a9ZMpQEDBqBfv3544YUX1PvmzZvD3d3d8irPGlGAAukWCA2NxJo15/QgaxQGD66Jzz5rga5dK8LV1SndZbMAClCAAqYSYHDFVJIshwIZJ8AtUYACFLArgezZs6Nv377PTH369EGWLFlS7HL+/HnMnTsXH3zwAaZNm6Ymx5XLj55VwJ07dyCjZ6ZPn44bN248Kys/owAF0inw8GEwJEkx+fN7YeDAmvj002YYNao+Klbk3UvFhYkCFLAsAQZXLGt/2FBt2BQKUIACFKCAZQpcu3ZNBVYOHDgAb29vnDp1CqNHj4bclSipGoeEhOCPP/7AkiVL1LPM+ZJUXi6nAAXSLhARYcC+fTcxduwOLFjwL+7cCYCTkwPatSuDDh3KIVs2jlBLuy7XpAAFzClg38EVc8qybApQgAIUoAAFLFJg165dajLcLl26YMiQIfqZ8FE4e/Ys1q9fn2h9ZUTLP//8A5lQt2LFivDx8Uk0HxdSgALpE/D3D8fKlacxYsRmrFhxAkeO3IGfX6gq1MXFkbdYVhJ8oAAF0ixg5hUdzFw+i6cABShAAQpQgAIWI2AwGHD69GnkzZsXlSpVUoGScuXK4bnnnsPWrVsTrefFixexZcsWlC9fXuVzckp6ngcJxISHhyMoKCg2yXtZLkm2b6oUt7KmKpPlGJCUgan3X1LbscflUVEGXLjgi7Fj/8Inn+zHuXO+6NSprB5kqYvChbMmuU/s0coUbZbvsiQpy/gsr5mS/u8/PTapNU7Ptux5XXGWZEoDKU9S3OPts14zuPIsHX5GAQpQgAIUoIBNCcjlPX5+fiqo4unpGdu2IkWKQC4Xil3w34snT57gzz//RGRkJNq1awcPD4//Pkn8KTAwEFOnTkXNmjVVqlOnjrqjkWxXLjt69OgRTJWi9DpJLeTZVGWynKf3j3G/yXfB+JpOTzul1eTBg4f47bdj6N79V3z//Um4ujpi5MjqGD68KooWdUVIiL/J/ptJax1tbT35Hj9+/BjyWyiv09A+7pMU/paLrziLt7ymtel+O+Jaiq38RssyeS3PpkhSVmruRMjgivRKmChAAQpQgAIUsAoBmevku+++Q8+ePbFy5UqEhoZCLvPZvXs3wsLCkm2D8YyWg4MDNE2LzS+jUSSAErtAfxEVFYV9+/bh4MGD+h9+3ZE7d/KTaErAZvDgwVi7dq1Kq1evRq9eveDm5qYCOnJJkamSo6Mj5J+jk5PJyzZVHW2hnGzZsilfLy8v9WwLbbKkNmTN6oOoKCecOeOLOnXyYuHClnjrrfooW7YgcubMng5zH67rk7RB1qxZ1ZxTPs/Iw8984JNOH/n9kLm9xDu9ZXF9nyT3hzgbf6PltU8691vc9VMzWb6DHJSZKEABClCAAhSggKUL3L59G1OmTMGCBQtw7tw5XL16Vf+jLApyRnDevHnqLGxybZCRJ5ICAgLiBWMePnz4VPBEAjdyV6Eff/wR9evXV3cjkltAS8BE3v/222+IiIiIt0kJ2kgQplSpUpBUsmRJ5MiRA7JcAjimTHp0KHbbpiyXZTkhMQMJZjk7Oyf6WWL5U7RMD4zZa77AwEhl6ebmgjZtymD16lfw00+dUL16Xnh6uqrP7NUmI9ot32dJGbEte9+G0Zm/H4n/tprq+yHOkkxVnrEcKTP2YJvMC4dkPufHFKAABShAAQpQwCIEZK4UCaTI7ZDbtGmjAhZSsQoVKkACLSkZuSKdpOLFi+PevXuQWyvLSBZZT0a/yCU8Up7MkSKjWNzd3dUImV3UVMsAABAASURBVOPHj+PQoUNqBMvEiRPRvHlzLFu2DM2aNVN/AMo6SSVN+//omKTyWPpy1o8CphKQuQuCg8MxY8ZelC49GydO3FdFZ8nighdfLKkHMF3ixgzVZ3wwn4Cm8ffJfLos2R4FGFyxx73ONlOAAhSgAAWsUEDmM9E0DYULF45XexcXFzUKRf5wi/dBEm+aNm0KCaAsWrRIzacyatQotX7v3r3VSBQZnTJr1iwVvMmePbuayFYms5VUoEABNZReAjQy1FvT+MdJEsxcTIF4AqGhkTh69B66d1+FMWN2IDLSgM2bL8XLwzcUoAAFrFmAwRVr3nusOwUoQAEKWJEAq5peAbmeWtM0yN175HIcmRNFAi4y6iRPnjxwcXFJ0SZkpMsHH3ygAiqTJk1SE9nKpUb58+fXz5prcHV1hQzfTqwwuQ5bgjsyqiWxz7mMAhSILxAVFY3794Pw/ffH0a3br9i27SrKlMmJhQtfwvDhdeNn5jsKUIACVizgYMV1Z9UpQAEKUMDUAiyPAhYsIHOYFCpUSF2Sc+rUKchlQjK57ZIlS9C6dWs1oiSl1a9du7b+x91CNWHtqlWrUK9ePTVSRa6x/vbbb/H2228nWlTbtm0xffp0NZol0QxcSAEKxBO4ezcQ06btwYcfbkNQUDi6dq2An3/ujA4dyunBzHhZ+YYCFKCAVQswuGLVu4+Vp4B9CrDVFKCAfQrIiJF+/fohb968aiLbGzduYO/evZD5V7p37w65U499yrDVFLBcgcePQ3D7dgDKlMmBMWMaYsaMF1C6tEzyzEvqLHevsWYUoEBaBBhcSYsa16FA8gLMQQEKUIACZhCQuU5Gjx6N77//HjJiRZ7feecdyNwoZtgci6QABVIpEBYWhTNnHuDkyfuQeZDKl8+Ft99+DnPmtEK/ftXg4+OWyhKZnQIUoIB1CDC4Yh37yUy1ZLEUoAAFKEAB6xG4efMmfvnlF8hlPFu2bMGBAwcgz/JelgcFBVlPY1hTCtiYQHQ04OcXitWrT2P06O2YNWs/rl9/AgcHDXXrFkK1avng6upoY61mcyhAAQr8X8Dygyv/rytfUYACFKAABShgxwK3bt3Cb7/9FptWr14NmR9FJqVdsWIFGFyx4y8Hm56pAjJC5fz5h/jssz0YP34n/vrrGtzdnSCT2WZqxbhxClDA+gSsuMYMrljxzmPVKUABClCAAvYkUKJECQwePDhekolnn3/+eRQsWBAyGa09ebCtFLAEgagoA1avPoORI7dg7tyDcHBwwAcfPI+hQ59D0aI+llBF1oECJhdggRRITIDBlcRUuIwCFKAABShAAYsTyJkzJ+rXrx+bGjRooCazff311yGT24aGhlpcnVkhCti6wJIlRzFmzA5s2XIZjRsXwxdfvIA33qjBSWszf8ezBhSgQAYLMLiSweDcHAUoQAEKUIACphUICwvDnTt3EBkZadqCWRoFKJCsQPHi2RAYGI6xYxti2rTmeOGFEvBJ8aS1yRbPDBSgAAWsRoDBFavZVawoBShAAQpQwL4FTpw4gQ8//DBeksuEhg0bhjJlyvBWzPb99TBf61lyPIFHj0KwZcslBASEqeX16hXCmjXdMHhwLf2/wxxwdOSfFwqGDxSggN0J8NfP7nY5G0wBClCAAhSwTgG57EdGqBjT3bt3VUN69uyJCRMmIFu2bOq9PT6wzRTICIEDB27h9dfXol+/Nfjzz4uIiIiCq6uTuhMQR6tkxB7gNihAAUsWYHDFkvcO60YBClCAAhSwHYF0tUTuRiKT1g4ZMgTTp0/HnDlzMHv2bHz22Wd48803UaxYMTWRZro2wpUpQIFEBYKDI7Bgwb8qqLJu3Xl12U+ePJ76f3Oayq/FPKnXfKAABShgrwIMrtjrnme7KUABClAgEQEuslQBTdOwf/9+zJ07F46OjvDy8lIpS5Ys+plzV2ga/7qz1H3Helm3wOXLjzFs2EYMH74J58/7omfPyli/vjsaNiyi/7fIPyWse++y9hSggCkF+ItoSk2WRQEKUCAjBLgNCtipQNasWSHBFLkcKCoqCjKaJW6yUxY2mwJmE/j33zt47bW1WLToKPLm9cK8eW3w1VctUbRoNgY0zabOgilAAWsVcLDWirPeFKCAZQuwdhSgAAVMJSCBlMDAQHXpj6urKz7//HNs2rQJx48fx+nTp2NTeHi4qTbJcihgtwIGQzQiIw2q/blze6By5Txo1640VqzogP79q8HLy1V9xgcKUIACFIgvwOBKfA++sy8BtpYCFKAABaxA4Pbt21iwYAGOHj2KdevWYc+ePZA7BL3yyivo2LEjOnTooNL9+/etoDWsIgUsVyAgIByHD9/B3r03EBUVjUKFsmLChMb47rt2qF27YOwcK5bbAtaMAhSgQOYJMLiSefYp3DKzUYACFKAABexbwNfXF2vWrEH16tXxyy+/xKaff/4ZkozLcufObd9QbD0F0igQHQ1cufJYD6IcRqdOP2Py5F2QWy5LcVmzuiFbNnfwHwUoQAEKPFvANMGVZ2+Dn1KAAhSgAAUoQIE0C8i8KrKyzLlSpUoVJJVcXFwkGxMFKJAKgaCgCOzceRUffbQN77+/Ba6ujqhRI5+6zXIqimFWClDAngTY1kQFGFxJlIULKUABClCAAhSwJAG55GflypVYvnx5kknmZbGkOrMuFLB0AbkT0KJFhzFo0Hr89ttZNG1aDOPGNcLHHzdC/vxell591o8CzxTghxTIaAEGVzJanNujAAUoQAEKUCDVAg8fPsT69evx+++/J5mCg4NTXS5XoIA9C/z550VMmLALwcEReoClFj77rIW61bKHh7M9s2Rk27ktClDAhgQYXLGhncmmUIACFKAABWxVoEiRIhg1ahTGjx+fZPLx8bHV5rNdFDCZgExUa7zUrnTpHGjZsgQmT26qB1kaqzsDPb0hLqEABShAgZQIOKQkE/NQgAIUoAAFKECBzBTw9PRE+fLlUalSpSQT51zJzD2Uydvm5pMViIiIUncBmj//EC5deqzyN25cBGPHNlKjVby9XdUyPlCAAhSgQNoEGFxJmxvXogAFKEABClCAAqkSYGYKZJaAr28Ili07jg8/3IpPPtmN3buvIzQ0Es7OjpDRK46OWmZVjdulAAUoYDMCDK7YzK5kQyhAAQpQgALpFrDIAkqWLIkZM2ZARq9YZAVZKQpYqIDBEI3Tp+9j3LgdmDDhL5w69QCtWpVEzZr59cAK/wyw0N3GalGAAlYqwF9VK91xrDYFKEAB+xVgy+1NwMvLS/9jsCacnJzsrelsLwXSLBASEoE1a87hjTfWY9myY8iSxUXNrTJuXGOULZsTjo78MyDNuFyRAhSgQCIC/FVNBIWLKEABCqRbgAVQgAIUoAAFMlHgyhU/jB+/A0eP3kWzZsWwcGFb9OlTBfnze+mBSv4JkIm7hpumAAVsVIC/rDa6Y9ksCqREgHkoQAEKUIACFLBNgYIFvTFsWF2MGtUACxa8hDp1CsHDwxkap1exzR3OVlGAApkuwOBKpu8CViAZAX5MAQpQgAIUoAAFKJCMgMyv8uWX+7Bo0RGVU+7+069fVYwe3QC5cnmCk9YqFj5QgAIUMJsAgysmoWUhFKAABShAAQpQgAIUyHgBucXyuXO+aN16BYYP34SJE3fh9u2AjK8It0gBClDAbgQSbyiDK4m7cCkFKEABClCAAhSgAAUsVkBGqjx6FILly4+jRYvl+OuvayhVKgdmzGiBfPmyWGy9WTEKUCCDBLiZDBdgcCXDyblBClCAAhSgAAUoQAEKpF0gOjoaZ88+xPvvb8G7725CeHgUOncuh61bX0WnTuWhaZxYJe26XDMjBbgtCtiSAIMrtrQ32RYKUIACFKAABShAAZsXiIqKxvffH8f69RdQokQ2jB/fCAsWtEOhQt423/ZMaCA3SQEKUCBFAgyupIiJmShAAQpQgAIUoAAFKJB5AqGhkZDLgMLCItWtlNu1K4OBA2tg3rw2eO216nB3d8q8ynHLFKAABSgABlf4JaAABShAAQpQgAIUML8At5Amgeho4OHDYKxZcxZz5hzA0aN3Ea0vfO65AhgzpiGee66gCrakqXCuRAEKUIACJhNgcMVklCyIAhSgAAUoQAFrF2D9KWBJApGRBpw58wCzZu3D2LE7sXjxUZw/7wu5LMjBQVNBFU6vYkl7jHWhAAXsWYDBFXve+2w7BShAAQpYowDrTAEK2IFASEgE1q07h48+2oa5cw/B2dkBb7xRA7VrF4QEVuyAgE2kAAUoYFUCDK5Y1e5iZSlAAQpYiwDrSQEKUIACaRXw8wvFp5/uUaNVduy4ioYNi+CTT5qrOVZKl87B4EpaYbkeBShAATMKMLhiRlwWTQEKWLgAq0cBClCAAhSwQAGZU2XTpkt4/DgEI0fWw5QpTdGqVUlky+ZugbVllShAAQpQQAQYXBEFJgpYsACrRgEKUIACFKCA7Qs8eRIKuSOQtNTLyxVjxzbE/PkvYfDgWihfPpeaX0U+Y6IABShAAcsUyLDgSkREBO7du4cnT55YpgRrlR4BrksBClCAAhSgAAUokEaBgwdvo0+f3/HZZ3tgMESrQErz5sXxwgvFkSMHR6ukkZWrUYACFMhQAbMHVwIDAzF+/HhUqVIFzz33HGrUqIEuXbpg165d+sHDkIGN5aYoQAEKUIACFKAABShgOQIhIZGYN+8Q+vb9HX/8cRHr15+HLJMaurg4wtnZUV4yUYACFKBAqgUyfgWzBlfketEPPvgAq1atwogRI/DTTz/hyy+/hJeXFyZPnqwCLBnfZG6RAhSgAAUoQAEKUIACmStw8eIjDBy4HqNGbcO5cw/Ru3dl/PZbV3h4OGduxbh1ClAg4wS4JZsSMHtwZc2aNfj6668xYMAA1K1bF23btlUjWYoWLYqTJ0/aFCYbkzqBQL9H2LfuJywZPQizBnbC10O74dfpH+PikX2ICAtLtDBDVCQu/LsHM/q1wfwRfXD6n+2J5uNCClAgYwQaV8qPT/s+h21T2uDhD68iZPUAdG1QItGN58/ugfc6VsGhLzviwYpXcX5+V8x8rS7y6cu1RNf4/8JX6hfHmXmvwP/nvmhds9D/P+ArClCAAlYmEBlpwNq1Z9G5889YvvyYftLRBUuWtMecOa1RoIA3tOR+EK2svayu9QuwBRSgQMoEzBpckSpkzZoV2bNnl5exyd3dHTly5ICLiwv4zz4F/H3vY/OiL1VwxSOrD6o1bYNSNevB78EdrP16Kk7u3qIHWELj40RHw+/+XexZ/T0cnXlWJz4O31EgcwQ61SuKbg1LIrePO24+DEqyEiXzeeOTPs9hRIfKuOUbiPkbz+DAhfvorAdNVn/UAnmzeSS6rvyRUblYDnR+vjhyebshMio60XxcSAEKUMBaBMLCInHkyD3cuhWAl18ui3XruqNHj0pwd3eyliZYYj1ZJwpQgAKZLmDW4IqmaWqkyhdffIHz58+IPC53AAAQAElEQVTj5s2buHr1KtavX48HDx6gYMGCuH37tkrh4eGZjsEKZIyAwRCFh7eu4+qpoyhfryk6vjsBDV/pjxf6vo0X+7+DHPkK4fzB3Qj294tXobCQYPy7+TdAP6NToX4L8B8FKJD5Al9vOI3GH65DtbdXYeGmMzDoQdCEtXJ2ckCTyvnRvGoBzP/zNPrO3Ikxyw+i1/QdmPDDvyiWxxvvvlwp4WrqffYsruhQpyicHDXsOHEboRFRajkfKEABCliLgPwsBgaG486dAEhgxdPTBb16VcLPP3fB/PltUbVqXjg46J0ba2kQ60kBClCAAokKmDW4IluUoMqOHTvQqVMnvPHGG+jdu7eab+X06dNYvHgx3nnnHZUuXrwo2ZnsQCDaEI2w4EA4u7jAK3suODr9fxSKt/7e1cMT0dEGxP0XrfdMLh8/iMvHDqHGCx0g+eJ+ztcUoEDmCJy96Yer9wOeOaJEAiRlCvrg7uMQ7Dt3H4/1PzKMtV2x8yIeBYbhlYbF4Zpg4kYXJ0cVlGlQIS9+33cVRy/7GlfjMwUoYC4BlmtSgaioaFy9+hgLF/6L119fh927r6vyS5TIjiZNiiJ3bk/1ng8UoAAFKGD9AmYPrjRo0ABvvfUW+vXrh+bNm6NDhw4YMmQIOnfurOZgkXlYJHl7e1u/JluQIgEHR0dky1MAblm8cfPcST2dgO/t63hw4wou/LsX4aEhKFqxOlw9s8SW9/jeLez9fQVKVq+DUjXqxi7nCwpQwPIFnBwd4ObsiLCIKJXi1jg8MgohYZHIndUDcumQ8TM5i1uukI+6HOj4FV/8+e8NROmBWePnfLZvAbaeAtYgEBISoQdTrmH06O0qXb7sh4sXH+snkKyh9qwjBShAAQqkVsCswRVN0zB8+PAUJblEKLWVZ37rFNA0DdnzFkDNlh0Q+NgXG7/7Etu+n4fNS77CoU2/IVehYihbuzHcPGKCKzLK5e9flsLV3QPPte4MBwfeltA69zxrba8CQaERuOcXgpzebiia2yveCJWKRbIhu5cr9J8F9ZnRSEa7dKxXFFncnfHT35fw4EmCOZiMGS33mTWjAAXsWODaNT8sXnwUAwduwNq159CwYRGMGdNAXQ4kv3d2TMOmU4ACFLBZAbMEVzZs2IDAwEA9Mh+Nn3/+Ocl07ty5Z8JGRUVB5mIxpsiICL3M+JeLPLMAfmixApqjI7L45ECO/IXVKJYs2XLCO0ce+OTKh2hDFAIeP0BUZASiow04tXsbrp0+grrtuqvLiCy2UawYBaxOIGMq7K+fvT108QGCQiPR6fliKtUvn1fd9WdEhyp6YEXT/1sH3F1jAqdyeVDjSvnQtHIBrN57Bf9efJgxFeVWKEABCphA4MGDIEyZ8jdGjtyMoKBwvPZadXz6aXN0714JMt+KCTbBIihAAQpQwAIFzBJc2bRpk34wiblrxOrVq5FUetY8KwaDAVu2bMGkSZNi07LF3+H+jWsWyMgqpUbAoAfN7l4+h0MbV8PF3R2Nuw1Ai1eHoHnvwajWop26POjQn6sQ9OQxbl/S821ajcqNWqJYlVqp2Qzz2ooA22H1AgZDNA6ef4C5f5yGm4sjhrWriPE9auDd9pURpf/Wn7vppybCDdSDL5qmoVgeL/RpVgbHrz7C2v3X9DzRVm/ABlCAAvYjEBlpwPHj91CnTkGMH98Y48Y1gkxaq/+82Q8CW0oBClDADgXMElzp27cv5BbM0dHRePnll/Hmm2+qSWuNk9can6tVq/ZMcmdnZ8htm43J1cUVmoNZqvzMevBD0wpERoTh0tEDCPTzRema9ZGzYFE4u7rB3csbJavVRt5ipXHj3EkVXLn47174+z5AwKMH2PnTt9j+w3zs+mWxvv4+hAT44/Se7ep2zg9vXjVtJVNZGrNTgALPFnjoH4qf/76Esd8fUkGW1f9cweIt5zD156MICouEBGAu3H4CJwcNlYpmR+0yuSFBlpEdq+DTvrVVeqF6Qbi7OqnAiywrnCsLNO3Z2+WnFKAABcwtIMGU/ftv4saNJ+q3LF8+L0yZ0hSffNIMfftWRbZs7uauAsunAAUoQAELEDBLpKJ69epwc3ODBFfWrVuH8uXLx5u8ViawlZQ/f/4kCRz0IErjxo3x3nvvxaauPXsjV4FCSa7DD54pYDEfysiVAN/7au4UZ/17Erdijk7OcHRyQWR4GAxRkXDL4oUCpcsjQA+w3L10DipdOa8CLlGR4Xh8/7Ya6RIaHAj+owAFLFvgSXA49py5hyVbz2PuhtP44a+LCAmPVBPZnrvlh+sPYv47lmXHrvjC2ckBNUrmjE35s3vAUQ++yMS3stzTzcmyG8zaUYACNi/w8GEwFi8+glGjtmHGjH/g6xus2tysWXHUrl1Q7+to6j0fKEABClDA9gXMElwxsmmahrNnz+LOnTvGRck8x//Y0dERMnrFmJycnfSzlGatcvwK8J1ZBBwcHeGdMw+C/P1w8+wJNbeKcUMyAuXhravw8PaBi5sHytVpjGY9B6FZ78GxqXG311Gqej24Z8mKivVboN7LPZCrYDFjEXymAAUsUMBJD4o4O8b//fZyd8bAVuWRx8ddBVsiIg2INBjwz5n7GPndvqfSxn9vqDsLLdpyVn127X6gHsS3wMayShSggM0LyGg7ufRnwoS/IPOrHD16F+7uTnBM8Dtn8xBsIAUoQIF0CdjWyvF7uiZum6Zp6Nu3L+bMmYMjR47g8ePHai6WoKAg9RwREWHiLbI4axBwdnFDiWq14eaZBcd2/IHNS2ar+Vf2/vY9ti6fi3tXL6J8vWbwyp4T3jlyI3eREshTtGRsyl24OLJkywFHZ2dkzZUHOQoUgauHpzU0nXWkgM0J1CyVC0PalMfIDpXRpHIBaPr/2tQqpN4PbVsBtUrnUm0ultcb73eqgimv1tIDKuXwTruK+GZIA/RqUhLf77iAtftjLu2LjgZ8A0IhI1cSpruPQ9T8K1fuBajPg8MiVdl8oEBaBA4fPowRI0agVatW6N+/Pw4dOgSDHtxLWNa9e/ewYMECvPrqq2jbtq3KK6NyZeL+hHn53j4EAgPDsWrVGQwbthHLlh2Dl5crpk5thsGDayFrVjf7QGArKWBPAmwrBVIo4JDCfKnOtnjxYgQHB+OLL77AypUr0blzZzRo0AB16tSJTT/88EOqy+UK1i8g8+bkLVYaL/Z7BwVKVcCNs8exf/1KHN35ByIjwvF8h16o1qytHjDJYv2NZQsoYOMCcnnOoNYVMEIPrjStnB96TB2taxVR7we3Lo9aevBFCELDo9Tw+KZ6AEYmsn2zVXnk8HbD5J+O4PPVx/EoMEyyMVEgQwRkVO306dPViZ4+ffrA09NT/8N4MCSQkrACskzy16tXD2+88QaKFi2KGTNmYOfOnYjgSaKEXDb/3s8vFIsWHcHw4Ztw8OBtvPhiCcyd2wa9e1dBwYJZ4eio2bwBG2iZAqwVBSiQ+QJmC65MmDBBBVek8yKBlmnTpmH8+PEYN25cbJJ5VzKfgDXIDAEnZxcUKlsZLfq9hZ5jvsCrk77Gq+Nno+O7E1C1aRs1MkXTEu+gOLu5o1rzl9Br7EyUqvF8ZlSf26QABf4TWLHjIlqM2YCa7/6GSkN/RcnXf0IV/VneN9OXL9t+QeW8/SgIX645gZcnb0KTUevQbPR69Jy+XY1aufc4GDJiRWV8xsPXG06hxrDV2H789jNy8SMKJC+wY8cOREZGQgIrHTt2VHclDA8Px48//vjUyuXKlcPYsWNVXhnl8u6776Jw4cLYt28f/P39n8rPBbYt4OnpjNy5PZEjhztGj26AL79siXr1CuoBOmcVXLbt1qe7dSyAAhSggE0LOJirddLhkAltO3TogKRSqVKlzLV5lmsFAg6OjnDzyAJPn+zwypZTBVQ8vLLCSe4KlURgRZqlaRpc9ACLZ9bscNbzyjImClAgcwQCQyNwRw+O3PINQsJ051EwAkNiLv+MMkQjQH993y8Et/Xl8pmvfyhCI6IQncKqy/qynoyCSeEqzEaBpwSioqJw8eJF5M2bF0WKFIGLiwt8fHzU6Nrdu3c/ld/Z2Vl9LnculNeSX/o38uzg4PBUfi6wdoGn6x8eHom//roGg/475uTkgJdeKo3Nm3tjxIi6yJ/fC46O/B48rcYlFKAABexPwKxHAzkrJJ2YpJIhkWub7W8XsMUUoAAFKEABCmSUgFyyLPOleHt7qzsbGrcrwZbkJuCXoMrq1atx7do1yGVCWbNmNa4e+yx5pPyHDx/CmGSuOVku/Z6k+kSpWq4HiCR/7Eb1F/KeKQqmNIiMjML16356MOVHdOu2CmvWXNQDLAb9e+OIHDncILE1U26PZUUpX/lvhRam/S4n9JTforgp4ed8b1p/saapaU0T85TfDlNbS3mS9MNsiv5v1uBK7dq1IaNTkkqLFi1KUSWZiQIUoAAFKEAB6xKw1NpqmgZN0yCdsLh1lM6To6Nj3EXxXkdERGDTpk1YtmyZ/od2NzV/nIP8dR0vFxAQEICJEyeiYsWKKlWtWlVN7C9BHV9fX5gyRUVGqq1H6s+mLNfey3r40BdXr97BggV7UbXqN9i58xpy5nRHZGSoSfefvTsn1v5Hjx7Bz8+Pzib+rUho/VAP/sqNRiTJ64Sf871pf6vlOy3WdDWta0JPcZbfkITL0/tershRB9sUPJg1uDJp0iTMmjUrydSkSZMUVJFZKEABClCAAmYRYKF2KODh4QEZcSKdMAl4GAlu3LiBggULGt/Gew4LC4PM0yJ3DWrevDl69OiBLFmyxMtjfOPl5aXmcJFLjyTJZLjDhg2DbDdnzpz6H+mmS45OTmqzTvqzqcu21/K8vbPpf9gDkycfwrBhOyEBt44dy+L337uic+eKJt1/9mr8rHbnyJFDXYb3rDz8LP2/Ibly5UL27NmRLVs2fqdN/Luc2PdTnMU7sc+4LP3fZ6Ohj48P5DfE+N5Uz9JnUAfbFDyYNbjSunVrtG/fPslUsmTJFFSRWShAAQrYswDbTgEKmFJARpuULVtW3RlIAh9yCc+1a9fUBLVy0kdGtEhQ5PbtmImTQ0NDVWBl/vz5qFq1Knr27Am5u5CMFpG8CeumaRpcXV1V8EUCMJLkvaZpasSMbN9UKe62TVWmvZdz5Yof3nhjPX7++TRKl86hB8qaYNmyDihRIrvJ95+9WyfWfk0z/X8niW3H3pdpGp0z8jugaRoycnv2ui1NM/33WtNiykQK/zmkMF+qs2malup1uAIFKGClAqw2BShAASsSaNSoEeTM7U8//QS5RFlG2hYoUADt9RNCEjQZM2YMli9frlp04cIFyJ0Pb926BRmVsmXLFsh6cregkJAQlYcP1i0QFWWAwRAztXbWrG4oVCir/l0oo4IqAwfWhLNz0peLWXfLWXsKUIACFDClgNmCK126dIGbm5sp68qyKJAuAa5MAQpQgAIUEIHixYtj6NChkBG0J06cj0iikAAAEABJREFUQJ48efDZZ58hd+7c6uxi1apVIXkkr5wBLF26NCQdOXIEElyRJOvJqBbJw2SdAtF6POXBgyBs2nQJR47cQXh4lLr7z4QJjfHNN21RrVo+62wYa00BClCAApkiYLbgyjfffAOZiT9TWmW9G2XNKUABClCAAhTIAIEKFSrgww8/xMKFCzFlyhRUqlRJXfYhc2zIcjlJJNWQfHPnzoVMZBs3DRo0SM1ZIHmYrE8gIiIKp07dx+zZBzB8+Cb9e3AY9+4FqYbI5UBeXq7690G95QMFKEABClAgRQJpCK6kqFxmogAFKEABClCAAhSggMUJ+PuHYf36Cxg7dgfmzj0IV1cnlC2bEy4u7BZb3M5ihShAAQsQYBVSKsCjSEqlmI8CFKAABShAAQpQwGoFZF6Vq1f98OWX+zBu3E7s3HkVjRoVxcSJTdCnT1XkyZPFatvGilPA7gUIQAELEGBwxQJ2AqtAAQpQgAIUoAAFKGBegdDQSKxffx5z5hxAYGAY3n67th5YaYzWrUsiWzbOE2hefZYuAkwUoIBtCzC4Ytv7l62jAAUoQAEKUIACFNAFXFwcUalSHrRqVQozZryIIUOeQ4UKuXk3IN0mzv/5kgIUoAAF0ijA4Eoa4bgaBShAAQpQgAIUoEBmCKR8m3IXoGHDNiIsLBJOTg6oU6cgpkxpitatSyFXLo+UF8ScFKAABShAgWQEGFxJBogfU4ACFKAABShAgVQLcIVMFQgLi1KT1XbvvgrffnsES5YcU/VxdXVEwYLekGe1gA8UoAAFKEABEwkwuGIiSBZDAQpQgAIUsDYB1pcCtihw6dJj9O+/Bh9/vAPnz/uiS5dy6NSpHPiPAhSgAAUoYE4BBlfMqcuyKUABClAgvQJcnwIUoECKBKKiDFi16jTat/8RK1eeVJcB/fBDJyxY8BJy5uQlQClCZCYKUIACFEizAIMraabjihSgAAWMAnymAAUoQIHMFli37jzGjt2Jc+ceoXXr0ti9ux+6dq3ACWsze8dw+xSgAAXsRIDBFTvZ0WwmBUACClCAAhSggA0JREcD4eFRkPlVpFnNmhVDu3Zl8NlnzbF0aXuUKpUDmqbJR0wUoAAFKEABswswuGJ2Ym4gNQLMSwEKUIACFKAABZITiIw04No1P/z88yls2HBeBVi8vFzVnYDeeacOsmVzS64Ifk4BClCAAhQwqQCDK6nn5BoUoAAFKEABClCAApkkEBQUjt27r2PUqG0YNGgDVq06g9u3/VVtHBw0cLCKouADBShAAQqYRiDFpTC4kmIqZqQABShAAQpQgAIUyCwBuQzo+vUnWLbsOIYO/RMbNlxA3boF0bZtaeTK5ZlZ1eJ2KUABCliAAKtgCQIMrljCXmAdKEABClCAAhSgAAWeKXDw4C1MmfI3Ro3aisDAMPTrVxXTpjVHt24VkCWLyzPX5YcUoIAFCLAKFLBxAQZXbHwHs3kUoAAFKEABClDAFgR27bqGJUuOolq1fBgzpiHGjm2oXmuaZgvNYxssRIDVoAAFKJBWAQZX0irH9ShAAQpQgAIUoAAFzCYQFWXAgwdBMBii1TZaty6FYcPqYMqUpujXrxpy5PBQy+3wgU2mAAUoQAELFGBwxQJ3CqtEAQpQgAIUoAAFrFsgfbV/9CgEixYdxdixO3DrVsxkteXK5cJHH9VHvXqF4OjI0SrpE+baFKAABShgagEGV0wtyvIoQAEKUIACFLAOAdbS4gSio6Nx9OhdjB+/E1Om7MIvv5zG+fOPIMvl6p+sWd0srs6sEAUoQAEKUEAEGFwRBSYKUIACFKCAhQqwWhSwF4HAwHD89NMpjBy5Rc2t4unpogdYmqJChVw6AUeq6Aj8PwUoQAEKWLAAgysWvHNYNQpQgAJWIsBqUoACFEiXwJUrfpg8eRdGj96GfftuoE2b0pg3rw169aqMPHmyQEatpGsDXJkCFKAABShgZgEGV8wMzOIpQAFLEWA9KEABClDAUgVkXpXdu68jKioa48Y1xrRpzdXcKjJ6hYEVS91rrBcFKEABCsQVYHAlrgZfUyCzBbh9ClCAAhSggJ0IyF2AwsOjVGtr1MinB1UaYfnyDhg6tBYKFcoKJyd2UxUOHyhAAQpQwCoEeNSyit1kWZVkbShAAQpQgAIUoEBaBWRy2gsXfNGr12o9oLJTTVbr7u6M5s1LoEGDIpDXHK2SVl2uRwEKUIACmSVgq8GVzPLkdilAAQpQgAIUoAAFkhAIDY3EypWn0LDhYnUnoP37b+LixccqtwRUJKk3fKAABShAAQqkXMAicjK4YhG7gZWgAAUoQAEKUIACtisQERGFq1f9MGjQBvTosQoREdHo2rUC5s9/CaVKZbfdhrNlFKAABWIF+MLWBRhcsfU9zPZRgAIUoAAFKECBTBbYvv0KWrdegRUrjqNcuVyYOLExvv22HQMrmbxfuHkKPCXABRSgQJoFGFxJMx1XpAAFKEABClCAAhRITkDmWFm//gKePAlTt1iWSWsHD64FNzen5Fbl5xRIVIALKUABCliiAIMrlrhXWCcKUIACFKAABShgxQIPHgTh4sVHCAmJgKZpeP/9ehg1qj6WLWuP6tXzWXHLUlx1ZqQABShAATsTYHDFznY4m0sBClCAAhSgAAViBEz/KHOrnDhxH3PmHMDYsTsgr6OiolGoUFYMHfocvLxcTb9RlkgBClCAAhSwAAEGVyxgJ7AKFKAABShAAQokIcDFViPg5xeKDRsuqKDK7NkHcObMQwQHR0AuC7KaRrCiFKAABShAgTQKMLiSRjiuRgEKUIACFDAK8JkC9iwgI1PkEqCvvz6AceN2Yteua2jcuKj+upG6BMjJid1Ne/5+sO0UoAAF7EWARzt72dNsJwUoYO8CbD8FKEABkwtERwMXL/rqgZSd+OqrA2qkytChtTBxYhO0aVMK3t68DMjk6CyQAhSgAAUsUoDBFYvcLawUBexVgO2mAAUoQAFrEtA0wGCIRmBgOKpWzYtPPmmm5lapUCE3nJ0drakprCsFKEABClAgXQIMrqSLjyvbpQAbTQEKUIACFLBzAZlP5coVP6VQtGg2TJnSFNOnt0DbtqWRK5cnJOiiPuQDBShAAQpQwE4EGFyx0R3NZlGAAhSgAAUoQAFTC0RGGvDNN4fQtesvGD9+B8LCIuHu7gQZqVKxYm64uTmZepMsjwIUoAAFKGAVApkZXLEKIFaSAhSgAAUoQAEKUAC4etUPvXqtxkcfbcO5c77w9HSBBFvERkaqaJomL5koQAEKUIACiQnY/DIGV2x+F7OBFKAABShAAQpQIO0C0dHR+PXX02jZ8nusXn1GFbRo0cuYPv0FeHi4qPd8oAAFKGAbAmwFBdIuwOBK2u24JgUoQAEKUIACFLBpgZCQCIwcuQUDBqxVo1UaNSqKkycHoWfPSnpgxZlzq9j03mfjLFaAFaMABSxSgMEVi9wtrBQFKEABClCAAhTIHIHoaEBGq8jWZQ4VHx9X5M7tqUaqrFvXHfnze8tHTBR4pgA/pAAFKGBvAgyu2NseZ3spQAEKUIACFKBAEgIyh8qtW/44e/Yh/P3DoGka3nqrNrZvfxXvvFPb1iasTUKBiylAAQpQgAKpF2BwJfVmXIMCFKAABShAAQpkkEDGbEZGqwQGhmPPnusYMWIT+vb9Hf/8cwOy3MfHDYUKZYWTE7uNGbM3uBUKUMBSBWRUn8FgQGpSWtZJTfnMG7M/xFlSWjxkPVN853iUNIUiy6AABShAAQrYswDbbtUCUVEG3LjxBMuXH8PQoX9i48ZLyJLFVY1akU6qVTeOlacABShgAoHIyEgEBQXhyZMnqU6yXkBAQKrXS8u27Hmd4OBg+Pv7p8k5MDAQUVFR6f6mMLiSbkIWQAEKUIAC1iDAOlKAAk8LhIZGYu/eG5g8eRfGjNkBGb3St28VzJz5Ipo3Lw5HR3YVn1bjEgpQwJ4EIiIi8OjRI9y/f1/94S6BkpQm+aNd1g8JCUFK12G+gDRZSXBEAixp8bt3757at+kdwcIjpj39MrCtFKCApQuwfhSgAAUyTEAu+bl3LxBjx+7EihUnULlyHj3A0gAff9xIvXZw0DKsLtwQBShAAUsUkD+25Y91+aM9a9asyJs3L/Lly8dkYQb58+dP876Rferl5QU/Pz/ICKX0fA8ZXEmPHtelgF0KsNEUoAAFKGDNAhJUkfpreuxE5lEpUiQr+vSpgsmTm+jPVZEzp4d8zEQBClDA7gXk0siwsDC4ubnB29sbrq6ucHZ2TnFycnKCpNSsw7wp9zVaGY2Nz8blKXl2cXGBBFdk5AuDK+A/CiQiwEUUoAAFKEABCjwl4OcXikWLjuDo0bvqszx5smDs2EYYPboBnn++sP5HgINazgcKUIACFABk5IokR0dHNQ8VTWxTwLh/JZiWnhbyCJoevXSuy9UpQAEKUIACFKBARgkcOXIXH3+8AxMm7MSUKX/DYIhWwZTixbOhQAHvjKoGt0MBClDA6gQ0TWNwxer2WsorrGlayjM/I2dywZVnrMqPKEABClCAAhSgAAUsXSAoKBwrVhzHBx9sweLFR+Dp6YLWrUvqfyhYes1ZPwpQgAIUyGABbi4dAgyupAOPq1KAAhSgAAUoQAFLFrh48REmTPgL48btxN9/X0e7dmWwcOFL6Natoh5cMc2ZOktuP+tGAQrYogDb9CwBufPNxx9/jMGDB+PKlSvxsv7777/o3LkzZILeuB9s3LgRkydPxsWLF2MXX7hwAZ988gm6dOmCNm3a4PXXX8fSpUvVxK+xmUz0QuY6WbduHfr374+XXnoJH330EaQdSRUv8+Bs27YNb731Fl5++WUMGTIEBw8ejDchrcFgwKFDh1Setm3b6se9bvqJhhXx8iRVflqXM7iSVjmuRwEKUIACFKAABSxYwNc3BHPnHsT8+f8iPDwKU6c21TvKzVCvXiG4uztbcM1ZNQrYgACbQIFMEpCAggQmdu/ejbNnz8YLJjx+/FgPtP8Nmbw1bvXu3LmDkydPIjAwUC3es2ePCs4cPnwYzZs3V8GLBg0a4MCBA1i9erXKY8qHTZs26ceruShSpAi6d++Oo0ePYvjw4UluYufOnZg9ezZ8fHzQp08fyJ2cJk6cqIJJMkeOrCh1f/vtt5EnTx4MGDAAHTp0QO7cueUjsyUGV8xGy4IpQAEKUIACFKBA5gn4+LihevV86NGjon62sT3eeKMGChf2AW+xnHn7xNK2zPpQgAK2JRAREYG9e/eiWLFiaNmypQqG+Pn5paqRkn/WrFnqDjoTJkzAq6++ihdeeAGvvPIKxo8fr8pNVYHJZJZRKBs2bEDp0qVVoKRTp05qO3/++acKsiRcXQJAEuTJmTMnXnvtNciolPfff19l++OPPxAaGqpejxs3Ds2aNcM777yj8rRv3x4NGzaE3FFIZTDDA4MrZkBlkRSgAAUoQAEKUCCjBQyGaJw4cU8PpBzD48chcHTU0NHy4PIAABAASURBVLVrBcyc2VLvUBZVc62YaM6+jGwat0UBClCAAikUkJEq9+/fR7ly5dRIjf3798PX1zeFa8dkk8trTp8+jV69eqFUqVJwd3dXAQk3NzfkypUL+fLli8mY4HHBggWoXLky8ufP/1QqWLAgOnbsmGCNmLe3bt3C9evX9ZMB1VGgQAG4urqiZs2aasSJjL6JyfX/R7mEKCQkBB4eHmrEiouLixrBIvWU9oaHh+Phw4fYsWOHChDJZUY1atTAhx9+iJs3b/6/IDO8cjBDmSySAhSgAAUoQAEKWLSAXKvdokUL1TGrUqUKZEiywWBItM5Xr17Fu+++qzqUhQsXVtelS+f1/5kz/1VISAR+/PEEWrVaoXcgt+L770+oSjk7O8LNzUkFWtQCPlCAAhSgQPoE1ncFFhQG5hdMPi0oBMdvi0JbmML8iZW5tBLw6EyK6iyXwkiwQUaBPPfccyoosm/fPsjokBQVoGeSYIccDyXQ4ezsrC+J/39N0+Iv+O+djGxZs2YNdu3a9VT666+/1GU8/2WN9/TkyRNVP7m0x7g9BwcHFVy5fft2vLzyxtvbGyVLloTMH7NlyxZ1KdPPP/+MI0eOqOCJXPJ0+fJlNYJl/vz5GDhwID7//HPIsVzmcnnw4IEUY5bE4IpZWFkoBShAAQpQwMIEWJ1YATkrN23aNHWWbPv27WqyPrkeO+5EfsbMcvZr4cKFOHXqFBYtWoQZM2ZAJt2TjpwMTTbmy6znSIOGa/c0vPXWn+jb93cEB0fgxRdLoGXLEplVJW6XAhSggG0LhDwCgu7q6U6ySQu6Ay1YT/oz0pqC7wOGyGRNZYSKBFck+CCBCplfpXbt2pDJagMCAtT6mhYTGDHOS6IW6g9x30tgQ1+EuMvkfXJJRrb4+PggW7ZsTyUffbmXl1eiRWiapiZYT7g9eW+sS9wVZVm7du0gacyYMeoSKBk1U758eXXCxJhXLv8ZqAdWunXrph8XX4TMvxIUFAQZ3WLMY+pnBldMLcryKEABClAgzQJckQIZISBn0GRos1xHLkOFR48ejaJFi2LZsmVPbV7utCDDo3v06IFWrVqpQIzcmeDvv//G3bt65/qpNaA6pHLWz5ikg5hItnQvCo1wxJbzJdD6i8ZYvvw4ypbNicmTm2Lu3DYoVSpHustnAfEFZD9Kir+U70wlQFtTSaa8HJqnzEqcjEmtkbM8kL+unuolm6Lz10N0vrp6Sj4v9LyJpry1ACcPtelnPciEtMeOHdOPB8shk8/KyJVvv/0WEly5du2aOjZJ4EPa8uiRHiD6rzA5VsndgzRNU5cAyQhNGUEioz8SG/Ei+f9bNd7TypUr1Z1+ZNsJU6NGjTB06NB4+Y1vJPAigRmpk3F7MneMTLJbqFAhY7Z4zzLfygcffIDjx49D7mokJz1y5MihJsSVoIpcmiRtkLYYV/Tw8ICnpyeMgSbjclM+O5iyMJZFAQpQwA4E2EQKUMCKBaTDduPGDTXcWDpn0hRN01CnTh01pFjex01y5k86nTIE2bhczo7JGcLERq7IteDS0ZMAjqRdu3ZBAjQyTFmuA5eOo6nSubve6PF9R9wL8kKLFkUxb14rDBhQGY6OBjXE2lTbYTlhkH0n+1ae6RFmlu+X2EqS/0ZpbB5jo6s4SxJreTYu5/PT7uIjv98SkJAkgQVDo5kwdNkBwyt/JZui9TyRnSXvzmTzJlney2th8C4GtW2DIdFnmYNEAit58+ZVtxuWS10lbd68GU2bNsWqVavU75hMdCsjSGQ+Ej8/P8hIDjlGyXFLTjpI8KVq1aqQy2V//PFHdVyU46CUL5fvXLp0CRJ0Sawucjeen376SQVzJKATN8lEs3JpTmLrSZ2lXnKXI6mLBD/kBIZst169eqq9sn2ZT8bf3z/2vXwu32FN0yAjdqQNEsSROVtkXhg5VsvEtxK0kfWuXr2qLhWS7SVWD1km5cX970D2vywzHv+Te2ZwJTkhfk4BqxRgpSlAAQpQIDEBuYuAJDmDJWe1jHmkQykdMON747N0qiRJfuOyLFmyqA6a/LFtXGZ8lk6Z3OFg6tSpkPTpp5+qa8+lgyadWFOmMvkC0aHqZQxrcwuzZzdH+fJZVUfZlNtgWUGxptK5p8f/PcxhIYFMOpvXWPabBIbFWbzltSxjStpdjgHyh3d6kgRo0rN+cutK4EACDBJQkBErEqwwJpnQVY5LcoyTkRtyGayMMpFLXSWAIvOSyNwmMg9Z9uzZIce4QYMGQY6R06dPh3wu+ZcvXw65i5BcVpNYfeQ4KYELGTWSWJKRJYmtJyNN2rRpo0aDfvfdd1i8eDFku3LXIJmYV9aRCW+l3tJGeS8BHmOdZB3JX6tWLcjdgBwdHdUonREjRqg7J33zzTeqzLVr16JSpUoqcCRlJEwSPJP/LhL+tyB9BuMxPrlnBleSE+Ln5hNgyRSgAAUoQIEMFpBOnCRjZ9m4eek8ybBk43vjs1zbLUnyG5fJa+m8yXLjMuOzdC4HDx4M6cRJWr16NXr27AkpW4Y+SxDHVMmtQmdMHZ4No98ugaJF8zx1jbuptsNysqk7UcjZXlPvQ9pmi/3eiq3ME0Hn/5uY8/thnJfDnNuwhbLleym/3/Kbn54kx530rJ/cunIMqlChAho3bqyON3Hzy8gVmXtFggYSMHnrrbfUcUkuFZLJbuUuO3LJjtxu2biejOaUkSZSngRuZKSLBDhkZIgEa4z5TPUsdRwyZIgalSIT08p2Jk2aBGP5EvCRoJEEaGSZvJeTFjLa5dy5c2pOFbkdc548eWLX6dy5s5qMXu4QdObMGWUj25DvpZSRMMkxXX5/5HNjkv0v2xLflCQGV5JR4scUoAAFKEABCtiOgAwXls6ZDCeWYcLSMjlbdf78eXX3AXkfN0mnSjqecedXkY6adLhkedy88lrTNHW2Tz6TJMEW6cxqWsyEfZpmuufoumOhNZwI1P5QTQaoaaYrW9NYlqY9bSCdb017ermmcZmmpc8grm3c15qWvnI1jetrGg00LXMM5LhgTJpmvjrICI/33ntPjdzQtPjbkXlHZPSGXN6qaZq6PXHv3r3VKBSZk2XChAmQYIYcHzXt/+uWKFFCzZMi6y5duhSfffYZZDSJBOY07f/5NC39ryX41Lx5czVpvIxckflU5DIlTYspW+5cNHPmTDXyRNM0NbeKTFAro1ZkZM3AgQMho2bEWtNi1pEy5Q5Gc+fOhbTh9ddfV3f907SYzzUt8WdNe3q5lJuS5JCSTMxDAQpQgAIUoAAFbEFA/mirVq0a7t27hz179kCGQu/cuRNHjx5F27Zt1VkzmRhPhj1Le2Vos3Tq5K5Ccj23TBgo+WXotQRpJA8TBShAAQpQIAMFuCkLFWBwxUJ3DKtFAQpQgAIUoIB5BJ5//nk1ge2GDRsgt3H86quvINd7y/BnuS5ezoRt2bJFbVwCKxJ0kVsyT5w4Uc2jImfDZFi0XJuuMvGBAhSgAAUSCPAtBexPgMEV+9vnbDEFKEABClDArgVy586NPn36oG/fvmjSpIl6LRPfyVBnuQZbhhfLbZcFyc3NTV2nLcOPW7duDbkN8/Dhw1G9enVIkEXyMFGAAlYqwGpTgAIUMKEAgysmxGRRFKAABShAAQpYh4Bc7tOyZUvIdeft27eHjFDRNA1y2ZAsr1GjBoz/ZN4VmQywe/fu6Nq1q7rTgARdjJ/zmQLmFGDZFKBA5gvI3FySMr8mrIE5BEy1bxlcMcfeYZkUoAAFKEABClDAfgTYUgpQgAI2KSABd03TIHeJMxgMNtlGNgqIjIyEBFhk9Gp6PBhcSY8e16UABShAAQpQwEoEWE0KUIACFKBA6gQkuCJ3fgsNDf0fe2cCb1PV/vFniRLFJRUSbkloQiX1f8slaSBDylSkGRGKXpXXUFE0DyLj1YzMlCZDA5XmUVKm5lEkUfT3XdrXOce5173uOZxzz8/Huvvsvddee63v3nutZz3Ps9YyVpnbsGGDbdy4Mddh06ZNRsjLNYqbe74Bq4BxsA2O52bLs12zZo0f6pvf4b5SruTt+1JsERABERABERABERABERABEUhAAspSPAgwH1daWpqtW7fOVq9ebatWrcp1WLlyZa7j5iVdxQ1/BnDm2bDNKxuuW79+vZUpU8bkuRKPL0hpioAIiIAIiIAIiIAIiIAIxJ6AUhSBJCOA90qpUqWsUqVKVrFiRatQoUKuA/N5cS0TqfM7L9cqbt44lyxZ0sqVK+fnUMsru/T0dGN+Nedcvt5Oea7kC58uFgEREAEREAEREAERKGgEVB4REAERCCXgnPPDRpjMnGFCuQ3FihWzffbZx4jPb7YK+3oeseQA27333tt4PvzOa9pFihQx5/KnWOF9KcQfBREQAREQAREQAREQgaQioMyKgAiIgAiIgAgkEAEpVxLoYSgrIiACIiACIlCwCKg0IiACIiACIiACIpAaBKRcSY3nrFKKgAiIgAhkR0DHRSCOBFjakeS3bNlimzdvVkhyBizXqecYn/dYbOPDNaf3Vcx3L3Pxjh/veLKl/aYdD9pzfmcXkkq5UrzIXnZo2r4KKcLgkBL72N+/fmdlixfRM0+RZ16jfEk76/hDFaIwKIhczqx1iNUos8UaHH2wnnmKPPOTjjwoO3mkwB5HGKNzs2TJEps2bZpNmTIlZmHq1Kk2e/ZsYxvLdJXWjs+IZzdr1iyxjuH7G/me8R5Pnz7dxHnH9y+SVX73YT1jxgybOXOm3uk4vtM8J1jDmXeb3xxTiP07DlvaQzjHki/pLly40FCwEHYmrCSVcqVciaJ2xhEHKqQIg3qVSto7U8ZanYOK6JknxzPP93O6IqOKTb2pkUKKMJhwfX2rt9+nNvzyY23KjWfouafAc7+1/Yk7k0sK5PmqVav6ctFBnzx5ssUqTJgwwTp16mRsY5Wm0tnx+Tz99NM2btw469Wrl02cODFmz0+sw1nDefjw4da3b19xjmE9Ee09mzRpkg0dOtSGDBli/I4WR8fC389d5UGd0a9fPxs2bJjxju9qOrou5+cB5969e9uYMWNiyhnlyvLly+2kk07y7fjO/iSVcmVnhdH5gkUAS9+cOXNsw4YNMSyYkhIBEUgUAnzjc+fOtbVr1yZKlpQPEYg5AVaJaNGihe+cjx8/3jIzM2MWRowYYXvttZexzYxhukorc4dnNHDgQKtcubKNHDlyh3OZYh8TJmPHjrXu3btb7dq1bdSoUTFJU88mMypHOqAtW7a0Zs2a2ejRo6PGydR7HRMuvMt16tSxrl27Gu+4uGbGhGtmxPtJ3VylShXr379/XNKnbmIVItvJPylXdgJoj5zWTUVABERABERABAoMAZaG3G+//fwSkfyOZXDOxSXdWOaxIKSFkqxQoUJiXbRoXBmwlCoKw4LwziR6GQoXLpy1tHCi5zXZ88c7zVK/yV6ORM+/c86oQ2KdT5QqxYsXz9VSzYV2VXLRdSIgAiIgAiIsamDbAAAQAElEQVQgAiIgAiIgAiIgAiIgAgWfgEq4cwJSruyckWLsIQJoeRs1amT77rvvHsqBbisCIhBPAnzj9evXtxIlSsTzNkpbBAosASzPTZs29dbnAlvIBClYyZIlLSMjww/DSpAsFbhsOOesbNmyfm4DvIQKXAETqEDOOTvyyCOtevXqVsBYJxDlbVmB74knnmiHHHJIrjwftl2lv3klgExZr149K1WqVF4vjWl8KVdiilOJxZIAbl19+vSxtLS0WCartERABBKEAC6yPXr0sIMPPlgCR4I8E2UjuQgwVGXQoEHGNrlynly5dc75jlG3bt2Meiu5cp88uaUTWqNGDevQoUMB57znnwkd0QYNGtgZZ5whhWGcHwd1Rrt27ezoo4+WIiuOrOk3dunSxQ499NA9KlNKuRLHh6yk80eARvawww6TRS5/GHW1CCQsAb7xSpUqqWOYsE9IGUt0AnxDrETENtHzmuz5Q4FFfZUyrPfQA2NuovLly+/RztEeKvpuva1zzg444AAfnHO79d6pdjPnnPFO77///qlW9N1aXuecVaxY0c8JtVtvHHEzKVcigGhXBERABERABERABEQg8QkohyIgAiIgAiKQSASkXEmkp6G8iIAIiIAIiIAIFCQCKosIiIAIiIAIiECKEJByJUUedCoUc+nSpdawYUObM2eObd68ORWKrDKKQNITGD16tGVkZNjvv/+e9GVJ3gIo5yIgAiIgAiIgAiIgAvklIOVKfgnqek/gtddeszp16njlxuLFi/0x/ixYsMAqVKhgP/74I7t5CldffbWf8ZnVgooWLerH37Jln7GLgwcPDkuP+VkmTpxoTNDFRF1hJ7UjAiKwWwgwXp5vlMAkbnyL/CbwbS5cuDAsHxdeeKFNnTrVihcvHnZ8hx0dEIEUJPDPP//YG2+8YRdccIGf+JkJEcePH5+tMvKHH36wgQMHWnp6up/Ujwmjly1bZqSTgvjyVOQtW7bYrFmzjBXMmIvi+OOPtxdeeCEqO5j26tXLjjnmGGN1mxNOOMFQFK9ZsyZP90zFyHB+8sknDWas6lG3bl1btGhRVM4BH97fBQsW+AlBeT67IlMGaaXSFkPj/fffb4cffriVKVPGzjvvPPvggw+yZc37e+utt/oVhNLS0uyoo46yF198MZWQ7VJZN23aZEwsTr1brlw5u+yyywyDb7TEeP/HjBlj1C+8/6zY1K9fP/vjjz+iRdexEAIweuqpp3wdzfvcpEkTW7JkSUiM8J/UG9TpNWvW9HMLYYB/7rnnjGcQHjO2e1KuxJZnSqfGZG/vvPOOzZ8/P8dKgo8DAfDbb7+1n3/+2TZu3BiV2+233+4rp5UrV9qrr77ql2t96aWXjH0UOHTK1q5d6xU3NLSkwwdDIMENGzbYd999Z3/++ad9//33/vdvv/0W94+KeyukJgGV2mz58uX+G/3kk0+MzkejRo38PsfHjh1rRxxxhPEd8m3y/SL8EQJ2a9assV9//TUrDt8233JwXlsRSCUCn332mdE5KlmypE2bNs06d+5sQ4cONZSUf//9dxiK9evX24QJE2zmzJl2zz332KhRo+zzzz/3W9rasMja2YEAHfw777zTMjIybO7cudasWTNr3769r78iI1NPlShRwu666y6j03/FFVf454Qyho5WZHztbycAI+S7iy++2L/Hp512mrVp08a+/vrr7ZEifq1evdrGjRtnfAco8CNOazcbAtQHN998s8Eb7nTmaZdpVyMvof7473//a++995498MADXgmDwpCVVyLjaj+cAO8mrO69915fB+OJi5Lql19+CY+4de/ZZ5+12267zbp3727vv/++3XfffTZlyhRff2w9rf87IYAhrlWrVnbppZfuJKbZp59+atQz9Bep01HkYph/9913d3ptfiJIuZIfero2jADrt7OOO1Y2Xlw0hmERtu7QmULoO/fcc+3MM8/0y+1NnjzZonWemFX7wAMPtIMOOshrHJ1zVrp0ab//0UcfGRrLAQMGGB/NjTfeaGgjW7RoYShg6KwhYGJVGj9+vPEh0snr2bOnIaxuzUqq/le5RSCuBIJvli2NIEvj8Q2j9ESgwCPtpptuMuoAvv2RI0da06ZNDcGOONdcc43v0PBNN27c2Jo3b25Yeag74ppxJS4CCUgA4RuDRIcOHezkk082lpmsXbu297DgmwnNMkpJ2j+8XPhuzjrrLGvdurXhZaF2L5TUjr+RV2DHakDIFMcdd5z973//8563dJwir8DrAmszcgWW58svv9xq1KhhH3/8cY7Gpch0Um0fzngq8i63bdvWe0jQ8UfemzRpUlQc69at84oV+HIdbUrUiDoYRgDWKFjphFIn1KpVyxs8kLfpaIZF3rrD+48RBAUuChUMllWqVDHe762n9T8bAnAeMWKEoWBFIYuy8Morr/RGXfpDkZfBmHqGJbBZ2eaUU06xk046yVAgRsbVfjiBYsWKedmRd/TYY48NPxllD4UX/cDevXsbdTrtKJ5FKBqjRI/ZISlXYoZSCTnn7PTTTzde/gULFhiWnUgqaGwRVK6//npjCM9//vMfe+yxx7z1Ynvc3P2iIqLRpcN2yy23GMOCIq9EKH355ZftoYcesuHDh/s8oSXGmyUyrvZFQATiTwDFKI0drp3NtypOihYtGnZTrPEffvihVatWzR5//HFDAEdRKtfkMEzaSQECfAt4XeIVyvBaiuycM4TKFStWWKSHBO0a1n+GDhGXULlyZe+t+dNPP7GrkA2Bv/76y3duMBIxHIJozjmj4/PWW2+xm2PAExdrddmyZY3hkDlGTuGTvLNffvmlUb8zVBQUhQoV8p1LhquwHxro4OPWj+Lw7LPPNpT2oef1O3sC1AcMmUDODmLh9ZOenu4VrsGxYIvHCr8feeQRw8hBwIC5atUqDitkQwBlFZxRkARRGLLC0EL6KcGxYMsUCs45Q5mIV/706dMNxrzfQRxtY0Pg7bfftv/7v//LSoy6HcUhCi6UYlknYvxDypVdBarrohJAG4tHyptvvuldCrFEh0Z84oknDGtay5YtfePK+E8aS+KHxsvNbz4QOmeMWyy7VaCJ7KSRBvfv37+/HzdKxYd7GJ07GnfOK4iACOxeAlh18FRhDDguyszJEpoD55yfL6JTp06GAE5c6hWGHNIBCo2r3yJQkAnwvmMgQLkS2r5h5cdrhfYttPx4bHKcDlRwnA4sx+mkBse03ZEAHVEC3nahyhHqqGiu/aEpoLjKzMw0WCPIY2AKPa/f2wnwPvNe8w6H1v0M94k0yPF+47nFnH4M1aI92J6Sfu2MAMZHvn3e4SBu4cKFjbqEcxbxDwUWXudlt8rTd9xxh/Xt29fonDIMMSKqdkMIMMyZd5WOe3CYOoTA+x4cC7Z4AqHwoj80YMAAGzZsmOHBgtEpiKNtbAhQd0d7/1GIYbzYpbvk4iIpV3IBSVHyRgBXN15mXAx5sUOvxrqDm2FwjAaWRpXKKa9aRMY70wgEaUXb0ngH96NRCeJH5ivatTomAiIQewIoU0OFkMg78M2iOEUw4Rx1BFYg6ggaRI4piEAqEOBb4DuggxQqCGL957hzLgyDc857TXA+OMF1zjmj/QuOabsjAfgQ6PjTUQpioHChMxrsR26Zu4JOEsOBmMSyatWqfvL9yHja30aA9xZPFd7RUJkP5V8kZ+r7559/3ntZYGmGM0p2rPzMJSI5bhvT7P4yfMo55+cdDOLwblMncC44Fmx5NsjIF110kfeOQ1HIUBc8h7guiKdtOAGU386Fc6bOhhlMw2Ob4cH/+uuvG8MK8eRnqgTe5QcffNBCv4nI6/Kyr7jbCKDwph7Ztmfei5P3n+dCPRQcj/VWypVYE1V6fk4U5j7BGwX3fl7kAAudKtycg30EFzS7u2Lp4cNAGArSiralcmPyXM5R2dFB4zfWKbYKIiACu5cA3yydxuzuyjeLoMH3ShzqCNztaSSjCYTEURCBgkgAARDXcr4BvCMoI8I3HU3GjXOeY0FAyGd+o5UrVwaH/Lh/vjmMEVkH9WMHAnTsUeKiLKG+IQKsmZg7O48JZAtWvUHWYfhivXr1jGfAtQrRCSDr8Y6iIEGhQiw4MycQ3ozsB4HjDGs7+OCD/cSf8+bNsy+++MIvYsBwiuA5BfG1DSeAYQJlCYq/4AwdTWTwYJhhcJwtxzCMhrbPtLvI8DwL4sQwFJikMBDzTvMOB4Vijji8gzgeHAu2DHFmYn/qCwxJzN/UoEEDe+WVV6RcCSDFaIuymzo8SA7PTtpS6pTQ9zw4H6utlCuxIql0wgjgwokrP5UIlUxwkjGFTKTFJE+MDacyQZhhuTfnwq1wwTX53TJh5ldffeVXHpo9e7ZfnpIGO7/p6noREIHYE0C5wgonTFD9zTffGC7hdBbp4NABiv0dlaIIJCYB55xfXQshkHaT74DvgTlAmAuEjs+MGTP8JO6UgM4Uw2Sx9mPYYB4AOqR4i6nNg1D2AWMNE/IHjKl7Ao4Yi/C0YLUmFCmkgtyCJwXzyzGpLcOOUQijCFNHFELRA5yRD3mHYUlHnzm1UJrAkaFBzEHB/CsoYhj6zRAVhqYQzjnnHL8cM8O9y5cvH/0mMTua3AlRbzDBKnN7MLwKmZt2FaUU7yvzNuGVgrKWkjJZMNdQ1xCXdphJ53leHCeOwo4EYEMdAWemHeBdxnOf4wz1oXP/zDPPGCskcjXvLXUz7zhDseC8ePFio452Lj79IO5bEAJ1KwZ5WGIsp76lLmY1POpo5g2i/gj6nUw9QX+TdpA6nT4n8+Dw/seTh5Qr8aSbwmljJWPGfSoOXv4ABTOWM9kejWSfPn0MZQdC4qmnnhpEiemWzhjWEZZEY2wjH1fHjh0N7XxMb6TEREAEYkIAgQRrD66zrCr06KOP+jmTmCw7JjdQIiKQRARoL+l0InyzghZL/7JaEMNv8ZLg+0CYpEi0uwiTKF2CNo82mJW5sJASRyF7AhkZGVa3bl1jNRuWpGUuhDZt2hjzIyBHsPLg/PnzfQIs8cnS8nSQkGNuuOEGPwkoChcs1j7S7viThPdo0qSJX7mDlTxYxePhhx82VrRhok86SSxygOIFRQzzB9EeBAGvY957vIzwyErC4u/WLF9yySW+0z5o0CBD5qaTiWxevXp1o1PP+7p06VKfJxQB7dq18x4UvM+DBw/2wwmvvfZaf15/sifAHHF45rO4BquMoTxp1aqV4Y3FPDZM4E+nnhQ4zhwrDAPq1auXDRkyxBiOeNVVV2lIIYByCChQ8Frr0aOHXwyFepjVxu6++25DSbho0SKjTUTxQjK0kyhoWciEOh1jBB5D1Omcj1eQciVeZFMsXVyvunbt6gWToOg0lAiCNJQIfRxHY4uAyMSyNLBUJiyNRcPJ+ewCljeWlON64rBaAuMVqaDYJ3COYzVr1jQaZY7R+HIPPGbOP/98oyHnw+KcggiIQPwIoNikUQsEMxSazElA54/vTa5FPAAAEABJREFUMrgz7rADBgzwk+xxjG+XCd/at29vWClZ0pBx36HfOvEURCAVCOByjlWU9rV58+a+E4pgiQu/c84vzUyHCBZ8Vyw3STuHUgBjRvfu3Q2lAR1S4uyJkCz3RA6hk3/55Zcb8gkdpp49exoeFNRnPANkCcrD6oTIG9RdTLqN8pdAp1XDFyGUfWBFJlai6dixo6/ju3XrZldffbVvA3gGXbp0MSY+j5YCikLef7y0op3XsXACrAyElw91BO803Fu3bu2Hr+ExjnyMApereMfp+POeE5f6hne8Vq1anFbIgUC1atX8BMDUu8g4cG7cuLGfAwuFLXVKenq6TwHudPR5JnT+iY/iK94dfn/zJP+D8a1y5cpGPcB7iqEejhjoS5cubfXr1/dtIr8pKvUE7SEyJO808iR1PMNtOR+vIOVKvMimWLooP5j8iqFAQdGpqFkZiBc/EOzoOKHJRRihgkcYYex4cE12W6wXCIoImsThGiolOmzsE1DgcIyG27ntrnV0ynCN5HoUPuSL+AoiIALxI0BHD6EtUGZiTef7wzpGPRDcmbHHWOaJHxyjc0JcvlkEFIQS57Z/00E8bUUgRgQSOhkERYRHvgeESr6H4HtBmER4DwpAW8t3h0KGVfkYJoS1Pzivbc4EMNIgRyCfoNxlbD5XML8N8gr1F/sotzDY4AUQGhhaIRkDQjkH5DL40hlFTuQd5wo6Q7zTGOzYjww1atQwvgUxjiST/T4sUZTwTqO0CuRo3nXaZ2Tm4GrOwRclC3IzigDn1PYGfLLbOue8hy31LvUCdTL9FuLT54E73lbsO+eMZ4Jsw/sPZ5Ti1DGcV8ieAO0e7ELrXH5Th9APRcmFwS60zaO/CGve/4YNG1pQp2d/l/yfkXIl/wyVggiIgAiIgAjEmYCSFwEREAEREAEREAERSGQCUq4k8tNR3vJFAPfdhQsX5isNXSwCIpAHAvmMikcL42dxtc9nUrpcBERABERABERABERABHYrASlXditu3Wx3EsC9tEqVKrvzlrpXEhBQFhObAC6cu8NtM7EpKHciIAIiIAIiIAIiIALJRkDKlWR7YspvKhBQGUVABERABERABERABERABERABJKIgJQrSfSwEiuryo0IiIAIiIAIiIAIiIAIiIAIiIAIiAAECrZyhRIqiIAIJCyBn3/+2Qhk8K+//rIff/zR1q9fz27cwz///GO///67/fDDD8bvuN9QNxABERABERABEciRwObNm+3XX3/1IceICXTyjz/+8LIEckx22frll1/sp59+yu60jouACMSKwB5OR8qVPfwAdHsRSFQCCAvLli2z999/3z744AP7+OOPbfXq1bZx48aYZfnaa6+1Xr16+fSWL19uAwcOtPnz5/v9nP6gFPnwww8NISyneDmd+/PPP+2xxx6ztm3bGmXNKa7OiYAIiIAIiIAI5J7Ahg0bLJAhkCOCgJIhJ4PG999/72WBm2++Ofc3y2XM3377zT766KMsuebTTz+1b7/9Nl+yBLd+9dVX7aabbrKVK1f6tFatWuWNRVu2bOG0D8OGDbNbbrnF/471H2Sizz//3JcLzshr5GHTpk25vhWGrhUrVsRUxsv1zVMwoopccAlIuVJwn61KJgL5IkDjfMUVV9gFF1xgXbp08QFFyGuvvWaRDXZOglJuM3H44YcbK8WcccYZO73k7bfftlNOOWW3ebnsNEOKIAIiIAIiIAIikEUAxcVVV11l559/vpcfAjli0aJFlpOHR1YCcfgxb948y8jIsE6dOlnnzp2tW7duXimCsSY/tyPNu+++29LT023t2rV2ww03WGZmZpiMgjFp0KBB+blNttcuXrzYLrvsMm8sgvM111xjPXr0MJQ+uZXPJkyY4I1dGNH+vZE2IiACu0BAypVdgKZLRCBVCLBqCwLB9OnTDcEBD4+HH37YFixYYK+//rotWbLEnnnmGXvhhRf80BosH6+88orNnDnTXnzxRfvyyy+zhCga+C+++MKee+45mzVrlkUKMwwH4hhWK/gS/5tvvrGXX37ZZsyYYc8++6wtXbrUD+VBYPj777/9fUiL41yzZs0ae/PNN2327Nk2Z84cn79QTxuGAD3//PM+PeLhvcJ1CiIgAiIgAiIgArElcOCBB/pOPm1yEDCg0M4jRwRtO21/dp6otNMYe2jTiY9swfXICGZm/EZpwjm2eI+EeoxElqhYsWI2depULwfgbYIcc//99xvXIEO88cYbXkbhfp999lmWJwfn8XpB5kEmIh/ci/QZ0ozHCHIM8ggKCuIiC82dO9coA54lHCMd0l24cCGXZoWvv/7aUJIgR3GQLcYsyoXcRD6DMnM+MhxwwAE2YMAALxfhJUNcvH8CrshCyD3IUshNyHDcg3S+++47L68hcyEjTZkyxXv0cA6vGPJKWcgHSrNIAxvxFERABLYRkHJlGwf9FQERiEKgUKFChiBCo3388cdb3bp1DQFgzJgxdt1119nIkSPt6aef9ooMhJLx48fbiBEjDAvI2LFjbfjw4fbJJ594xcuKFSvs3nvvtQcffNCfHzVqlHehDW6LkILnCsoUjqGYIf0HHnjAnnzySR8QUnDrJQ7KFQQcBA+EDu6P8IZQQfxHH33U7rnnHsPLBSsZiqH77rvPhg4dak899ZRPD8GFeymIgAiIgAiIQFwIpHCigQyRlpZmaf+Gvffe23tUTJw40csPDM+99dZbvWEkGqq33nrLUH4gU0yaNMkef/xxbzhBSYE8QLvOOeQOZBPkBhQZ0dLimHPO5wW55sQTT7STTz7ZG25QNKB0uOOOOwxZBkPSnXfe6YdEo6BAIUI+uT/54H544ZAmWxQZKFWIx5AcFEbTpk2zl156yStXyNeQIUP8sCGUHHi3BHOwkH4gv3z11VeGPPPII4/Y6NGjvbwEo9tuu80P0eZ+0YJzzooXL26lS5e2ihUrWqVKlXy5ULIQf926dUaacH/iiSc8U8rBvRgahfGLe6NUQq7jGIyRpZCrKC/XI8OhmAnSJW0FERCB7QQKbf+pXyIgAiKQPQEEDxre/fbbz4oUKeIVIzVq1LDBgwdb7969vcUFi0jHjh0NgQSPF6w5CAxYPmismVcFd1UUHKeeeqphAYl2R6w8KE7effdda9Omjd11111+DDZDgQJLWNGiRb2yBo+aM88804+jxqLUoEEDP7yoX79+3hKF8oXJ8RAGULp0797dK11atmzpyxDt/jomAiIgAqlEQGUVgXgQoEOPZysKEAJtMHJB9erVDVkAA8jAgQO9UoBOe7Q8YExBAdCjRw/vQXv99dcbw4hR3KAMQbHRtWtXf46hzCg4kB9QDERLLziGcgC5ZuXKlV4hgUEHj41jjz3WUILg1cJ5ZAjuTzlQQAwYMMArJvr06WO1atUKksvaIo/UqVPHzjvvPKPMpFOyZMms84ULFzbOcwCPELYoWTBEVa5c2Q8twpBEuZBTYIQ8gwIGJRPxowW8ZsgrRixkLJQkxx13nMGJ+BjKGObN0CTOI0/BFm+aY445xjIyMqx27dp+XhgUS3AgTxjCWrdu7eW6vn37eoMbzxG5inQVREAEwglIuRLOQ3siIAIhBBAocJ/t37+/0ahikWnatKmVKVPGypcv7+djKVu2rLcCzZ8/37uR4g2C9woupAg5uMhiAcHdFYGCUK5cOUNoOOyww0Lutv0nggaT6CK4IKhwr/T0dKOxx+qFkEBsFD0EfpO39957z0/ohrWHxh9XVyxEWLcQjKpVq2bnnnuuMdyJfNSvX59LFURABBKfgHIoAiKQZARQCND+0hYTaNvxJEWGwKsUTxM8QZA13nnnHcMjNbKIyBh4nqJw4JoSJUp4+cM5Z3hgMEQFww6esmyRO/BmRdkQmRb7DI/BAwW5hglmmWAX5QH5wxDUuHFjQzY54YQTvMKBIUnEqVChgqGQQXGDsWavvfayI488kiTDAjIKBqh99tnHkE+QV5xzWXGcc16GQr5haBFKIOQXhi2j5KB8yFMMd0L58dBDD3lvHcrD8WiMSBzWKDzwLkbeQqnSs2fPLOUKSh3uhbfKuHHj7L2t8hKsCJwjz2zxftl///2N3/AkXzwb5Dq8V1asWGEYyjC2cV8FERCBcAJSroTz0J4IiEAIAeec91LBSwTFBF4fWD5oeBF4aHyJToONIIAggUBB4Bq8SBBU9t13Xz+xW6lSpXyDzTU0/KTB78iA8IP3Cu6tCCaR5yP3Ea4QfshPaB4YxsRketwXoQOlSnAtcQ866KBgV1sRiAEBJSECIiACIhAQQFGADICXB+GSSy7xng94Y+BpijKDTj0yAqsL0fYH1wbbRo0aeS8QJoqdPHmy3XjjjX5YEcoEFAPcA5mDgIdIw4YNvREF5UeQRuQWBQj3xFOD4TlNmjTxQ3e4Ji0tLSs6MgjyBQqh+luNMUwWixIGDxG8SfB0yYqchx/IUKeddpofNs0QJhQ4cDj66KN9Kiih2EeOolwElD3c30eI8oc0kc/gg0cx8ZGLUAgho6GoYcgTQ5acc0aaKGrgHiU5fwi+pEvcINSsWdN7FDOsykfSHxEQgTAChcL2tCMCIiACIQRoVJl8DvddGvVmzZoZw3Kcc15J4tw2awyKEhQXCCJXXnmln4GfWfhRxuApghIFAQgFDIIKt0AwWrHVAsLvyEBcBByEGASqyPMoRjiGwMAWQQkFCvdp3rx52P0vvvhi7/LLudD7ISwhZHB9SgUVVgREQAREQAR2AwFkA5QYKD0IGD8YhsOkqSgCGM6DrMAwIbITtOn8DgIeI23btjXiXnrppYYyAM9U2nDOIXuQRhCQO84++2zjvkEaoVvkBeQZ5BpWM0LGQebAYwNlA54aQXy8bkmHa5AxOnTo4IczIVcgCzF8hvwE8dlSZuec93JhP1ogPQxWyFgMmWaINN4yzJNCfBQXhxxyiHGf0HJ16tTJUAARJzI457ziinwyHAgvY+asY2gT5cJLBoVNkB6MUN6gfCGtaOnCl+MMtwqugy+ePshUXKcgAiIQTkDKlXAe2hMBEQghgJCAtQKhg0Y55FTYTwQFhu+gDGEiOAQSxlUvWLDAcCdFkVKvXj1jyBCuvSg5cHXFKhKW0L87CAcM2+FaJl9jLDTCB6sEIVDRqCOE4SIcKF+w+CAo4LZKfCw/TITHNVjHUPIsW7bMTxCHcMcwIQS8f2+pjQiIgAiIgAiIQJwJIC/QoWf4Cp4qDN1lqE202yI7sAIhXhecZzgRigIC+3T6aeNRUCBzYMBB7iBN57YZf4gXGpxzfrgOcg2KA84556xy5cqGUgMZgsloAxkBDxAUKcgL5MM5Z8gg5AEP28DYQzoEvG1Jm6EzlBH5g/JyLjTgOcswIIZFsUoPw4SKFi3qo5xzzjnG/C7Tpk0zzuGBgjzDHHbORS+XvzDkDzKZc85Pzsth8okHL/PgICNRHvLHOQJyF/fB6MQwLcrH8G0MYihpGAbEedjCgVaMTwwAAAZ8SURBVLJznYIIiEA4ASlXwnloTwRyS0DxQgggoCCA4PZLo3vRRRcZITMz07CaoKTBSsUktrilYoXCFZYJ1UKSyfqJEIDVBVdd3ICxkmBpYoJbhK1DDz3ULrzwQuN+eNMw7hpLDXFQ7GCNYiJcJrtln4SZrwV3WWbsJy/MJYPCh3MKIiACIiACIiAC8SeAhwYeKLTbdN5Z6QdlQnZ3prPPxLCtWrUyhhWhnOncubOxZcgQcgBGGOQEPD1YDRCFRnbpZXe8SpUq1rFjR0OJQP4Y9sMQGGQMPExQLDChLEONkT+QLZisNtLwxD5DoTAeEQ95BDko8r4oMzAiYZSiLKzIGMRBNsFDBEUGshRlZ6Ja5l0J4uxsS57hgWIEpQp8OEbZmEMP5UnVqlWzkkEeY58yMaQbYxhz3XE9w5ZgQxowQOGDXJd1sX6IgAhkEZByJQtFQfyhMonArhNAGcG46BYtWuyQCI0+nie4ywYnsdagEOE4LrssHYhARCONsIFF6LrrrjMEHyw1CC7MQs+s/KTBxHBMmEYa7BOfxpwJ77AkMQFb+/bt/ThhBJHbb7/dEKgQzBgKRF4YE81KRQhtBPKC8IYrMnlA0GAyN/LACkSMS2ZpQfLOPRVEQAREQAREQATyT+Coo47KWpkvNDW8YfE4oY2mLcbgwuqC8+fP96sG4dFB559OPoYbZAJkA+KzLDByBcYUOvd4iKDAQJYgLc6zEk5GRkboLbN+MwQIzxbykHXw3x94jSBDsGoRMgdyDAYZlEHcC2MP5ziODIOSIbjPWWedZRiTjjjiCJ8aSh8MOcgoyCooUgYOHGjIJD7C1j+U7fTTTzc8UpC1mOh/62H/H5kEb1sUKpSLsnNvFDs+QsQf5pcj7SA/wel27drZvHnzvEcOqzsG8hST/7J0NJP/Y2wiPgsHMNEv9yLfGMwoNzIc9w7KzW/kKnhxnYIIiEA4gT2vXAnPj/ZEQAQShADCB2OZsXREZom5VXCLdW67e6pzzmhsaaARRrB48Bvhx7lt8RhzXblyZT8TP+69pI8gRfooTBAugvs5t811lzG/pMd1aWlp5ty2tMgD9yAguARpkB7HuIZrSQ8BgfMILIxp5hz3Ig3GNTu3LU3iKIiACIiACIiACOSPQCBDMJ9JZEq0yxUrVvSyAHJCIBvQVuO5inxA4Dri4q1Ku03bjtyAYoJzBAwrtOPBedp22nrORQbkEWQJ56K3+eQZ2Ya0iIdsEdwLIw0yBefIB/GQW7gH5yhHsB/IQiwZTd5Jg6FF5I34QSDvpEeZKHtwnC1pEJ/zBO4NC85FBtIhP5Qv9Bz7XAtT8kAc9mEPX/aD58P9OUbZ8OLhWtLCMEU8jnMt+eAa56Iz5BoFEdgpgQIcQcqVAvxwVTQREAEREAEREAEREAEREAEREIG8EVBsEdgVAlKu7Ao1XSMCIiACIiACIiACIiACIiACe46A7iwCIpBgBKRcSbAHouyIgAiIgAiIgAiIgAiIQMEgoFKIgAiIQOoQkHIldZ61SioCIiACIiACIiACIhBJQPsiIAIiIAIiEAMCUq7EAKKSEAEREAEREAEREIF4ElDaIiACIiACIiACiU1AypXEfj7KnQiIgAiIgAgkCwHlUwREQAREQAREQARSloCUKyn76FVwERABEUhFAiqzCIiACIiACIiACIiACMSegJQrsWeqFEVABEQgfwR0tQiIgAiIgAiIgAiIgAiIQFIRkHIlqR6XMisCiUNAOREBERABERABERABERABERABEdhGQMqVbRz0t2ASUKlEQAREQAREQAREQAREQAREQAREIO4EpFyJO+Kd3UDnRUAEREAEREAEREAEREAEREAEREAEkplA7pQryVxC5V0EREAEREAEREAEREAEREAEREAERCB3BBRrlwhIubJL2HSRCIiACIiACIiACIiACIiACIjAniKg+4pAohGQciXRnojyIwIiIAIiIAIiIAIiIAIiUBAIqAwiIAIpREDKlRR62CqqCIiACIiACIiACIiACIQT0J4IiIAIiEAsCEi5EguKSkMEREAEREAEREAERCB+BJSyCIiACIiACCQ4ASlXEvwBKXsiIAIiIAIiIALJQUC5FAEREAEREAERSF0CUq6k7rNXyUVABERABFKPgEosAiIgAiIgAiIgAiIQBwJSrsQBqpIUAREQARHIDwFdKwIiIAIiIAIiIAIiIALJReD/AQAA//+sNRoCAAAABklEQVQDAPrgyKQkw3e6AAAAAElFTkSuQmCC"/>
          <p:cNvSpPr>
            <a:spLocks noChangeAspect="1" noChangeArrowheads="1"/>
          </p:cNvSpPr>
          <p:nvPr/>
        </p:nvSpPr>
        <p:spPr bwMode="auto">
          <a:xfrm>
            <a:off x="130175" y="-884238"/>
            <a:ext cx="5943600" cy="232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AutoShape 4" descr="data:image/png;base64,iVBORw0KGgoAAAANSUhEUgAABFcAAAGzCAYAAADqs/jOAAAQAElEQVR4AezdB2AUxRoH8P+mFxJC7733LkV6UZpIlS7NQlMRsCBIB0VBRBAElCoqKihN6SAC0qT33nsgpNfL22/i5SUhIe0uufLnvbmyNzs789vzdvLt7KxD2fIVo60hLdh7I/rGjeTS2eh1Y6yjPdZgzjqm77s0Zv3ZFHxnb0Tv+S5927HF/ZS43d7oBZn8exVTLxPUY8z66DPG37O936byN/jb6D36upb/vYmpZ7K/22fWR4/J5P2a3H9D6viTkv0Ud7/q++jGjbM8JmXgvo357zNOP8EKvlvJffeS/zzmv7Onfg++26sff0zwW5WB+y/5tvJYSSN+B/gd4HfABN+BVPY7aZ4acwdYyb8vXmuFFi8mlzrjvdVW0iBW0+YFfn2/cwq+s60wYIbNU6S6gYnbvYEvUl2SaVeIqZcJ6rH6Q3Qw/p699mUqK/klBujrWv73Jqaeyf5ud/oQv6ZSIKOzq+NPSvZT3P2q76MWL/KYlJH7Kua/zzj9BCv4bqXfJ+a/s6d+D2a8oR9/TPBblf4KsgQKUIACaRDgKhSwTgGHM6dOgIkG/A7wO8DvAL8D/A7wO8DvAL8D/A7wO8DvQAq/A/wbin9D8jvA70CC74DVjFyxztgVa00BClCAAhSgAAUoQIHMEeBWKUABClAg4wQYXMk4a26JAhSgAAUoQAEKUCC+AN9RgAIUoAAFbEKAwRWb2I1sBAUoQAEKUIAC5hNgyRSgAAUoQAEKUODZAgyuPNuHn1KAAhSgAAWsQ4C1pAAFKEABClCAAhTINAEGVzKNnhumAAUoYH8CbDEFKEABClCAAhSgAAVsUYDBFVvcq2wTBSiQHgGuSwEKUIACFKAABShAAQpQIFUCDK6kiouZKWApAqwHBShAAQpQgAIUoAAFKEABCliKAIMrlrInbLEebBMFKEABClCAAhSgAAUoQAEKUMAOBOw+uGIH+5hNpEA8gfDwcGzZsgVjxoxB//790bt3b1y9ejVeHlO92bx5M4YNG4YDBw6YqkibLefo0aMYNWoU/vjjD4SGhtpsO9kwClCAAhSgAAUoQAEKZJaAObfL4Io5dVk2BeIIBAYGYtu2bSqo0aNHD3To0EEFNiZOnIhdu3ZBgh5xspvtpdRhypQp2L59O4KCgmAwGMy2rXPnzuH333/H9evXzbaNlBQ8fvx4tGvXDm3atMG1a9eeWiU6OloFnDp37qzyrFq1CmFhYU/lS26BtHfkyJFYsGABnjx5klz2eJ/fvHkT69evx+nTpxERERHvM76hAAUoQAEK2KqAHINPnTqljr9ynJbUtm1bdOnSBXJMlRM10odKrP2y7v3797Fw4UIMHDgQnTp1QteuXfHBBx9A1gsICEhsNbVMjrV79uyB9BF69eql+mU9e/bE2LFjsXXrVvj7+6t8KXm4d+8efvrpJ3VCSerdsWNHvP7665g1axakb2DOvlZK6sc8VifAClupAIMrVrrjWG3rErim/0EvI0UGDRqkgg0S1PDy8oJ0Fn755Re8+eabmDdvXob8Ub1jxw7cuHED77//Pj777DN8+umnyJ8/v1lAX3zxRcyePRu1a9c2S/kpLfTff//Fxo0bVfrxxx+fWu3hw4cquLJ27Vr8+eefuHz5MqKiop7Kl9wCCaj8888/OHPmTKqDM9WrV1f7QzqUbm5uyW2Kn1OAAhSgAAVsQkACJI8ePVLHYTnRkC9fPuTKlQshISFYs2YNhg4dqgIX0mdK2OBDhw6he/fu+OSTT3DixAnI8VOO35s2bVLrTZgwIdETPNIPGz16NAYMGIAffvgBfn5+yJIlixo5umHDBrXu119/jQcPHiTcZLz3kZGR2Lt3L6R/J/08ea1pGjw9PSFtkTJeeeUVlSfeijbxho2gAAUSCjC4klCE7ylgYgE5mzF9+nT8/PPPaNSoEZYtW4ZvvvkGsmzu3LmQ4Mqrr76Ku3fvmnUUibFZd+7cgYeHB0qXLo0iRYqgUKFCcHFxMX5s0ucSJUqgZcuWKFCggEnLTUthzs7OqFWrFr777jtIZyhuGRJM2b9/v6pnnjx54n6UYa/z5s2L5s2bo1SpUpC6ZtiGuSEKUIACFKCABQhIYKRx48bqpI+c/JHRKBIckeVy7L569Wq8Wt66dQv9+vVTIz5HjBgBOXkyc+ZMzJkzB4sXL0b9+vWxYsUK1edKGCT56KOPVH+gQoUKaj0ZcTpjxgxIMGSFvs7AgQPVSRYJ8MTbaJw3EhSSkylS1smTJ/HGG29A1pWTSlLWt99+i++//x41atSA9AXjrMqXFKCAjQowuGKjO5bNsgwB+SNezqosX75cHeTlEqCqVatCzsrkzp1bPZcpUwYyL8l7770XG+SQ4aOXLl3CW2+9hcqVK6N48eLqD+9FixZBzu4gzr+pU6eiaNGiuHjxoupA1KlTB8WKFUOrVq3UKBk5+Et2ORMjHY1ff/0VZ8+eRcOGDSF/0L/00kuQPHKpkGzr2LFjkj02ScdBhsm+8847asSL8QNpV9++fVX9JEhTrVo11cmRy42MeaRzU7duXTWPiHGZPEtn5YsvvkC9evVUgKdq1aqQ9l+4cEE+jk1yCVOTJk3U6Jd169ap4b5iIfUUy9ReuiNBrCtXrqhLoowbkWHB0kYZdVKzZk111sv4mTzLPpQOmxhIG6Wtkk/OUMmIJMkjSUa8iNHBgwfVZUEVK1ZUvmIs25B5VGSoc2O94yj76u2334bkkcuV9u3bpy4Za9GiBebPn69GNEmZ48aNU2VIp0/eG9Px48fRvn17yLDjw4cPGxfzmQIUoAAFrFCAVY4R0DRNnfzJmTOnGrkifaXWrVurY6Uc9xL2f6QfcPXqVTXK5LXXXkPhwoUhfSs57lapUkVdhi3HawnSSPBD+layJRlhKstKliypRg3LsV1G8BrXlX6ZBFekDyZ1kHUSSzLaRU6QSR9C+giSX8qUkzRSlpxYku3LpUFyfJcyHj9+rPpsMnpY3sdNX375JST/zp07YxfLJUoFCxaE9F0kcCR9vKpVq+LDDz9Uo27kEii5nDh2hf9e/PXXX+okmvTt/lukLj+XkTXSFypfvrw6mSN9CbkkOTg42JiNzxSgQDoEGFxJBx5XpUByAnKtr8w5ki1bNnUtrxykHRzi/2enaRrc3d2RPXt2aJoG+SeBFTkQyxkPCSZIoEQO4jI0Voa+yvXFkk+SDJOV93KglY5GuXLlVODkyJEjkLMpsn3JV0wPuMjQVBlNItuSa4LlLMvLL78sH6s/6OXMjgQC1IL/HiS4INuWa49lqK0slmuU5YAsl9HI5SxycJdAgXQw5PIbySNJgihyyY0EFuS9JJlbplu3bup6aNmW1EPqJmeL+vTpAwnaSD5JEjzx9fVVo3uk7VIXuWxG6iFBJZkAVvKlNEkwwtvbG0uXLo1d5fbt25BLpaRD9Nxzz8UuN76QoIvYyqVUMvJF5mWR4coSHJLrqaXDI3mLFi0KGZkknSqxkImCxVeScZ9Lx1D2iyyTDk6DBg0gwScZSWRsq3RwJNglZUrnS/aVBHJkuLMsk30k3wtxatmyJaSTJcuZKEABCphRgEVTIFMEZCSno6PjU9uWY6Ucy318fDBkyBC4urrGyyPHXWP/SUbnymVCcjyXTDIKRvoT0q+QIIjkleXGpGmaOtGSNWvWZ44klf6N9LFkJLD0DaQvp2kx/ThjWVK2XAYufQ9ZJgEe6bNJn0rex01yqZKUKf0k43LpR8qoFwncyGgY6eMZA04SIJFRt9KvMOY3PsvccTLfnZxAk2VS5m+//abmtZHgjQRx5OSVnOyRvpdcGiV9NsnLRAEKpF0g/l95aS+Ha1KAAokIyIFKRhbkyJFDjfBIJMtTiyRwINcBywH1888/V6NPJPCwevVqSHBEOhN/6WckjH+AGwuQP77lACujRWSEi+STS41kRIV0IuQgLKMlZNSHBADktQRj5GyPpsXvDBjLTOpZDtBy9kVGkyxZskTNFSKjc3bv3o2PP/44qdXUchmFIcEMmdRX7iIkl0fJyBAZsSFtkLlnxE1l/u9BRtPImR85Q/TVV19B5lCRgIyMwpFOx3/Zkn1yc3ODdCKkkyU2YiidD9lH0tGQS6QSFiIdIum8iLnUXTo30pkSZ5mkTiawk3WkwyPBGzlzJiNyZDI98ZUUt2Mo+0ICXDt37lRnzCRAJPtEykiY5JrtlStXqrNNgwcPhnTI5E5Psm3ZllxnLh23hOvxPQXsU4CtpgAFrF1A+kASCJAkJ2Zkwn85cVOpUiXIiSpj+6QfIHlk1IkEWIzLEz7LyQ45ISL9CwnIyOfSV5HjspwQkfdpSdJ/kGCNjASWkTISYElLOSldR4Ig0meS47+cXJIJeMVEgkrS95M+o7Es6Z/JhLzyufT9ZLlcQiWTA8sJMTGVS9SlTyN3KGzWrJnqj4iz5GWiAAXSLsDgStrtuCYFkhWQToKMVpCDX9xOwbNWlJEoMkRThqXK6AdjXvmjXSaIlQnXpFMhIzqMn8mz/JEuQRN5LZ0GCT7IQVT+IJcky02VJEihaRrkYC4HcQmGyNkYJycnyBmapLYjnREZ7SJ5x48fHztSR8p7/vnn1cgP6ajI8N+4ZbRv317NlyJnn2S55JezRNLxSm1nQCavkxEzEhSR+svwYDnbJJdMSdkJk5w1k+CYtFNGucgEdeIpZ7tk6LJsXwImCddL6r3sIxnxIvsxqTxxl0vnaPLkyeqacgmEyQTEsl9l8rxnWcctg68tSIBVoQAFKECBRAXkmC4nHmS0qAQC5FIbGekpJ1FkdIqMMDWuKKM45bVcziPPSSXpe8kxXvpixmO1HMM1TYMERZJaL7nl0o+R4IqmaZDgjvQVklsnPZ/LnDIJ2yoecsMACa5IX8RYvowglj6ijBKWEzDSbjnRJn0fWSYmUndJMjpH+j9iIiNxJa+xHD5TgAKpF3BI/SpcgwIUSKmApmmQQIcEFSTQghT8O3/+vJrYVv6olqBM3FVkvg+59lYuUUk4pDTh6AcJRMglJXJmRzoscctJ72u5NKds2bLqel/p8MikbRKkkHrJ9pIqXwJHEpyQESIJOwkyQkTOMBmDGHHLkKG9culM3GXSKRJXKTPu8uRey+R1EpyQkUAyZ4qMBJEzO7IssXUlcCQjXWTSPBlCK5cOyeVBMopIruGWM2EylDexdRNbJp08CZwl9llSy/r27avmp5GRQrItCRDJSJmk8qd3OdenAAUoQAEKZLSA9JPkuCxzt0mQRUatSkBATjTJpdJubm6xVZKTOfJGPpfnpJKUKYEQ6YtpWswo3ZSum1SZslzTNNW/g/5PtiH9Ef2l2f4vk+ImLFz6UtIfkVEtp06dUhPwiocEUiSvXBIkwRWpn1hKf0YCLxK8iptkTj7pS8kJJLlEWdZlogAF0ibA4Era3LgWBVIkIGcyJBgifxDLQSslK8mBTdM0dRu/hPkl2CJBEzl4Smch7udyCUnc95qmQQ6quTqCugAAEABJREFUcsBPmBep+CfrSoq7ikyoJnc8kstSpF0ytFQu85EJ4GS4qRzI4+Y3vpbAi9QnsVEb0tmRAIqsm/DMiXSopGNkLAeA6tRIWQnrFjdPYq81TYN01OSSHpnVXzpyMjRYtp1YfungyYgRaaeMlpHLnmTeGzmLJMEu2b7UObF1E1sm7ZRAUmKfJbVM9rdMjCfrymgVGZWUVF4upwAFKEABClijgPRj+vfvj6NHj6r51+RSYJlbTOYDkctxpS9lbJccfzVNg9zt71nHYDl2S+BAjqHSJ5P15Rgqx26Z307epyVJ/0pGrMgJExkVIyNh01JO3HWkTtKvibvM+FpOlhlfG5+lPXIiTkbEyuXNMl+LBFrET0ajyEkoY145ESR9MBmdIiOE4yZZLvO3yYhcTYsJQBnX4zMFKJA6AQZXUufF3BRIhQDURLVyuYsMX5U7wiQMGsQtTA6q8l4ObnJwlVEgxmWyXJIM85SRHXJAl4CDLDNVksCNbE8OwHHLlE6JpLjL5LXMUSLzpcgZEpkcTobuyjXNMpu91FPyJEwSVJHOk8x3ImdQ4n4u7+WaYAlypDb4ELeclLyWy6vET+Z5kRE0jRs3TnI16dxJh07yyqz7cjmOjCSRDp90rhJbUfZfYsuNyzQt5Z0XKWvNmjVqUl+ZAFecZF4a6TAay+MzBShAAQpQwJYE5ESSzKci88PJfCYyv5tc+iL9FGmnjJ6Vy6VlmSRZljDJySqZ/F2CDjLCQ/ogkkduEiABGeNlyrIssSTHX0mJfSbLpC8mfSE5SSOXa8uypJKx3pqmQU6UyLE8bl45iSIjkqXOcZcbX2ta4v0GcRAnuVOhBFZkNK70wTp06KAm5ZX1NU1Td6eU/qWcHJJ57xJLcnMC6YPJOkwUoEDaBBhcSZub7azFlphVQAIJchCXYIGcdZGJURMeOOWAKwdEOTDKwV46C3JWRQIVcW+vJwEOua5Wrj2Wg6kc1E1ZedmunL2QS12MnQk5+Mv7q1evxtuUHLiNgSI5ayOXysjZJrlURQJJcu1uvBX+eyMBHBnaKmd5pAPw32I1lFXOpshkbXJ2Sa4jNn5mjmeZQ0UurZE79cglTnKnn6S2IwbSEUp4Bkgug5LJcOOuJ2eRZISNrCP7Mu5naX0tHTYJ6kjnSSY4ltFCcqchmTNGvhNpLZfrUYACFKAABSxdQG6pLP0oOeEkl+gaR4hIf0Lu9iMnhOQWxgmPx9LXkolr5TIYOX7LCFXpk0l75TgqfR4ZvSqjbaXvI8uNSY7f0u+RS2medZyVedc6deoE6RPJ6Brpy0mfzliOPEs9pH8nI2zkvZyUkZEmUl85WSbLpM8ll4TLaBJj30qWpyRJWdI/kH6XnMSTiWylzyn9MumTSBnSL5GTM9LObdu2Qe4AKcuNSbYvy+Rz4zI+U4ACaROwiuBK2prGtSiQ+QJyQJMhmzIviQQdxo0bB7mERkZ7yAFdOgoyX4ksl+CLHFTlbI3klwCEnGGQMyty/bGctZF5QiTwIKNhjGdgTNVKudRHypQ/2uUuPHKAljsOybW40nmJux0ZzTF37lzIXYPkshmpn6wjnRG5DEpm5o+bP+5ruSRHhvPKxKzff/895C48MjJDRmNIm2VUiXwedx1Tv5ZOmYxAkTv/yN2DNC3xM0KyXXGRzpLcrUgCQpJkn8ndkYwdNcknSdotQS/pkImJBEGksyMdF/k8tUlGp3z00Ucq+CTXR8u8MDLBn8yvI/tJ7KQTmNpymZ8CFKAABShgDQLSj5JbD0tfSu6eFzeAIaNI27dvD5mPTCZ+//nnnyF9EjlOy4haOTEhwRi5jbHMdSaBDWmzvJZjq7yWY6vckVHumiP9ss2bN0P6WxMmTID0ayToIPkSS9Jnkrq1adMGf//9N+TugNKvkQCGHJ+l/zZ79mzINuRElZQhfTyZP0ZG28yZMwdSV+kDyV0eJcAiJ3MkX0qTpmmQvoH0myRYJCfx5O4/EvjRtJi+jRjKySRZLv02GWEsdZPRKxJ8kvaKgQR8Urpd5qOAuQWstXwGV6x1z7HeViMgM7HLfCQy873M0C5/lE+aNAljxoyBPMtBTf74bty4sRoqKgd/Oavy5ptvQq4Hljwyz4fcfk8uYRk+fDhk4ldTA0jQRobfyuzxcicf6ZTIQV9G0ciQ3Ljbk87KqlWrICMppG7SCZF2yagUuROODD2Nmz/uaznAS6dGrh/+7LPPlIMEWqStElSSs0Cp7VzELT8lrzVNgwRCZKSNPD9rHRlaK/tPAluyz+QWiBJ4knaIWdx15QySdLJkf8qZNLmDk3SqJGgWN19KXsskxBLQkc7eO++8A5lMV9M0yCgbMRYj+U5IBy0l5TEPBShAAQpQwBoFSpUqBTnxIpf3SCDCeMJHRqFKf0UuS5Z51Ix9ElkmfSvpc7333nuQ47iM5ojbdrmVsZzYkgnzZdSJ9LXkGC8BEgl0yOXAErTw8fGJu9pTr2VSWZmDTU7UyOgRCZhIuVLWtGnTIPUtW7YsZDJ9WVkuSe7Xr5+6A6LUcezYsZCTVdJvkBMncvJH8qUmSfkSfJL+gNS7efPmT925USykPyLBIAkgSTBK+m/Sp5G+hIyskRNJqdku84IEFHhKgMGVp0i4gAKmF5AOgARMjAcz+eNYDuwyUaocgOVgLgdDObsgW5fAw7vvvgsJcEjAoW/fvvjggw/UWZEXXngh3mS3L7/8MuQPefnDXtY1JilDLn2R9eMGEOSgPnr0aMgwWWNeeZazKdJBkUCHBHBkm8OGDYP8YS91lBEn0g7JK7fyk86DDMl99dVXIZ0KCSTIMjkjo2kxZ0sa6wEj6bDIkFVZT5K0UdaXUTlyoBcHqaMc4MVFAkiST5IEkaSu0ma3OHcJkM9kiKsEZ6QzIu+flWSUihgldy2xBIekvrIvxEPKlKHD0jZxkf0lLu+//z6kMyXLxcxYrgzBleCQ7DfZprRT7iokbZbPpJMngSUpN2GSjpG0VbYtbZUgm7jJWS/ZppQh60g5cutFqadsS86cyXImClCAAhSggDUKaJoGOVkho0mlT5OwDXI8lOOdfC6jSeXkgjGPBEfk2CrHXem7SJ9ELlOWY630ueQYbOy7GNeRZwlidOnSRZ3kkhNEckJL+iPSb5K+ifTLJBAhk8hL/qSS1E3qLv0Y2Z70D+SYLX2mwYMHq36bBFAkj5Qh+WXyWKmvbEPqKv0F6U/JulKGnPiRvJJkIn3pB0ifTt4nliRwJP0wySepXr16kL5CTN6YR+lDlC9fHuIi25X6yjrSr5H2iqGMfonJzUcKUCCtAgyupFWO61EglQJyIJehqHJrPAlwyB/lcgCWg7ccdOXAZyxS0zTI2RIZwil5JOggHQT5A1z+8Dbmk2f5Q1vKkvzy3pikQyCBDplTREbPGJfLMpm0TM5iGJcZnyWfXNssnQs56EoAQzouMhqjadOmsWdC5EyNvJcRHVI36RzImSFpX9xOj9RXOhglSpQwbkI9Sx6ZBE7Wlw6NbEsCMQnrJIENqasEGYzBDlWA/iBngWS7MpJDf/vM/4ux1DNhGQlXkrNj0rmS7UkdjZ9LPaRjJ2VIXcVFgkDt2rWDTGwbd5/IUFwJkEjdpMMknSvpTMn+7dixI6Q9xnLjPkunRoIx0umSTpHUVd7LNmW/xM0rHSn5bkjALiXtj7suX1OAAhSgAAUsSUDT+zz58uWD/KFfp06dRKsmx2HpM8jxPO4xV9M0yDFR7o4jx0Q5ZkofRi4XkiBF3LwJC5bjsvRPpEzpa0lfSvpn0k+T0SDPWjdhWVIH6ddIMETaIWXJZbxNmjSBnPzStJiTTrKeHOPlxJB8LvWV/pP0tWTSXekzSR9L8kmSy8AHDhwY2/+SZYklOTkk25X6JzV6WPoiUhfpB0pfRrYtwShpv7RX+qmJlc1lFKBAygUYXEm5FXNSgAIUoAAFKEABCtihAJtMAQpQgAIUSE6AwZXkhPg5BShAAQpQgAIUsHwB1pACFKAABShAgUwUYHAlE/G5aQpQgAIUoIB9CbC1FKAABShAAQpQwDYFGFyxzf3KVlGAAhSgQFoFuB4FKEABClCAAhSgAAVSKcDgSirBmJ0CFKCAJQiwDhSgAAUoQAEKUIACFKCA5QhYVXAlIjIK/oEhTDTgd8A6vgOp3k/BIeGW8+vImlCAAhQwgUB0dDQePHiAS5cu4caNG7h58yYTDfgd4HeA3wF+B/gdsJLvwNWrV9Xx22AwJNsrsKrgys8b/0WeBu8x0cCE3wF+nyzpv6leHy5GaCSYaMDvgI1+B8Kjku2X2FyGkJAQfPXVV5BbpcrtYk2d6tatC1OXyfLqP2Uqt8StV6/eU8tp9bRVekzobFrPZ+0LsZb0rDz8zDT7Q347aG0ay2d9J83lXLt2bQwePBj+/v7J9lEcks3BDJkvwBpQgAIUoAAFKGCVAk5OTnBxccGgQYNw9OhRnDp1ymTpxIkT+OuvvyDPpiyXZT29j44dO4bdu3fT2oTf34Tfs5MnT+Lw4cP4559/IK8Tfs73T38v02oivgcOHIAkeZ3Wcrhe8vtEfOU7Ld9teU2z5M3SYiTHwT179pj8OHv8+HHMmTMHcix3dXVNth9isuBKsltiBgpQgAIUoAAFKGBnApqmQdM0FWDx9PQEk3UbZMmShfvQTN9jo62HhweNzWTM35/M/f0xfsdtZT9YUjvE1ly/HW5ubqrnommaen7Wg8OzPuRnFKAABShAAQpQgAIUoAAFKEABKxRglSmQoQIMrmQoNzdGAQpQgAIUoAAFKEABClDAKMBnClDAVgQYXLGVPcl2UIACFKAABShAAQpQwBwCLJMCFKAABZIVYHAlWSJmoAAFKEABClCAAhSwdAHWjwIUoAAFKJCZAgyuZKY+t00BClCAAhSggD0JsK0UoAAFKEABCtioAIMrNrpj2SwKUIACFKBA2gS4FgUoQAEKUIACFKBAagUYXEmtGPNTgAIUoEDmC7AGFKAABShAAQpQgAIUsCABBlcsaGewKhSggG0JsDUUoAAFKEABClCAAhSggH0IMLhiH/uZraRAUgJcTgEKUIACFKAABShAAQpQgALpFGBwJZ2AXD0jBLgNClCAAhSggOkErl69iokTJ6J27drIkycPvvnmG4SGhia5gfv37+Ozzz5DhQoVULp0aYwZMwa3b99OMj8/oAAFKEABClDA/gQYXDHVPmc5FKAABShAAQpYhYAEUrJly4aBAwciZ86cCAsLS7LewcHB+OGHH/Dbb79h9OjR+Pzzz7F161YsWrQIfn5+Sa7HDyhAAQpQgAIUsGGBRJrG4EoiKFxEAQpQgAIUoIDtCpQtWxZvvfUW+vXrp4Irz2qpjHI5cOAAOnXqhB49euDll19G37598c8//yQ5eiU6OhrGZDAY1OtnbSM9n8l20rM+102dAL1T5xWb2xAJhAcAoY+fmbQwP2jhT56ZJ7ky+PmzjZVP2GOINfRnlZI06V8AABAASURBVJLZL2od5knz9zLWOhMM7WHfGUL8EBLgD0Oof8zvR7Qh9qcno18wuJLR4tweBShAAQpQgAJWI/D48WPI6JVSpUrF1rlixYrw9fVFQID+x2Ls0pgXUVFRuHXrFo4dO6bS8ePHcffuXUiQJSIiAqZOsj1Tl8nyEt9PkZGRJt9/1modGRqAqCfXYXh8OWXp0gZEr+uK6KUVEb24XJLJ5Yeq8F5VG1hSPsk8z1qfnyVtG9cGi8vDfWUNeKysCXkd97NMeG3T+1q+y176d9r1h2o23c7M/N5cmV4bE1/pi3MzOwArmyIi4J5Jf6vltz/mCJ/8I4MryRsxBwUoQAEKUIACdioglwyFh4fD09MzVsDLywsS1AgJCXlqVIosW7ZsGQYMGKDSm2++id9//13N6eLv7w9TJwn8mLpMlhd/Pz158kTtt6CgIPVssz7SznuX4X95D/wv/f3MFHRwHgyr2gA/1AFW6MGQZJK2oRu0q39CC7wNLdRXT4+TSI/gEPY4ic8yc7ntbVucJWmhttc2S2tTjPMjfq/N9F07ec0V28/kxdoj+fHELxgB/jG/2f4mOubKcTa2A5DMCwZXkgHixxSgAAUoQAEK2K+Ag4MDJMU9cyWvNU2Do6MjEv6TIMzIkSPx999/q7R9+3YVZHF3d0f27NlNniTQY45yWWb8fSVz9Hh7e5t8/5nUOb3fr2w+yH51ObLv7IXs27s+M2U9NBrOj0/CIfQBHCIDkk0aogEnDyBbKUSXeAnRZTo/nUp3RlTJTggv2h7R+utE8yS2Hpch1Va6b0TxDpBE60S+i6b8TunW4cXa69/tjqC1aaxDCrfHZefmuOvTSpm++FJVvPdaDnTrWBDeFV5Atpx5TfpbLcdZpPCfQwrzMRsFKEABClCAAhSwO4EsWbLAzc0N9+/fj2273CnIw8MD8pmmabHL5YWmaXBxcYF8LkmCLfJe0zRoGpOmWZ+BBNckaZqmAm2aZuFt0AMZ2pPL0K78Ae3yutSlk4ugBd6KOcMeEQQtiQQHZ8DFC8hXG6jYT0/9k0+VXwcafg6t1TJorVc8ndqsQESLxQhqPB9o/f3Tnye2DpelyUl8w5p9B0nyOtH9Qds02Sa0FN/gxgv07/YSaPp3POHnfJ/Ib0ES3z20+h4Pay3A7+FjMGZvf/zo9yECGy6C28vL0HnMJBTp9gnQdBY0Nx+TH2+Rwn8OKczHbBSgAAUoQAEKUMAmBOSSHhku/PDhQ3VdtlzuYZxDxWAwYN++fSpJY/PmzYtChQqpCWwvXrwImeBW7hZUsmRJdWZM8jBRwKIEosKAQ9OBTXrA488+QEqT5A++C2iOQLbSQPVhz041hgONZwLN5gLNU5CafAmUfBlwzgL+owAFKJAagYgIA06cuI8vv9yH0aO3Y/v2K3jyJBTBwRGpKcbseR3MvgVugAIUoAAFKEABEwuwuPQIyCS1K1aswIQJE3Dt2jVs3LgRU6ZMwW+//aYmnpU5U+Rz2UaePHnQqlUryOS106ZNw6effqomrG3Xrh3kM8nDRIEMEQjzA65tAY7qgYwjs4Ek0xzg/C9A8H0gIhCIjkp5ksCHVyGgYl+gwdRnp3rjgfx1oZ8iBv9RgAIUMJdAUFA4fv/9DMaM2Y6vvz4Ib29XvPtuHfTuXRm5c/9/PjRzbT815TK4khot5qUABShAgZQLMCcFLFTAyclJ75DlRpEiRfQO2ruQQEnx4sWRM2dOddlH27Zt0bp1a1V7Z2dnPP/88xgyZAhq1qyJypUrY+jQoWjSpIm6XEhl4gMFMkLg4Ulg32Rg90fA389I/0wAQh5BXbqT9zl1KY5cjpOi1OhzPaDyCVC2e0a0iNugAAUo8EwBgyEaCxb8i7Fjd2Lnzmto2bKkfjKkKQYNqoUSJbLrsV3tmetn9IcMrmS0OLdHAQpYlAArQwEK2J+Aj48POnXqBJl4Nm6SgIrMrSHPMlrFKCPzptStWxdy55/BgwejcePGSM0Ed8Zy+EyBdAkE3gYengDC/PViDFDBE5n75KnkArhlA7KXASoNAKq8mfJUWc9bthsgo1f0rfD/FKAABTJbIDLSgPDwKHz44fMYN64RWrUqpUavZHa9Ets+gyuJqXAZBSxLgLWhAAUoQAEKUMDeBaL1gIokJ3c9WDIYaLMi6dRa/6z5PKBEO3tXY/spQAErE7h3LxD79t1EVJQBDg4aeveuggUL2qrRKuXK5VLLLLVJDK5Y6p6xunqxwhSgAAUoQAEKUIACZhdwcAJyVQaKtXpGagkUqA+45zR7dbgBClCAAqYQiI6Oxs6dV/Hmm+sxePAGXLjwSBWbN28WNG1aDNmyuan3lvxgX8EVS94TrBsFKEABClCAAhSgAAUoQAEKUMDOBOTOPzNn7sPbb/+JP/+8CGdnRzg5abEKmvb/17ELU/Iig/MwuJLB4NwcBShAAQpQgAIUoAAFkhS4/Afwc1NgRe34ac8YIDwwydX4AQUoYJ0C9l7r48fvYfDgPzB58t9qtMqgQTXx44+dULRoNqujYXDF6nYZK0wBClCAAhSgAAUoYLMCe8cCN/8C7h2Mn/wux9xS2dEVcHC22eazYRYpwEpRwCwC69efR58+v+Pnn08hVy4PLF3aHpMmNUGxYtng5GR9oQrrq7FZdisLpQAFKEABClCAAhSgQCYI3NwF/NICWFAImF8AuH9ED6IYYgIoXoUBY/LWX2crBZTrAeSrnQkVtfRNsn4UoIC1CWTP7o7s2d3QqVM5rFnTDV26VICXlyus5CogJPzH4EpCEb6nAAUoQAEKUIACFKCASQSigcgQINQXCHkIJJZOLgJu7wYCbgJBd2O26ugCFNEDLq9fBeKm/ueBJl8CWYvF5OMjBShAASsRiNZ/DoOCInDhgi+uXHmsal2nTkH88ENnzJ/fFmXL5rTaoIpqjP7A4IqOwP9TgAIUoAAFKEABCsQI8NGEAhF6YOXQDGB5DWBJxcTTuZV6ACYUkMt9ZESK3OWnaEug1nsmrAiLogAFKJB5AlFR0bhx4wnmzDmAFi2+x6xZ+xEWFgkHBw158ngia1bLvxNQSvQYXEmJEvNQgAIUoAAFKGBJAqwLBaxDICIIOPEt4H8NCHkAhOlnaxOmaAPgpP9hkbcW0PEPoOtfQPs1QMFG1tFG1pICFKDAMwRktMrevTfw1lt/4OOPt8PFxRHZs7sjODjiGWtZ50cO1llt1poCFKAABShg6QKsHwUoYNcCgbeB23v1gIo/oOldbu+iQJmuiadyvYDnRgHOnuA/ClCAArYgEB0djStX/LB06VH06rUa27dfRZMmxTB1alN88EF9ZMvmbgvNjNcGh3jv+IYCFKAABexLgK2lAAUoQAHTCgTeAi5vAPZPBba+CYT7AXJ3n0JNgFbLEk8vLASKt47JZ9rasDQKUIACmSKgx1Ywf/4hvP32n3B01PDaa9Uwa1ZLdO5cHq6ujplSJ3NvlMEVcwuzfApQIN0CLIACFKAABShgNQInFgFb9KDK0a+BoHt6tfXutldBIFdF/TX/TwEKUMC2BQyGaNVATQNy5vRA48ZFMXZsI0ye3FRNWqs+tNEH/dfeRlvGZlEgYwW4NQpQgAIUoAAFKABc3agHVW5D3fYiS36gXE+g7ligVEfwHwUoQAFbFZAJav/66yrWrTuHJ09C9Z9ADa+/Xh3Tp7+Avn2rwtPTxVabHtsuBldiKezhBdtIAQpQgAIUoAAFKGBWgahwQE7cuuUAGk0Hnp8IlH8V8Cps1s2ycApQgAKZJXDnTgAWLz6KMWO2Y9y4nTh3zhcygkXuAlS1at7MqlaGb9fygisZTsANUoACFKAABShAAQpQIJ0Cj84CBz4FAm/oBenRFRcvoGx3wLuI/p7/pwAFKGB7ApGRBhw6dBuTJ/+NTz7ZjfPnH6F+/cLIlcsDcllQilpsQ5kYXLGhncmmUIACFKAABShAAQpkgEDQXeDYfGDzG8DGfjFpy0Dg0HQg+EFMBZxs704YMQ3jIwXsT4AtflrgyZMw/PTTSYwcuRnff39cBVQmTWqCDz+sj8KFffTgivb0Sja+hMEVG9/BbB4FKEABClCAAhSgwH8C4YHAmR+ADd2BtR1TnBw3vIIs2/vq+TvpSV9P1v9nInB6OXBWL0/Srb+BEF8g2gB4FQIqvf7fRvlEgQwR4EYokGECcsnPgQM3MWnSLhw7dg8vv1wGM2e2RI8elVCwoLe6O1CGVcaCNsTgigXtDFaFAhSgAAUoQAEKUMCMAkF3gEOfAxdWA5fWpzg5XNkA15sboV3+b52beiAl6DYQFQo4ugGuPoB7TkAuAaqnB106b9aDK/3N2BBrLZr1pgAFbEFA0zQUKeKDjh3LYuzYhvjkk2aoW7cgsmRxsYXmpbkNDK6kmY4rUoACFKAABShAAQpYlYBMNhtwSw+KROhBEf2PAPccelAkQUpkWbRbDhhccyDa+JlHLqgJaiu9BnTZArx6LCb13A/UHAFkLwu4eFsVDStLAQpQ4FkCwcERmDNnP/btuwk9toISJbJh9OiGGDiwJvLn94aTE0MLFHjWN4ifUYACFKAABShAAQsUYJVSKHBpA7C8OvBdyZi0uhUQ6gs4uQGV3wBeu5KiFNn3PB53/hcYcPn/+fufA5rPBfLUAjzzxiSPPICzRworx2wUoAAFrEPg/HlfNG++DCNHblV3BAoKCoejo4MaqeLu7qyCLdbREvPW0sG8xbN0ClCAAhSgAAXsVIDNpkDmCxyYAtw/Avhd0pMeGAm4CURHx4xakZElEmRJaZLLfxLmdXAG/6oA/1GAAjYoID+VYWFRmDfvEKpXn48DB26jaNGseP/9evD0dLHBFqe/SQyupN+QJVCAAhSggNUKsOIUoIBNC4QHxTTP0RXIXTUm5akBlO4ClOoY8xkfKUABClAgnoBMWHv+/EP06rUKw4ZtVKNUevWqhF27+uGFF0rGy8s3/xdgcOX/FnxFAQpQwDIFWCsKUIACFEifQNaiQO/DManXQeCFhUCuyukrk2tTgAIUsFGBgIAwjBixGRs3XlJzq8yd2xqLF7+M3Lk9bbTFpmkWgyumcWQpFLB7AQJQgAIUoAAFKEABClCAAtYpEBISiaCgCMiolaxZ3dC5c3m8+mplrF7dFT16VIamadbZsAysNYMrGYjNTWW6ACtAAQpQgAIUoIA9CIQ8BG7tASIC7KG1bCMFKECBNAtER0fj/v0grF17Fr/8cgp37gSqsnr2rISvvmqFsmVz6oEVtYgPyQgwuJIMUMZ/zC1SgAIUoAAFKEABCqRL4NwvwOYBgP/1mGJk4tmYV3ykAAUoQIH/BMLDo3DixH3MmrUPH364DbNnH8ClS76QgIuzs6Oaa+W/rHxKgYBDCvI8nYVLKEABClCAAhSgAAUoYCkCIb7A1c3AyUXAiW9jnv0uAtEGwC0bULChpdSU9aAABShgEQJ+fqFYu/YcPv54h7ojkI+PG7p0KY8iRXzZaWjXAAAQAElEQVT0+iW4BEhfwv8nL8DgSvJGzEEBClCAAhSgAAUoYMkCt/cCe8cBO0foaTjw4ChgiALcswP1JgLV3rbk2rNuFKCACQRYRMoEZFTK9etP8OWX+zBu3E7s3n0dLVoUx6RJTTB4cC0VXOH0KimzTJiLwZWEInxPAQpQgAIUoAAFKGBdAn4XAN/TQNgTqNEqzp6AR26gTDeg6mAgexnrag9ra6sCbBcFMl0gOlqPPz8IwvLlxxERYcC779bRgyyN0apVSXh7u2Z6/ay5AgyuWPPeY90pQAEKUIACFKAABaBGqURHARJUqfU+8OIiqNst1xwOaA7gv9QIMC8FKGCLAo8fh0BGrTg4aChc2AcjRtTF55+3wKBBtVC+fC7Or2KCnc6jjQkQWQQFKEABClCAAhSgQAYKJLUpRxegYAOgVEegRDsga/GkcnI5BShAAbsQkIDKrl1X0b//Wqxff161OUcOd7z6ahW0bl0K8lot5EO6BRhcSTchC6AABShAAQpQgAJPC3CJGQXC/ICTi4F1rwC/twdOLQEiQ824QRZNAQpQwPoEAgLCMGPGPxgy5E8VWPnpp5Oxo1eyZHGBszPDAabcq9Q0pSbLogAFKEABCliXAGtLAesU8L8O/PsFcPF34MoG4NFZQC4LcnQFNEfwHwUoQAF7Fzh+/B5ef30dpk3bg/PnffUASy1MndoMmsY7AZnru8HgirlkWS4FKEABCphIgMVQgAIU0AUkeHLmR+DHesC6zjEBFUMk4OgGeOQBvIsA5XoCPiX0zPw/BShAAfsUCA2NxNKlR9Gr12qsXn0WWbO64qefOmPSpKbqTkD2qZIxrWZwJWOcuRUKUMDWBdg+ClCAAhQwr4AEUv6ZANzeBzy+AMh7V2+g9ofAG9eAAfqyhp8CWfKbtx4snQIUoIAFC/j6BmPduvM4ffoBOnUqi02beuHll8vAy8vFgmttG1VjcMU29iNbQYEUCTATBShAAQpQwGoF5P6h4U9iqi93BcpeDijZAWriWgdnQJK6JEiLycNHClCAAnYgID+NERFRCAuLVPOpFCjgjXfeqY0//uiJ+fNfQokS2eHgwN/FjPgqMLiSEcrcRmoEmJcCFKAABShAAQrEF4gMAYLvAtEGwMEJKPoC0O800HIxkLNS/Lx8RwEKUMBOBKKiDLhx44matPbddzfh6lU/1fIGDYrghRdKwNvbVb3nQ8YIMLiSJmeuRAEKUIACFKAABSiQYQInlwArmwAhD/7bJLuw/0HwiQIUsFOBoKBw7NlzA2+//SfGj/8L+/bdwpEjehDaTj3M2+yUlc4jU8qcmIsCFKAABShAAQpQILMEjs0F/K/GbN3VB8haLOY1HylAAQrYocC1a0+wdOkx9Ou3Bjt2XEXDhoUxZkwDtG5dyg41LKfJDK5Yzr5gTShAAQpQgAIUoAAFEhOICI5Z6pYDqPIGUKFPzHs+UoACViXAyqZf4ObNJxg3bgdGjtysCuvfvxq+/LIlOnYsBzc3J7WMD5kjwOBK5rhzqxSgAAUoQAEKUIACSQkE3wOu6n84nPsZOLcSiAjUc2qAV2Hg+clAzor6e/6fAmYRYKEUsGiB27cD1WiVevUK4eOPG2LixMYoXz6XRdfZXiqXIcGVqKgo3Lp1C6dPn8alS5fg7+9vL75sJwUoQAEKUIACFKBASgWCHwCXNwAHpgE73ga2vBmTQh4CemwFjs7gPxFgogAF7EUgPDwKhw7dRmBguGpyrVr5MW5cI3z6aXP06VMVXl6uajkfMl/A7MGVBw8eYN68eRgzZoweVZuofxHGYdq0adizZw/Cw2O+IJnPwBpQgAIUoAAFKEABCphUIC2F3dwJ7B0HHP0aeHQOCPMD5A5BzlkAjzxA4eZpKZXrUIACFLBKgbt3A7F48VGMHr0Nv/56ChERUdA0DXIpUM2a+fXXVtksm620WYMr0dHR+Oabb/D777+jVKlSaNGiBWrXro27d+9i4cKFOHr0qM3CsmEUoAAFKEABCli+AGuYQQIPTwL7pwK7P3p2kqCK5I2KANyyA2W6Ao1nAE1nA02+BCq/nkEV5mYoQAEKZJ5AVJQB+/ffxOTJu1Q6fPgunjwJh/7ndeZViltOVsDswZUVK1ZgwIABeOedd9TzwIEDMWTIEP2LEY1jx44lW0FmoAAFKEABCti5AJtPAesS8L8ONfJk+9vAtiExSV4f/Bz498tnp1t7gaiwmMBK3bHA85OAiv2BCq/GBFq8i1iXBWtLAQpQIJUCjx+HYsWKE/joo23qjkB582bBlClN0blzeTg7m/XP91TWlNkTCph97zg6OqJixYrw9PRU23Z2dkbBggWRN29eFWBRC/lAAQpQgAJWLsDqU4ACFPhP4Pp24PAs4MS3eloUk27sjLnEJzIEcPZIOrl6A575gNKdgFIdgWylAM0R/EcBClDAHgRu3w7A7Nn7MX78TsholU6dymHGjBfQq1dlFCjgBU2TyafsQcI62+hgzmprmobXXnsNX3/9Na5evao2JZPZbty4ETLJba1atdQyPlCAAhTIEAFuhAIUoAAFzC8QdAcI1FNUKODkBrh4Ae45ARl10uBToPPWZ6dOG4G642KCLOavLbdAAQpQwGIEPDycERYWCU9PF0yY0BgTJzZBvXqFIMstppKsSJICDkl+YoIPZM4Vmcz2p59+QtOmTVGhQgVIQOWDDz7Ajz/+iL59+6JmzZoqHT582ARbZBEUsH4BtoACFKAABShg1QIyAS2i9aBKVuCFhUDP/TGp619AtSFA7qrPTrkqA1nyAw5OVs3AylOAAhRIiUBAQDhOnryvsnp7u2LgwJr45ZcuGDCgGgoVygonJ7P+ya62ywfTCJh1T2mahmHDhmHKlCkYMWIEBg8ejLffflvdOeijjz7Cm2++if79+6sklwmZpkksJQMEuAkKUIACFKAABSgQIxD8ADgwDfi+FrBUD4wcmQ3I5T+a3s2US3yyFgMkycgVuetPzFp8pAAFKGDXAgZDNI4fv4cOHX7S/y5ejyNH7sLBQUPBgt4oUyaHGr2i/zlt10bW1nj9qGe+KmuahkGDBqmgigRWEib5zJjy59fPUJi0KiyMAhSgAAUoQAEKUMAsAqe/BxaXBxYU0QMqFYHdo4B7h4CHJ4Dge4CMXnFy5+gTs+CzUApQwNoF5AqPb789jIYNF2PHjqsICYmAv3+oapamaZxbRUmk9iHz85sluHL37l01p4o079atW0gqBQYGqi+OpmmSlYkCFKAABShAAQpkiEBkZCSCgoL0zqw/pD8i75PasMFg0Du+ISqvzB0XHBwc289Jah2bWn5tG/BzE2B+QeAb/WSYpD97A4/OAAHXgZCHenP1vpyDM+CZF8heFshVFaj2FuBTQv+M/6cABShAARGIjDTg2jU/dOiwEgMHrpdF6NOnCjZs6IFGjYqq93ywXgGzBFfat2+P69evQzojzz33HGrXrh0vyTJJP/zwg/XKseYUoAAFKEABClilQHh4ONauXYsuXbqgRo0aaN68OX7++WfI8oQNkgn4Dx48qHeCB+L5559H3bp10bt3b+zZsyfR/AnXt4n3Z/X+2p19QOAtIPh+THJwBBxdAS894JK3FpC/rh5MGQq8shPodwZ49Qjw3AdQE9naBAIbQQH7EWBLzSewd+8NNGmyFH/+eRElSmTHV1+1wsKF7ZAvn5f5NsqSM0zALMGVb7/9FgUKFFCjUuT1qlWrVCdGOjKS1q1bB0kShMmwlnJDFKAABShAAQpQQBc4cOAAFixYgDp16mD16tXo2bMnRo0ahdOnT+ufxv+/jL5dsmQJZGTLsmXLsHLlSvj4+GDOnDm4efNm/My2+k7u+iOX+Ti6AIUaAUWaA4X1VLYb8NIqoIceeOm2G2j8BZC9jK0qsF2WJcDaUMBqBAyGaMhlQFJhNzcnZMnigjZtSuGPP3rg1VerwNFRk4+YbEDAwRxtqFixIlxcXNSQ2T///BNFihRRZ4Zq6GeH4qY8efKYY/MskwIUoAAFKEABCiQqIB3c3bt3I3fu3GrkSqVKlTB06FCULFkSiY2olUuAQkNDIfnKly+PMmXKqD6NwWBAREREotuwmYXhAf/NofIwZg4V12x6MOVXQG6VLKnlEiDfczbTXNM3hCVSgAL2LCDHm/v3g3DgwB3cvRsMgx5kee65Apg3rw1+/LEzSpXKYc88Ntl2swRXjFIODg7YtWsXHj7UD8rGhXymAAUoQAEKUIACmSQgAZHbt28jV65cyJ49u6qFpmmoWbMmjh8/rt7HfZAgTNWqVXHq1CksX74cK1aswD///IN69eqpMuLmNb6WS4lkO8Yk742fSWfb1EnKTnOZ0TFnVBNbHzd3AduGALf0Z0Mk4OCEaH1jieXlsqQdaZNyG/3rpf5Ps5SbpcVKkI3rxX1tXMbn9PuHhUXi5Mn7mDVrvx7A34p16y4gKChcjWCpV68QXFwc1Gtap9/aaCjfZUnG96Z4NpYnzylJZg2uaJqGBg0aqI7Iv//+i8uXL+PatWuxSSaFS0klmcd6BdxcnFG6SG40r1sOr7SsgT4v10UX/blu1eLw8XKPbZj+VUG2rB6oVq4w2jSqhB5tnkOvl2rj5aZVUL5EPsjniPPP2ckRhfJmQ4MaJdGxRTWVt1vrWmhauwxyZ/eCQ8IV4qzLlxSgQOYKBAcF4cTxY9j4xwas+X01tm3dguv6sSFza8WtW7KAKesWFhYGSe7u7nB2do4t2tvbG0+ePIl9b3zh4eGhRrWEhITg999/h1zqLCeN5PJnV1dXY7bYZ5m3RU4sffPNN5Aklx/JnC0SaJFRMKZO0haZmNcU5Yb4+yLixl4YzvyI6NMrYDixCLh7CIgMQ7STJ8JyVEVIaARMsS1rK0P2v1hbW72tsb4yUswa621tdRZn+V6b6vfD2tpvzvrevv1YP16cwUcfbcO8eQf1Y000DIZwBAYG2eXvpzmt45Yt3+m47031Wn77Yw/yybxwSObzNH8s1zBLA2Vi2++++w4ffvghxo0bh/Hjx8cmOfOT5g1wRasQqF6+ED54rSXGDGyN1zs3QJ/2dTGsdzNMfac9BnR6Hvlz+0D+ubk6o03DSpgwtC1G9G2B/h2fx2ud62PsoDb6spf0IEtVyRabCujrDe3ZRH0+tEcT9OtQD2/r7ycMfQnD+zZH8UI54eCgxebnCwpQwDIEAvz9sWnjn5g9ayaWLV2MVb/8jG++no2v58zCqZMnLKOSaasF17ISAWc9oCJJgiBxR5RIJ8zT0/OpVty4cQNyibNcEjRjxgx8+eWXaNiwIX788Uc1eX/CFQwGAx48eIBLly6pJCeWHj16pHesDepyadmmKZNsz2TlPTqP6H8mQts2FNg2GNrl9UBkCKJdvGCo9BoM1UciUnM2SztM1oaoKNaPBvwOJPMdkDmk5L85k/5+JLNN2Z6tp7CwCJw+fR+zZ+/D2LE7sG/fTTRtWgyjRtVGhw6lcwWt+AAAEABJREFU4OnpxO+mGb8n5vo+S7kJj/VJvTdbcGX8+PGQSKjMrD9y5Eg1E7/MxVK2bFkYU/b/huMmVTkut36BPDm94RcQjB83HMT0xZsx/ut1mLV8G27e98Pg7o3R+YXqKgji4uQELw83nLl8F4tW7cEnC//EpHkbsPDX3WrkyqS3X0bZYnljQdzdnOHs5IhNe06r8iZ9swGffrcJx8/dwista6KfHpzxcHOJzc8XFKCACGRukuGZBw8ewA8rlsPDwxO9X+2LIW+9g05duuLwv4cw56svERAQkLmV5NZtXkBGm8ilPr6+vrEjVeS7KZf9yHwqCQHu3bsHCbDIZUPyeYkSJdCoUSPcuXMHfn5+CbPDzc0NHTt2xLRp01SaOnUqXnjhBch2s2TJAi8vL5MmGYFjqjKzaIFw9T0Mh/DHcIiOgObkBrjlgFb0RTjUeBduxRrBy9vHpPU3Vd3NXY7sOw8PD7tsu7lt45YvzhLkjLuMr037m2H0FGdJxvd8Tr9zRIQTfvvtEr777hQcHR3x1lu1MXFiY7RuXQq5c/vw98PEx7+E31lz/EbLb5IcZ5862CexwCGJ5eleLDPoS5Tngw8+QFKpVq1a6d4OC7BsgX3HruhBlS16kORvFQjZdegCVm0+grk/7kRoWAQa1iqF7N6eCA4Nx9odx/DZd5uwYsMBbNt3VqVv9eDKivUHUKJwLrxQr1xsY2/cfYyvvt+OOT/sxJrtx7DzwHms1Z8/1wM48lmnFtXg6e4am58vrEiAVbVZAflDdN/ePYiKjET7jp3Q4sWWqF2nrh5ceQVt2rbDgf379PSPzbafDbMMAU3T1Pwq9+/fx9atW3H16lWsWbMGJ0+eRPv27SFnVpcuXYpt27apCkvHSjrJMtr24sWLKv/OnTv1AKEH5DOVKcGDk5OTCqZIQEWSvJcsmqZB0ywoIRra7b3Q9o6D9vcoaCe+BWQSW0c9qFK6C9D8a6DZHKD2R9Cy5LWsuluSI+ti0u+GRf63wn1s0n2saRb0O2jCuri5OaFQoaxo1qw4Jk9uiiFDaqF8+dxw0k8Ia5pttlnTLKdd8tshSdNMXycpNyXJbMEV2bgEWOLOsZLwNedcESXbTncePIEkgyE6tqFRBgPuPvDHQ78geLi5QEahRERG4dZ9P/jqy+QMojFzZJQBJy/cgqYvyJkti/4Y8//A4DBcveWrAjQxS2Ier91+hMf+wcjm7aFGxMQsNf0jS6QABVIvcPvWTVy5chklSpVCseLF9c6GkypELtFo0/Yl9Uft7l271DI+UMCcAjIZbcuWLbFlyxbInYJkbpS+ffuibt266vKdX3/9FXJHIalDcf272rlzZ3WJz3vvvYfhw4dD5pHr3bs3ChcuLFmsL937F/hrJLB1ELBjGHD4S+DIV8ClNUBUGCAjVvLVBcr1Asp2A3JXBRxdra+drDEFKEABMwvs3XsDCxb8C/n7xdvbDa+8UlGNVmnbtjRy5PAw89ZZvKUJOJizQm+++Sa6desWL3Xv3h3GtGHDBnNu3t7Lttj2Ozo4IH/urCicLzvuPfTHg8eBeNa/RrVK6z9YwNFzN5+VTX1WrnheNaHt2ct3IQEbtZAPFKCARQg88vWFpHz58sPbO2u8OhUtVhxyhv/ihQvxlvMNBcwh4OPjo/oio0ePxogRI9RccIMGDYKnp6cK+k2YMAE9e/ZUm/b29sZLL72Ejz/+GO+++y6GDRuGsWPHQgIu8pnKZG0P/84Ejs8HTi0F7h2KGa1iiARcvAGPPEDBBjEBFWtrF+tLAQpQIIMEgoIiMH36XgwcuB5ffPEPJMiiadADKu4oXToHXFwcM6gm3IwlCZg1uPLOO+9gzJgx8ZJ0ZIypdu3almTBumSQQI5snni3T3MEhYTht21Hnxp9ErcazeuWQ8cW1XHo5FVs2XsGz/rn7emG/p2eV0Gb71bvQUBQ6LOy8zMKUCCDBUJCQyFJ/oB1cYk/J5KMXvHMkgV+fo8yuFbcnL0KyLxv1atXR5MmTVCnTh29Q5wDmqapJMtLliwZSyPXdVeqVElNZNuwYUNUqVJFDxB6q7yxmazhhdz5Z/PrwGX95Fa4fmLDEBETTMlTA2g+F+iyXU9bgaaz9eBKNWtoEetIAQpQIMMFTp68hz59fsO0aXtw9uxDtGpVCmXK5MzweljnBm271mYNrjRt2hQvvvhikqlo0aLP1A0LC0NgYGBsCg0NgRrC8My1+KElC7i5OmPCkJdQs2IRNcnt5j2nk6xujfJFMHVYe8hlREMm/fjMYIm7Xu6bXRuiY/NqWPnnQTW/S3i4fhYuydL5AQUokNECMmQ2OtoAB80h0T9KHRwc1H/vGV0vbo8CdiMgc6qc+xkIexLT5OzlgJ4HgA7roC4BylUJyFkR8C4CdWlQTC4+UoACFLAvgSRaGxERhUWLjqBbt1VYt+48PDycsXJlZ4wb10gP0HsksRYX25OAgzkbKxO4PStJRzqp7UdFRWHSpEkoWLBgbHpn4KuICkz+0pCkyuTyzBXQNA1fvN8FHfQAyA/rD2DG4i1JjlqpVq4QZn30CnL4eKLne9/i5MXbSVZeAjZv6IGVQd0aYdPuU2qi2/u+AYhOcg1+QAEKZIaAi7MzXJxdEBYeBrkNZMI6BAcFwdPDM+FivqcABUwlEHwPiAyGHt0EfEoBdcbogZTCgGc+MJgC/qOAVQmwshkvMGfOQYwduxOnTz9Ex47lsHt3P7RrVwY+Pm7qZzXja8QtWpqAg7kqVL9+fbgkGPadmm3JzPxySdH169dhTF/OXQqHLAVSUwzzWoiApmn4ZlxP9GpXG9+v348xX61BaHhEorWrWrYQvvqoGwrk8UHvDxfh4MlriI5OPFTi5uKM/h2fx4g+zbFj/zlM+24TZFLbpPInukEupAAFMkTAO2tWSPJ9+BASSIm7UbUsOBgFC+t/6MX9gK8pQAHTC3jkBvqeBGSyWtOXzhIpYBTgMwVsSuDll8ugcuXc+Pbbl7BkycvqzkCOjg421UY2Jn0CZvs2rF27FjJhXHqq5+bmBpkszpjcPTz0qKDZqpyeqnLdZwjIHYHmjOmOrq1q4rtVu/H+9FWIe/cg46qODg6oWaEIPhvZUU1K+/rY73HgxLVE88o6nu6ueLV9HQzXAyvb9cDKp99uhNxBSD5jogAFLE8gX/4CKFCgAC5cOI979+7GBk0lGPr3rr/033cNNWs+Z3kVZ40oQAEbFmDTKEABCjwtEBUVjVu3/LF27VkcPRrTZylePJv+vjv69asGV9eYOx4+vSaX2LMAIxX2vPczoO3eWdwx9d326NGmFn7fdhST5/+JrPqybN4ekOTl6QYnPeLr4KBBLgWa8NZLKFU4t55vA06cvwUvD1eVT/Jm0V8bqyyBlVda1sD7A17E6Uu3seCXv/HwcWBsXskv5Rrz85kCFMh8gbx586JK1Wq4d/cOdv21Ezdv3ICf32PI7ZmXLV2MnDlz4YWWLTO/oqwBBSxNgPWhAAUoQIEMEZDB8nInoN27r2PQoA3o3n01fvnltN5fCVXbd3Jy0E8GqZd8oMBTAg5PLeECCphQQEardHmxhjpDHRYeiYlDX8Lkd16OTTJPitySOXtWT/RpXxdy22W5NXPjWmUwdnCb2HyT334ZPdvWjq1Z+RL51IgVbz044+zkpH/23P/z/ld+wbzZ+OMXK8YXFMh8AQcHBzRt3gLNmr+APzasw+SJ4zBt6hSMfPcdyATm7458D7ly5c78irIGaRLgShSgAAUoQAFrFoiKMuDGjSdq0trXXluLv/66hnr1CqF27QJwd3e25qax7hkkwOBKBkHb62b8A0Ow+/BF7DlyGflz+6BwvhzxUr5cWeHiEjOs7tptX+zYfx73fAOQO4d3vHyF82dHruxesYwhoeE4fv4m9h+/ikj9hzBhufLeVZWrxa7DFxSgQOYL5MmTF6+9OQgDXn8TOXLkQHBwEGrUrImPx01A6zYvmbuCLJ8CFKAABShAAQo8JRAZacD+/bcwbtwOfPTRNsj7AQOqYfbsVnjppTJwc4v5e+WpFbmAAnEEzB5cMRgMOH/+PDZs2IBffvkFv//+u/7F3Q8/P7841eBLWxVY+echdB2+EC8NnpNoevfTn3H28l11Sc/0xVsSzROz7teY/M2GWCa5e1DP9xc9I/8cnLtyDzKXQ+xKfEEBqxCw/UrmzJkTnbt0xdRp0zFrzjyM/ng86tStZ/sNZwspQAEKUIACFLBIgdDQSMyf/y9+/vk0nnuugB5kaaRS2bI5ORIe/JdSAbMHVw4ePIhPPvkE8+bNw/Lly/Hdd99hxowZWLlyJR48eJDSejIfBShgSQKsCwUoQAEKUIACFKAABaxYQEanPHkSqlrg4uIIuRtQ//7V9L9dm+HVV6sga1Y39RkfKJBSAbMGV2TUwKxZs1RdRowYgWnTpukRwHGoU6cOtm3bBgm8qA/5QAEzCLBIClCAAhSggN0IRIUDd/YDx74BjsxOPPldAqINdkPChlKAAhRISuD+/SAsXnwUs2cfQEREFCS40q5dGUyY0FiNXHFw4NQCSdlxedICZg+u7N27F4MGDUKTJk1Qrlw51KxZE926dUOePHlw9erVpGtmH5+wlRSgAAUoQAEKUCDtAhIsuXcIOPAp8PeHevoo6fToTExwxdE17dvjmhSgAAWsWMBgiIbMrTJ58i79pP8OfPvtYdy7F6haJHcCyp7dXb3mAwXSIpCC4Epaiv3/Om5ubrh///7/F+ivgoKCEBoaCmdnzrqsc/D/FKAABShAAQpQIG0CenBFO/gZcGg6cGMnEPYYMIQDDk5PJ+csgEceoGR7QDN7FxD8RwEKUMCSBPz8QrFs2TGMGbMN3313BPnyeWHUqPrw9GTAOf5+4ru0Cpj1yKppGrp06YKpU6fi888/VxPaypwrU6ZMQUBAACpXrpzWenM9ClCAAhSgAAUoQAE9uIK7+4HwAEBGpOStBdSfCrT5IfHUehlQ413AwZF2FKAABaxXIBU1j44GTp16gIkT/8KkSbvUyJWuXStg5swX0adPVWTLxrlVUsHJrM8QMHtwZeDAgejatav+Jd6Pb7/9Vt0tKEeOHBg8eDCDK8/YMfyIAhSgAAUoQAEKpEjAEAVoerAk33PAi98BlV8HirVKPBV5AfAuAkAD/1GAAuYVYOmWI3D8+F2sW3cecunPlClNMXZsIzz/fGG4uTlZTiVZE6sXMGtwRXTy58+P/v37Y/r06Zg9ezZmzpyJDz74AHXr1oW7O69pEyMmClCAAhSgAAUokC4BTQ+WuGYHclYCXLzTVRRXtisBNpYCNisg86tERUVDfh7r1y+MDz98Ht980wb9+lVDkSI+cHTUfzdttvVsWGYImD24omkavLy8ULRoUZQuXRolS5ZE7ty5Od9KZuxtbpMCFKAABShAAQpYnQArTAEKUCDlApGRBuzbdxNDhvyB3347o1YsUMAbPXtWRoMGRZAli3mX3/MAABAASURBVIsKuKgP+EABEwqYLbhSuHBh+Pj4PDN9/fXXJmwKi6IABShAAQpQgAKZJJAZm728Dtk3tQGC4984IDOqwm1SgAIUsASB4OAIyB2AOnRYiUWLjmD9+vN4/DgEDg6augRILguyhHqyDrYpYLbgyvz587Fs2bJ4aenSperyoHr16iEiIgJRUVG2qcpWUYACFKAABSxQgFWyLQHtn4lwfnQCWrTen9IcARdP22ogW0MBClAghQIyae3t2wHo3fs3DBq0ARJk6du3CmR+lWzZOBVFChmZLZ0CZguutGrVCu3atVOpdevWqFOnjv4lD8aSJUv06OFjLFy4EP369Utn9bk6BShAAQrYmACbQwEKpFQgIlDljHbS/3Ao0gKoMki95wMFKEABexKQwMr69efw3HMLsW7dOZQpkwNz5rTC11+3gVwOZE8WbGvmCpgtuCLNMhgMuHv3LjZv3gy5a5BMZtu5c2esWbMGPXr0UHOxSD4mClCAAtYlwNpSgAIUsBQBDchWGuiwDihQ31IqxXpQgAIUyDCB8PBIjBu3EyEhkfqJ/TL47bdu6N27irozUIZVghuigC5gtuCKBFV27dqFjz76COPHj0f58uXx008/YdiwYWpCW33b/D8FKGBOAZZNAQpQgAIUoAAFKEABGxOQkSq+vsF4+DAYcjcgV1cnfPVVK/3vzvpYvrwDypXLaWMtZnOsRcBswZUpU6agQ4cOOH/+vBq10rFjR/j5+eHw4cOx6f59TsBmLV8Uc9WT5VKAAhSgAAUoQAEKUIACFEiJQHh4FM6ceYCZM/dh+vS9ePAgSK0mt1oeMaIe3N2d1Xs+UCAzBMwWXNm9ezfy5cuH/PnzY9OmTZg2bdpT6cCBA5nR5tRuk/kpQAEKUIACFKAABShAAQpQIBMFZLTKH39cwHvvbcHs2Qewc+dV+PuHIVqGsmRivbhpmxNIc4PMFlz58MMPIZcEyaS2L730EhJLJUqUSHPFuSIFKEABClCAAhSgAAUoQAEK2LZAZKRBjVaZN+8QRo3ahgMHbqF58+L4+ONGKFw4KzRNs22ARFvHhZYoYLbgSteuXdGrV69npnLlylmiCetEAQpQgAIUoAAFKEABClCAAukRMMG6UVEGHD58B+PH/4VZs/bDwUHDkCG1MHVqM7RsWQJubk4m2AqLoIBpBMwWXDFN9VgKBShAAQpQgAIUoAAFKEAB8wiwVEsX0HD/fhAuXnyEOnUK6kGWxnj77dooUyYHHB35p6yl7z17qx+/kfa2x9leClCAAhSgAAUoQAFrEmBdKWBXAhERBpw79xBPnoTqARQNtWrlxyefNMPkyU3Qrl0ZZM/ublcebKz1CDC4Yj37ijWlAAUoQAEKUIACFirAalGAAhRIv0BQUATmzDmAIUP+wPLlxyFz1ebO7anmWKlcOS9cXR3TvxGWQAEzCTC4YiZYFksBClCAAhSggIUJsDoUoAAFKGCxAmfOPED//mswbdpuNc+K3AlI5lzRNE3NtaI/gf8oYMkCDK5Y8t5h3ShAAQpQwO4E2GAKUIACFKCAPQlIAGXRoiPo2HEl1qw5B29vV8yd2wZvvFEDnFfFnr4J1t9WBlesfx+yBRSgAAUyWoDbo0CmC0RGRiIqKirT68EKUIACFKBA2gV8fYP1IMo6vP/+Fpw754uXXy6DP/7oqQdayiFnTg9wtErabblmxgswuJLx5twiBSiQIQLcCAUoYGsC0dHROHLkCLp3746CBQti5syZCAoKwvLly7Fw4UIEBgbaWpPZHgpQgAI2LeDl5YqHD0NUG7/9tp3+e94BJUpkh4sL51ZRKHywKgEGV6xqd7GyNifABlGAAhSgQIoFzpw5gxkzZsDDwwP169eHwWBQ6xYuXBjr1q2Dv7+/es8HClCAAhSwTAEJkj98GIzHj0P03/BoFUSZNasljh0bhH79qqn3HK1imfuOtUpegMGV5I3sPgcBKEABClCAApYgcO3aNTg7O2P06NGoUKECNE1T1SpWrBju3buHiIgI9Z4PFKAABShgWQLR0UBISAR27bqGXr1Wq0uBLlzwVZUsWtQHBQp46b/p6i0fKGC1ArYSXLHaHcCKU4ACFKAABSiQMoHw8HD9TKcBWbJkibeCXBokCzQtJtgir5koQAEKUMAyBCIjDbh1yx8LFhzGgAFrsWfPDTx+HAq57bIEXSyjlqyFlQlYZHUZXLHI3cJKUYACFKAABSiQUCBXrlxq5MrevXsREBCg5li5fv06Vq9ejVKlSsHd3T3hKnxPAQpQgAKZKBAcHIF9+25izJjtGDt2ByIiDHjtteqYN68tqlXLZ+OjVTIRnpvOFAEGVzKFnRulAAUoQAEKUCC1AmXLltU749Xw66+/4tChQ/j7778xdepU7NixA127dkXWrFlTWyTzU4ACFLBvATO2PirKgGPH7mLYsI16EPwMqlfPh8mTm2D8+EZ6QDw7AytmtGfRmSPA4ErmuHOrFKAABShAAQqkUiB79uzo1asXunXrpia0ldEqctcgmYOlefPmcHFxSWWJzE4BCliDAOtonQJyyU94eBS8vV313+7K+Oyz5ujRo7IeCHezzgax1hRIRoDBlWSA+DEFKEABClCAApYhcPXqVRw/fhwtW7ZUI1bmz5+PTz75RAVaNm/erC4TsoyashZ2KMAmU4ACuoCvbzB++ukk7t0LgpOTA2rUyI8ZM17AuHGNUKtWATg6anou/p8CtinA4Ipt7le2igIUoAAFKGBzAhJY+eGHHxAWFhavbSEhIfjiiy/w6NGjeMv5JqEA31OAAhQwj0B0dDQOHryNSZN2YeTIzVi27JjaUJYsLpC5VfLkiT8RufqQDxSwMQEGV2xsh7I5FKAABShAAasWSKTyEjw5efIkLl26hFu3buHUqVOQ95Ik4LJ161YY7xiUyOpcRAEKUIACZhTw9w9TwZTRo7dh7txDyJHDAwULeplxiyyaApYpwOCKZe4X1ooCFKAABSxYgFXLWAEJqLz99ttYtGiRmsj2vffeg7yX9O6772L27Nlo3LgxvL29M7Zi3BoFKEABOxc4deo+Jkz4CxMn7sLu3TfQs2clzJrVEh06lLNzGTbfHgUYXLHHvc42U4AC9iDANlLAZgRy586NESNGoHPnzqhdu7YKrMh7YxozZgzeeusteHnxTCn4jwIUoEAGCVy58hjTp/+Db789DAcHDdOmNVNzqzRuXBRubk4ZVAtuhgKWI8DgiuXsC9aEAnYowCZTgAIUSF5ARqS0adNGBVVmzpypnxHtAHkvqXXr1mjWrBmKFCkCR0fH5AtjDgpQgAIUMIlA7tyeyJPHEx07lsOCBW3Rr181FC3qA/6jgL0KMLhir3ue7U65AHNSgAIUoIBFCGTLlg0FCxaE3DVo/fr1kMltv//+exhTYGCgRdSTlaAABShgiwKRkQbs23cTW7dehtxi2dPTBSNH1lO3WG7QoAhk8lpbbDfbRIGUCjC4klIpC8/H6lGAAhSgAAVsXeDJkyf4+uuv0apVK7z22muQuVeGDx8OSVOmTIF8busGbB8FKECBzBDw8wvF3LkH0aPHKowbtxN//31dVSNnTg/kyuWpbrsM/qOAnQtkZHDFzqnZfApQgAIUoAAF0iNw7Ngx7NixAxMnTsSAAQPUPCt79+5Fx44dMXToUPj4+KSneK5LAQpQgAIJBOQWyxcvPsIbb6zTA9mb4esbglq18qNMmRwJcvItBZ4SsLsFDK7Y3S5ngylAAQpQgALWKfD48WMVQGnatClcXFwgnX6Z7HbYsGFYu3Yt5HPrbBlrTQEKUMDyBMLCIvH772fRvPkyrF59RgVU5s5tjc8+a4GCBW3l7myW584aWa8AgyvWu+9YcwpQgAIUoIBdCTg5OcHZ2RkGgwFZs2aFv78/Hjx4gMjISP1sqi+ioqLsyoONpQAF7EQgk5r5229n0b37Kv23NgydOpXDzz93Rs+elfXgNicPz6Rdws1auACDKxa+g1g9ClCAAhSgAAViBGSUSp48eXDv3j2UL18eFy5cwOzZszFp0iQUKFAA7u7uMRn5SAEKZLgAN2gbAkFB4YiOjmnL888XQv36hTF6dAMsWvQyKlTIHfMBHylAgUQFGFxJlIULKUABClCAAhSwNIGyZcvqZ1G7I2fOnGjQoIGaa+Xu3btwdXXF+++/D7mbkKXVmfWxKAFWhgIUSEIgIiIK5849xOLFR3Hrlr/KJZf+/PJLFwwfXhdyZyC1kA8UoECSAgyuJEnDDyhAAQpQgAIUsCQBLy8v/cxpBeTPn1+NUunRowd++uknzJ07V+/4e6rLhVJaX7mcaM+ePZBbOsskuffv39fP1v53ujZBIXIZkoyWkfwbNmzAxo0bcfHiRURERCTIaYq3LIMCFKBAxgo8ehSCTZsu4Z13NuqB6i3YsOGCqoCmaXrQ2h2apqn3fKAABZ4twODKs334KQUoQAEKUIACCQUy4X1YWBguXbqEQ4cO4cqVKwgPD0dISAgOHz6M7777DlOnToWfn1+Kavbo0SOsWLECX375JZYuXYrp06djzpw5CAwMfGp9mTT36tWrWLJkCb755hu13g8//ID9+/er7T+1AhdQgAIUsBKByEgDzp59qP+2HcKwYZtw8OBtNG9eHMWK8c5rVrILWU0LE2BwxcJ2CKtDAQpQgAKmEWAptiMgQZTt27dj/PjxGD16tJpj5Y8//sAvv/yC+fPn48iRI3j++efh4eGRokbLCJRt27bhxRdfxIwZMzB48GD8+OOP2L1791Pry6S5Mrrl5MmT6Nu3L7744gtMmTIFjRo1gpub21P5uYACFKCANQgEBIRj69bL+u/qTj3AvBeuro76b2EtzJzZUgVYrKENrCMFLE2AwRVL2yOsDwUoYE8CbCsFKJACAbmER0aLODg4oHr16pBAh4w6OXXqlJp7ZezYsRgyZAjksqHkipNLfGS0i0yM26RJExQuXBitW7dGpUqVsHbt2qdWv3nzphotkyNHDly+fBlSj3///VddluTi4vJUflkgdy+SkTaSQkND1d2MZLmMgjFlkjKNyZTlsqxodYkYHTLHQb7TtDe/vZ9fKH799Sy2bLmsB6cLYdy4hhg5si6KF/eBXAXEfWD+fUBj0xqb87dDyk5JYnAlJUrMQwG7FmDjKUABCmSugIweuXPnjt7xH4lRo0ahadOmyJIlCzp16oRu3brpfwwUh5OTU4oqKQEPmV8le/bs8Pb2VutomqbuPnT+/Hn1Pu6DXEIkwRxJZ8+excOHD9WlQTLS5fHjx3GzqtcyykbmgXnrrbcgadiwYZB5WmS7AQEBkLaYKhmiotQ2DVEGk5ZrqvrZUjmy74KCgujs729WA7k0T5ItfXcsqS1+fk/037DHah86OUWiVq2cGDy4Ct5/vyaaNMmv/56Eqc8sqc62UBf57ZDfEFtoiyW3wRzOst+Cg4P1/zZS9n8GV1LmxFyWLsD6UYACFKCAzQrISBCX6I3jAAAQAElEQVRJBQsWVAGR3Llzq2BIqVKlUhxUMeJIOZJk1Imjo6NxsRqJklgHSvJKEKVo0aIYOHCgCpjIJUhyqdDt27dj1ze+kDKLFSuG2rVrxyapt4y6cXZ2himTpmlqs5qmmbRcU9bRlsqSAJ4ttccS20Jj0/5GxN3H/v6RWLLkBObPP4qwsGhky+aB9u3L6b9pdVC9ekF4errxd8TEv9FGf36vzfe9NhrLs7mcpVx1sE3BA4MrKUAyVRaWQwEKUIACFKBA6gVk6LSMGJG79KxZswZyOZBMMmt8L8skJRYcSbg1V1dXNVeKjDCJe7efJ0+ewMfHJ2F29ceGXEJUsWJFSDAnX758qFevHiTg4ufnpy4fibuSBG3q1q2LPn36qNS7d29Uq1ZNlePu7q6COKZ61hxiunGag2bSck1VP1sqR+bXke+OLbXJUttCZ9P+Tri5uePSpQB89NFfmDHjINatu4yLF/3V72Du3N7InTsrPDxMu01L/W5lVr3kO+3m5sbfaRMfAxPuT3FOuMwU76XcuMf5Z72OOSr/PwdfUYACFKAABShAAYsSkDNSMtx31qxZ+PTTT9Wdek6cOAHje1k2bdq0FN0tSMoqUKAA5NIgueRHGirBm4MHD6Jq1aryNl7y8fGB5JfAjeSTD+WyBTmTJYEUTYsZPSLLjUlGqcjnxiTvjZ9pmgZNM00ylinPmmaaMjWN5WgaDTQtcwzkuyxJ0zJn+5pmW9uNjgaWLz+OXr1+w2+/nUW2bO54553aqFAhtzCr3yJ5oWm21W5NY3s0LcUG6nugadafX77LkjTNdG2R8lKTGFxJjRbzUoACFKAABSiQ4QKlS5eG3C1I5jmRCWXXrVsHuVuQ8b0sk1sry+VCyVVO0zTUr18fMknuypUrcfz4ccycOVM/s3sJPXr0UJPPfvjhh1iyZIkqqkiRIqhTpw62bt2qJryVyXCXLl2KkiVL6md8Y/5AURn5QAEKUMCCBO7eDUS/fr9j5MjNOH/eFy+9VAY//NARHTuWQ9asbhZU05RUhXkoYB0CDK5Yx35iLSlAAQpQgAJ2KyAjRIoVK4bkkowUSQnSc889h6FDh+Kff/5RdwqSII0EWMqVK6cu85G7AV28eBHyTybO7d69Oxo3bqwm0+3atStkJMrw4cMhc6lIHiYKUIACsDCCH388gZUrT+sBYwNmzWqJBQvaomLF3HBzc7KwmrI6FLAdAQZXbGdfsiUUoAAFKEABCqRAQIIwbdq0wZ9//olr166py4w6duyoJseVy4Y2bdqEiRMnqpI0TVNBlI8//hhyKZLcMei7775DlSpVIJPXqkx8oICVCLCa9iMwaFAtvPpqZRw8+Dpef706vLxc1eUf9iPAllIg4wUYXMl4c26RAhSgAAUoQIFMFtA0TY1AkQCJjETRNA3Gf/JekvG9PGuapoIpxvzgP3MJsFwKUCCVAhERUdiz57oeRFmHI0fuwmCIViNUFix4CSVLZmdQJZWezE6BtAowuJJWOa5HAQpQgAIUoICdCrDZFKAABTJfICrKAJlbZfbsA+jZczV++OEE1qw5i4CA8MyvHGtAATsUYHDFDnc6m0wBClCAAnYgYKNNjIqKwpMnT3Djxg31LHfwkTv5hISEqPlSbLTZbBYFKECBeAJBQRHYv/8WRozYhAkT/lJzq7z5Zg0MGFAN3t4u8fLyDQUokDECDhmzGW6FAhSgAAUo8LQAl1AgNQIRERE4ffo0Fi5ciPfeew8bNmxAWFgYDh48iC1btkACLKkpj3kpQAEKWKOAv38YVq8+g6FD/8C6dedRpUoefP55Cz3I0hiFCmXlZUDWuFNZZ5sQYHDFJnYjG0EBCphRgEVTgAIWInD9+nV8++23kLv53L9/X41ekZEsMnJl2bJlaiSLhVSV1aAABShgNoF794L04PJ5PHoUgp49K+PLL1vilVcqqElrzbZRFkwBCiQrwOBKskTMQAFrEGAdKUABCti+wMWLF/U/Jh5h9OjRaNCggZqQVlpdtmxZ3Lp1CzKyRd4zUYACFLA1gcePQ3Hlip9qVuHC3njjjRoYO7YRxo9vhOrV88HRkX/WKRw+UCATBfhfYSbi292m2WAKUIACFKBAOgTkEiBHR0fkzJkzXimyPDo6Ot4yvqEABShgKwKHD9/BtGm7MXPmP3jwIBiurk5o0qQY+vWrijx5sthKM9kOCli9QGxw5e7duzhz5kyy6dq1a1bf6Gc1gJ9RgAIUoAAFKGCZAtmzZ1eT1h46dAjh4eHq9YMHD7B69WoULVoUbm5ulllx1ooCFKBAGgQCA8OxfPkxjBq1DbNm7ceJE/cREBCmStI0cG4V8B8F0i9gyhJigyvSMRk+fDiSS/PmzTPl9lkWBShAAQpQgAIUSJGAXP5Tt25d/PDDD9i4cSN+//13NbHt33//je7duyNr1qwpKoeZKEABCli6wOnTDzBu3E6Vdu68ildeKY8xYxogb16OVLH0fWeG+rFIKxGIDa5IZ6V///5ILrVq1cpKmsZqUoACFKAABShgSwI5cuRAx44d0aNHD3Tt2hX169dHjRo11ImhZs2awdXV1Zaay7ZQgAJ2KrB+/Xk9cLwFCxb8C4MhWt0JaNy4xmjatDg8PJwtVIXVogAFYoMr1apVQ5cuXZJNjRo1ohoFKEABClCAAhTIcIGAgABERkaiZcuWGDx4MEaOHKmemzZtiixZeDY3w3cIN0gBaxOwkvoGBYXj6NG7aNGiOJYsaY8BA6qhePFskEuBrKQJrCYF7FIgNriSsPUyOdz+/fuxatUq/PTTT7Fpx44dCbPyPQUoQAEKUIACFDC7gPRLOnfujBEjRuDAgQNwd3eHt7c3ZJJbs2+cG6BABglwM/YnEBlpwP37QQgICFeNf/HFkli4sC1mzHgBDRsWgaeni1rOBwpQwLIFEg2uXLlyRY1gefXVVzFkyBCMHTsWb7/9NkaNGoUff/zRslvE2lGAAhSgAAUoYJMCNWvWxPvvv4+QkBA1auXFF1/E+PHjcfLkSd6GOWP3OLdGAQqYSMDXN1hNVtux40ps3HgBEmjx8XFDixYlUbRoNjg4aCbaEouhAAXMLZBocOWrr75Sk8Jt3boVoaGh+OWXX/Drr7+iSpUqeOWVV8xdJ5ZPAQpQgAIUoAAFnhLIli0b2rZtiy+//BJr1qzBG2+8AblzkARZ5FKhe/fu4f//+IoCFKCA5QpER0fjxIl7GDz4D/1E9g6cOvUA1649QXBwhKq0s7MDLwNSEnyggPUIOCRW1RMnTkBGreTPnx9OTk7q1oa1a9dWE8h9//334D8KUIACFKAABUwgwCJSLSD9Eg8PDxQpUkT1VcaPH486depALhkKDg5OdXlcgQIUoEBGC4SGRuonrs+gffuV+PnnUyha1AcLFryEt96qDW9v14yuDrdHAQqYSCDR4Erc2fYlwHLhwgU13FYirA8fPjTRplkMBShAAQpYgwDrSAFLEYiKikJgYCBOnz6NGTNmQCbZ79SpExwcHLB06VLkzZvXUqrKelCAAhRIVODRoxCMGrUVvXuvxsOHwfrJ60p6gEVuKlIerq6Oia7DhRSggHUIJBpcqV69Oq5fvw6Zkb9Nmzb47LPPMHv2bHz33XeoXLmydbSMtaQABexJgG2lAAXsQEDmVhkwYIC6RHnz5s3o2rUrdu3ahZUrV0KCLDLBrR0wsIkUoIAVCshJaql2REQUbt8ORIkS2TFhQmPMm9cGFSrkko+YKEABKxdINLgiHRe5NbPMvi8Tx1WqVAky/4rMuSK3PrTyNrP6FMgkAW6WAhSgAAXSIxAREYFy5cph8eLFWLt2LYYOHaouD5KRK+kpl+tSgAIUMJeATFB7+fJjnDvnqzaRK5cnPv+8hbob0Dvv8DIghcIHCtiIQKLBlaJFi0JGr8h1zTJ53Ndff41t27bpPwSfo2DBgjbSdDYjUQEupAAFKEABCliQgFwK9PjxY8hZXznZI3cxlH6Kv78/Hjx4EC9JXguqOqtCAQrYuYCfXyi2b7+CN99cryauDQoKh4ODhsKFs6JevcLQNN4JyM6/Imy+jQkkGlzZs2cP1q9fjw0bNjyV9u3bl+kErAAFKEABClCAAvYhIEEUGakSFhaG8+fPqxM9n3/+eaLPT548sQ8UtpICFLBogaioaJw9+xDz5x/Ca6+txYEDt+Du7oQnT8Isut6sHAUsVcBa6pVocOX333/HwoULsWDBApXmzZuHCRMmYNiwYWoYrrU0jvWkAAUoQAEKUMC6BQwGA+QuQPIsc8EFBAQgsSQT3croFutuLWtPAQpYu4AEUDZvvoRx43Zi8uS/4enpgsGDa+Gbb9ogf34va28e65+0AD+hABINrvTu3Rsy14oxvffeexg4cCBq1Kihrm2mGwUoQAEKUIACFMgIgRw5cmDMmDGQ2y8XL14co0ePhlyuLCd+jEneDx8+HF5e/MMlI/YJt0EBCiQuYDBEY+vWS/j44+3YtOkSGjcuop+gboyxYxuhUKGsia+UoUu5MQpQwJwCiQZX5I5Azz//PIxJbnXYo0cPtG7dGkePHjVnfVg2BShAAQpQgAIUSFRA7hYkdwYKDw+P93loaCi+/PJLyNws8T7gGwpQwPoErLjGMoVKdDSQO7enfmK6BqZMaYaOHcupS4KsuFmsOgUokEKBRIMria1rMBjg6+uLhw8fJvYxl1GAAhSgAAUoQAGzCty9exfHjx9HwolrJaiyf/9+SJDFrBVg4RT4T4BPFDAK3LkToCatvXbNT01Q27x5cUye3BQjRtRFpUq54eSU4j+3jEXymQIUsFKBRP9rnz17NuRSIGMaMWKEHn0diFWrVqFp06ZW2lRWmwIUoAAFKEABaxS4desWRo4ciWXLluHff/9VlwbF7aPIJUHe3t5wcXGxxuaZq84slwIUMKNAZKRB/z26rf8ebcf772/B6tVn9ABvJHx83FC9ej7kyuWpgi1mrAKLpgAFLEwg0eCKzMgfEhKi/0CEqhQREYHChQtDOi9dunTJtCaUK18U7wzvxkQDfgds9DuQp1wZvDzxTyYa8Dtgo9+Bj5YkvOMgUvRPJqqVUSnSH5FRK3H7KDLJbalSpfDxxx9D5mdJUYHMRAEKUCAdAsHBEfj+++MYNGgDfv31DBwcNJQqlQPOzon+aZWOLXFVClDAmgQS/QXo16+fmjxOJo0zJgmstG3bFjlz5sy09nln9UTpsoWZaMDvgI1+B9y8vbDr5G0mGljWd4D7w2T749gV3zT1IfLkyaP6JRJAGTdunAqkGPsnH330kTr5U79+fY5cSZMuV6IABVIjcPt2AN55ZyNGjdqGc+d80b59Gcyb1wZNmxaDo2Oif1qlpnjmpQAFrFgg0V+A119/HXfu3EHu3LmRN29eSKfGx8cHhw8fRs+ePa24uaw6BShAAdsUYKsoYMsCzs7Oqj9Sq1YtdOjQAQUKFFDvjX2U7Nmzw8nJyZYJ2DYKUMACBAID+HjebwAAEABJREFUw9Gq1QqsWHFcBVI++aQZZs58EdWq5YOHh7MF1JBVoAAFMlMg0eCKTBgnlwbFrZgMyQ0MDFST2sZdztcUoAAFUijAbBSgAAVSLXDz5k288MIL8Pf3x+bNmyGXABUtWhRFihR5Kt24cSPV5XMFClCAAikV8PR0QePGRVCrVgFs2NAdr79eAzlyeKjLglJaBvNRgAK2KxAvuLJx40Z1K0MJrsitDmfNmqXey+0Np02bpkdmZ0I6NLbLwZZRgAIUoAAFKGBJAjJy9q233oK7uzsqVKiAyZMnY9KkSYmmbNmyWVLVWRcKUMDKBQyGaBw4cAsnTtxDVJQBcqvlzz9/AVu29EaVKnk5x4qV719WnwKmFogXXNm9ezeWL18OuaWhBFq+//579V6e//jjDxQvXhxy5yBTV4LlpVKA2SlAAQpQgAJ2IpAlSxa89NJL+h8xzmpy/R49eqBXr1549dVXIa87duwISXLZsuS1ExY2kwIUMKOABFUePQrBF1/s1X9/fkSfPr9D3ssmXVwcIQn8RwEKUCCBQLzgipwNklscDhs2DOvWrcOhQ4cg7+VZAi9yi2YZjpugjETfciEFKEABClCAAhQwpcC9e/cg/RGZF07uGvT333/jvffeUxPaHjt2TD+zHGXKzbEsClDADgWCgyP0v4Fu480312PixF1KoGHDImqOFfWGDxSgQKICXAjEC64YQfr376+G38o8K8Zl0omR655v3bplXMRnClCAAhSgAAUokGECJ06cgIymlTngJMCyePFiNReLn58fpk+frp9ZfpRhdeGGKEAB2xKQ0Sr37gWqyWpfe20tNm26iPLlc2H27Fb45JPmyJ7d3bYabJ+tYaspYFaBRIMrn376KX755ReEh4fHbjwkJAQyD8vMmTNjl/EFBShAAQpQgAIUyCiB4OBgNTolZ86cOH78ONzc3PDOO+9gypQpuHbtGqSvklF14XYoQAHbEoiIiML69ecxadIu+PmFonv3Sli48CV06lROP+nslIGN5aYoQAFrFUg0uHL+/HmULVs23m0NXV1d1ZwrFy5csNa2st4UoAAFKEABClixgIuLC0JDQ3Hu3DnIJcsSZMmfPz9kuYywjTvi1oqbyapTwPIFbKSGMlolNDQS8izzqBQvng0vvlgCH33UQA+yNEGlSnl4OZCN7Gs2gwIZIZBocEVm5L99+7b+Q2OIrUNkZCRkCK4EWWIX8gUFKEABClCAAhTIIIHChQtD7h4kdzOU4Er58uWRK1cunDlzBhJocXZ2zqCacDPWIMA6UuBZApGRBhw9ehfLlh3D2bMPoWka6tQpiE8/bY5+/aoid27PZ63OzyhAAQo8JZBocKV58+ZYvXq1SjJB3NGjR7Fq1SrIHYMaNWr0VCFcQAEKUIACFKAABcwtUKJECXWXoOeeew6vvPIKmjZtCjnp4+3trZZnzZrV3FUwdfksjwIUyASBoKBwrFx5CqNHb1eT1v7xxwX9pHI03N2dkSOHh/67wsuAMmG3cJMUsHqBRIMrnTp1QsWKFbFixQp8/PHHmDRpEn777TdUr14dDRs2tPpGswEUoAAFKEABCqRUwHLyyRwrdevWxRtvvIGaNWuqEbWXLl1C1apV0blzZ3h68kyz5ewt1oQClilw7pwvJkz4C+PG7cCePdf1IG1R1KiRD5pmmfVlrShAAesRSDS4UqBAAQwbNgxDhw5Fly5d0KpVK5QsWRJ3797Fr7/+aj2tY00pQAEKUMA+BNhKuxCQS5T379+vn20ejZEjR2LMmDGqv2Kc0NZgMNiFAxtJAQqkXiA8PEr/O+Y03n13I77++qAqYNy4RvqJ5IZo3LioHlzR1DI+UIACFEirQKLBFSksb968KFq0KB4/fow///wTp0+fhlzLXKFCBfmYiQIUoAAFUinA7BSgQPoELl68iEWLFiEoKAg9evTAW2+9hY4dO6o+yvz58+Hv75++DXBtClDAZgXkDkBffrkPGzdeQosWxTFvXlu8/noNlCqVg4EVm93rbBgFMlbgqeBKQEAANmzYoP/YvI7BgwerSeK2bdum3n/44Ydo27ZtxtaQW6MABTJSgNuiAAUoYLECV65cUSd9Bg0apEbWtm7dWgVZpL+ye/duSB/GYivPilGAAhkuEB39/01mzeqmB2PLYfr0FvjiixfRrFkxeHu7/j8DX1GAAhRIp4BD3PWXLl2q/+h0xPLly1G5cmXMmDEDMueK5ClXrhwKFSoEDw8PectEgUwU4KYpQAEKUMAeBcLCwtQo2vz586tnMZAJbWWkbWhoKHhZkIgwUYACIuDrG4zPP9+DH388oQdew+Hq6ojXXquON96oAbnlsoODJtmYKEABCphMIF5wZdeuXZDJ4vr06aNm3a9SpQqkA2OyrdlTQWwrBShAAQpQgAImFciZMyf8/Pzw+++/q0uDpHB5/9133yFPnjz6H088Cy0mTBSwZwEZrXL48B0MGrQBU6f+jU8/3YMrVx4rEhmpkiWLi3rNBwpQgAImFdALixdckcnh5I5AMplty5Yt8dVXX+HBgwd6Nv6fAhSgAAUoQAEKZK5AtWrV0K5dO/1s9OeQEbVyZ8OyZctizZo1GD58OCT4krk15NYpQIHMFAgKisCyZcfQo8dqrF59BoUKZcXEiY1RunSOzKwWt00BixFgRcwrEC+4Ih2VCRMm4NixY2oW/o0bN6J48eJqmO327dvVdc4yU795q8TSKUABClCAAhSgQHyBaP10tIyu7d+/P7Zu3Ypp06apueFkItu9e/eiWbNmcHJyir8S31GAAnYhoP884Pp1P7z33mYMGrQe16756QGWSli1qgtefrks3Nz422BFXwRWlQJWKxAvuGJshXReOnXqpO4SdPToUXWbw9mzZ6NmzZoYP368MRufKUABClCAAhSggNkFZC4Vmcx26tSp6N69O2bOnIkCBQqoyfZffvllZMuWzex14AYoQAHLFQgMDMPq1WexdOkxFC6cFZ9/3gJz5rRG6dI5zVRpFksBClDgaYFEgytxs5UoUQITJ07EgQMH8NlnnyF37txxP+ZrClCAAhSgAAUoYFYBuURZ+iArVqxAeHg4Dh8+DBlp+88//5h1uyycAlYtYOOVj4qKxv37QZBnLy9XtGxZEh9+WB/fftsOgwfX4p2AbHz/s3kUsESBZIMrxkrLXYJkNMvbb79tXMRnClCAAhSgAAUoYHYBX19fnDt3DrNmzcLatWshQZZ8+fKpZTKqxewV4AbMJsCCKZAWAX//MOzefQ0ffLAVp07dV0WULZsTH3/cEPXrFwbvBKRI+EABCmSwQIqDKxlcL26OAhSgAAUoQAEKKAEZrSIv5PJkeZZbL0vy9/eH3J5ZlpkxsWgKUMBCBAyGaFy48AgLFx7GK6/8qgdbz2HTpksWUjtWgwIUsHcBBlfs/RvA9lOAAhSggA0I2HYTZDJbCaScPHkShw4dwr///ov79+/j+vXr6r0sk8RAi21/D9g6+xYICAjHtm2XMWbMNowatRVZs7piwIBq6NSpnH3DsPUUoIDFCDC4YjG7ghWhAAUoYOMCbB4F0ijg4uKiRqh888036tIguTzozJkzOHr0KObNmxe7TAIwadwEV6MABSxYQOZWWbLkCN59dxM2bLiI5s2LY9KkJioVL84JrcF/FKCARQgwuGIRu4GVoAAFLEWA9aAABSxPQOZXGTlyJF588UU0a9ZMpQEDBqBfv3544YUX1PvmzZvD3d3d8irPGlGAAukWCA2NxJo15/QgaxQGD66Jzz5rga5dK8LV1SndZbMAClCAAqYSYHDFVJIshwIZJ8AtUYACFLArgezZs6Nv377PTH369EGWLFlS7HL+/HnMnTsXH3zwAaZNm6Ymx5XLj55VwJ07dyCjZ6ZPn44bN248Kys/owAF0inw8GEwJEkx+fN7YeDAmvj002YYNao+Klbk3UvFhYkCFLAsAQZXLGt/2FBt2BQKUIACFKCAZQpcu3ZNBVYOHDgAb29vnDp1CqNHj4bclSipGoeEhOCPP/7AkiVL1LPM+ZJUXi6nAAXSLhARYcC+fTcxduwOLFjwL+7cCYCTkwPatSuDDh3KIVs2jlBLuy7XpAAFzClg38EVc8qybApQgAIUoAAFLFJg165dajLcLl26YMiQIfqZ8FE4e/Ys1q9fn2h9ZUTLP//8A5lQt2LFivDx8Uk0HxdSgALpE/D3D8fKlacxYsRmrFhxAkeO3IGfX6gq1MXFkbdYVhJ8oAAF0ixg5hUdzFw+i6cABShAAQpQgAIWI2AwGHD69GnkzZsXlSpVUoGScuXK4bnnnsPWrVsTrefFixexZcsWlC9fXuVzckp6ngcJxISHhyMoKCg2yXtZLkm2b6oUt7KmKpPlGJCUgan3X1LbscflUVEGXLjgi7Fj/8Inn+zHuXO+6NSprB5kqYvChbMmuU/s0coUbZbvsiQpy/gsr5mS/u8/PTapNU7Ptux5XXGWZEoDKU9S3OPts14zuPIsHX5GAQpQgAIUoIBNCcjlPX5+fiqo4unpGdu2IkWKQC4Xil3w34snT57gzz//RGRkJNq1awcPD4//Pkn8KTAwEFOnTkXNmjVVqlOnjrqjkWxXLjt69OgRTJWi9DpJLeTZVGWynKf3j3G/yXfB+JpOTzul1eTBg4f47bdj6N79V3z//Um4ujpi5MjqGD68KooWdUVIiL/J/ptJax1tbT35Hj9+/BjyWyiv09A+7pMU/paLrziLt7ymtel+O+Jaiq38RssyeS3PpkhSVmruRMjgivRKmChAAQpQgAIUsAoBmevku+++Q8+ePbFy5UqEhoZCLvPZvXs3wsLCkm2D8YyWg4MDNE2LzS+jUSSAErtAfxEVFYV9+/bh4MGD+h9+3ZE7d/KTaErAZvDgwVi7dq1Kq1evRq9eveDm5qYCOnJJkamSo6Mj5J+jk5PJyzZVHW2hnGzZsilfLy8v9WwLbbKkNmTN6oOoKCecOeOLOnXyYuHClnjrrfooW7YgcubMng5zH67rk7RB1qxZ1ZxTPs/Iw8984JNOH/n9kLm9xDu9ZXF9nyT3hzgbf6PltU8691vc9VMzWb6DHJSZKEABClCAAhSggKUL3L59G1OmTMGCBQtw7tw5XL16Vf+jLApyRnDevHnqLGxybZCRJ5ICAgLiBWMePnz4VPBEAjdyV6Eff/wR9evXV3cjkltAS8BE3v/222+IiIiIt0kJ2kgQplSpUpBUsmRJ5MiRA7JcAjimTHp0KHbbpiyXZTkhMQMJZjk7Oyf6WWL5U7RMD4zZa77AwEhl6ebmgjZtymD16lfw00+dUL16Xnh6uqrP7NUmI9ot32dJGbEte9+G0Zm/H4n/tprq+yHOkkxVnrEcKTP2YJvMC4dkPufHFKAABShAAQpQwCIEZK4UCaTI7ZDbtGmjAhZSsQoVKkACLSkZuSKdpOLFi+PevXuQWyvLSBZZT0a/yCU8Up7MkSKjWNzd3dUImV3UVMsAABAASURBVOPHj+PQoUNqBMvEiRPRvHlzLFu2DM2aNVN/AMo6SSVN+//omKTyWPpy1o8CphKQuQuCg8MxY8ZelC49GydO3FdFZ8nighdfLKkHMF3ixgzVZ3wwn4Cm8ffJfLos2R4FGFyxx73ONlOAAhSgAAWsUEDmM9E0DYULF45XexcXFzUKRf5wi/dBEm+aNm0KCaAsWrRIzacyatQotX7v3r3VSBQZnTJr1iwVvMmePbuayFYms5VUoEABNZReAjQy1FvT+MdJEsxcTIF4AqGhkTh69B66d1+FMWN2IDLSgM2bL8XLwzcUoAAFrFmAwRVr3nusOwUoQAEKWJEAq5peAbmeWtM0yN175HIcmRNFAi4y6iRPnjxwcXFJ0SZkpMsHH3ygAiqTJk1SE9nKpUb58+fXz5prcHV1hQzfTqwwuQ5bgjsyqiWxz7mMAhSILxAVFY3794Pw/ffH0a3br9i27SrKlMmJhQtfwvDhdeNn5jsKUIACVizgYMV1Z9UpQAEKUMDUAiyPAhYsIHOYFCpUSF2Sc+rUKchlQjK57ZIlS9C6dWs1oiSl1a9du7b+x91CNWHtqlWrUK9ePTVSRa6x/vbbb/H2228nWlTbtm0xffp0NZol0QxcSAEKxBO4ezcQ06btwYcfbkNQUDi6dq2An3/ujA4dyunBzHhZ+YYCFKCAVQswuGLVu4+Vp4B9CrDVFKCAfQrIiJF+/fohb968aiLbGzduYO/evZD5V7p37w65U499yrDVFLBcgcePQ3D7dgDKlMmBMWMaYsaMF1C6tEzyzEvqLHevsWYUoEBaBBhcSYsa16FA8gLMQQEKUIACZhCQuU5Gjx6N77//HjJiRZ7feecdyNwoZtgci6QABVIpEBYWhTNnHuDkyfuQeZDKl8+Ft99+DnPmtEK/ftXg4+OWyhKZnQIUoIB1CDC4Yh37yUy1ZLEUoAAFKEAB6xG4efMmfvnlF8hlPFu2bMGBAwcgz/JelgcFBVlPY1hTCtiYQHQ04OcXitWrT2P06O2YNWs/rl9/AgcHDXXrFkK1avng6upoY61mcyhAAQr8X8Dygyv/rytfUYACFKAABShgxwK3bt3Cb7/9FptWr14NmR9FJqVdsWIFGFyx4y8Hm56pAjJC5fz5h/jssz0YP34n/vrrGtzdnSCT2WZqxbhxClDA+gSsuMYMrljxzmPVKUABClCAAvYkUKJECQwePDhekolnn3/+eRQsWBAyGa09ebCtFLAEgagoA1avPoORI7dg7tyDcHBwwAcfPI+hQ59D0aI+llBF1oECJhdggRRITIDBlcRUuIwCFKAABShAAYsTyJkzJ+rXrx+bGjRooCazff311yGT24aGhlpcnVkhCti6wJIlRzFmzA5s2XIZjRsXwxdfvIA33qjBSWszf8ezBhSgQAYLMLiSweDcHAUoQAEKUIACphUICwvDnTt3EBkZadqCWRoFKJCsQPHi2RAYGI6xYxti2rTmeOGFEvBJ8aS1yRbPDBSgAAWsRoDBFavZVawoBShAAQpQwL4FTpw4gQ8//DBeksuEhg0bhjJlyvBWzPb99TBf61lyPIFHj0KwZcslBASEqeX16hXCmjXdMHhwLf2/wxxwdOSfFwqGDxSggN0J8NfP7nY5G0wBClCAAhSwTgG57EdGqBjT3bt3VUN69uyJCRMmIFu2bOq9PT6wzRTICIEDB27h9dfXol+/Nfjzz4uIiIiCq6uTuhMQR6tkxB7gNihAAUsWYHDFkvcO60YBClCAAhSwHYF0tUTuRiKT1g4ZMgTTp0/HnDlzMHv2bHz22Wd48803UaxYMTWRZro2wpUpQIFEBYKDI7Bgwb8qqLJu3Xl12U+ePJ76f3Oayq/FPKnXfKAABShgrwIMrtjrnme7KUABClAgEQEuslQBTdOwf/9+zJ07F46OjvDy8lIpS5Ys+plzV2ga/7qz1H3Helm3wOXLjzFs2EYMH74J58/7omfPyli/vjsaNiyi/7fIPyWse++y9hSggCkF+ItoSk2WRQEKUCAjBLgNCtipQNasWSHBFLkcKCoqCjKaJW6yUxY2mwJmE/j33zt47bW1WLToKPLm9cK8eW3w1VctUbRoNgY0zabOgilAAWsVcLDWirPeFKCAZQuwdhSgAAVMJSCBlMDAQHXpj6urKz7//HNs2rQJx48fx+nTp2NTeHi4qTbJcihgtwIGQzQiIw2q/blze6By5Txo1640VqzogP79q8HLy1V9xgcKUIACFIgvwOBKfA++sy8BtpYCFKAABaxA4Pbt21iwYAGOHj2KdevWYc+ePZA7BL3yyivo2LEjOnTooNL9+/etoDWsIgUsVyAgIByHD9/B3r03EBUVjUKFsmLChMb47rt2qF27YOwcK5bbAtaMAhSgQOYJMLiSefYp3DKzUYACFKAABexbwNfXF2vWrEH16tXxyy+/xKaff/4ZkozLcufObd9QbD0F0igQHQ1cufJYD6IcRqdOP2Py5F2QWy5LcVmzuiFbNnfwHwUoQAEKPFvANMGVZ2+Dn1KAAhSgAAUoQIE0C8i8KrKyzLlSpUoVJJVcXFwkGxMFKJAKgaCgCOzceRUffbQN77+/Ba6ujqhRI5+6zXIqimFWClDAngTY1kQFGFxJlIULKUABClCAAhSwJAG55GflypVYvnx5kknmZbGkOrMuFLB0AbkT0KJFhzFo0Hr89ttZNG1aDOPGNcLHHzdC/vxell591o8CzxTghxTIaAEGVzJanNujAAUoQAEKUCDVAg8fPsT69evx+++/J5mCg4NTXS5XoIA9C/z550VMmLALwcEReoClFj77rIW61bKHh7M9s2Rk27ktClDAhgQYXLGhncmmUIACFKAABWxVoEiRIhg1ahTGjx+fZPLx8bHV5rNdFDCZgExUa7zUrnTpHGjZsgQmT26qB1kaqzsDPb0hLqEABShAgZQIOKQkE/NQgAIUoAAFKECBzBTw9PRE+fLlUalSpSQT51zJzD2Uydvm5pMViIiIUncBmj//EC5deqzyN25cBGPHNlKjVby9XdUyPlCAAhSgQNoEGFxJmxvXogAFKEABClCAAqkSYGYKZJaAr28Ili07jg8/3IpPPtmN3buvIzQ0Es7OjpDRK46OWmZVjdulAAUoYDMCDK7YzK5kQyhAAQpQgALpFrDIAkqWLIkZM2ZARq9YZAVZKQpYqIDBEI3Tp+9j3LgdmDDhL5w69QCtWpVEzZr59cAK/wyw0N3GalGAAlYqwF9VK91xrDYFKEAB+xVgy+1NwMvLS/9jsCacnJzsrelsLwXSLBASEoE1a87hjTfWY9myY8iSxUXNrTJuXGOULZsTjo78MyDNuFyRAhSgQCIC/FVNBIWLKEABCqRbgAVQgAIUoAAFMlHgyhU/jB+/A0eP3kWzZsWwcGFb9OlTBfnze+mBSv4JkIm7hpumAAVsVIC/rDa6Y9ksCqREgHkoQAEKUIACFLBNgYIFvTFsWF2MGtUACxa8hDp1CsHDwxkap1exzR3OVlGAApkuwOBKpu8CViAZAX5MAQpQgAIUoAAFKJCMgMyv8uWX+7Bo0RGVU+7+069fVYwe3QC5cnmCk9YqFj5QgAIUMJsAgysmoWUhFKAABShAAQpQgAIUyHgBucXyuXO+aN16BYYP34SJE3fh9u2AjK8It0gBClDAbgQSbyiDK4m7cCkFKEABClCAAhSgAAUsVkBGqjx6FILly4+jRYvl+OuvayhVKgdmzGiBfPmyWGy9WTEKUCCDBLiZDBdgcCXDyblBClCAAhSgAAUoQAEKpF0gOjoaZ88+xPvvb8G7725CeHgUOncuh61bX0WnTuWhaZxYJe26XDMjBbgtCtiSAIMrtrQ32RYKUIACFKAABShAAZsXiIqKxvffH8f69RdQokQ2jB/fCAsWtEOhQt423/ZMaCA3SQEKUCBFAgyupIiJmShAAQpQgAIUoAAFKJB5AqGhkZDLgMLCItWtlNu1K4OBA2tg3rw2eO216nB3d8q8ynHLFKAABSgABlf4JaAABShAAQpQgAIUML8At5Amgeho4OHDYKxZcxZz5hzA0aN3Ea0vfO65AhgzpiGee66gCrakqXCuRAEKUIACJhNgcMVklCyIAhSgAAUoQAFrF2D9KWBJApGRBpw58wCzZu3D2LE7sXjxUZw/7wu5LMjBQVNBFU6vYkl7jHWhAAXsWYDBFXve+2w7BShAAQpYowDrTAEK2IFASEgE1q07h48+2oa5cw/B2dkBb7xRA7VrF4QEVuyAgE2kAAUoYFUCDK5Y1e5iZSlAAQpYiwDrSQEKUIACaRXw8wvFp5/uUaNVduy4ioYNi+CTT5qrOVZKl87B4EpaYbkeBShAATMKMLhiRlwWTQEKWLgAq0cBClCAAhSwQAGZU2XTpkt4/DgEI0fWw5QpTdGqVUlky+ZugbVllShAAQpQQAQYXBEFJgpYsACrRgEKUIACFKCA7Qs8eRIKuSOQtNTLyxVjxzbE/PkvYfDgWihfPpeaX0U+Y6IABShAAcsUyLDgSkREBO7du4cnT55YpgRrlR4BrksBClCAAhSgAAUokEaBgwdvo0+f3/HZZ3tgMESrQErz5sXxwgvFkSMHR6ukkZWrUYACFMhQAbMHVwIDAzF+/HhUqVIFzz33HGrUqIEuXbpg165d+sHDkIGN5aYoQAEKUIACFKAABShgOQIhIZGYN+8Q+vb9HX/8cRHr15+HLJMaurg4wtnZUV4yUYACFKBAqgUyfgWzBlfketEPPvgAq1atwogRI/DTTz/hyy+/hJeXFyZPnqwCLBnfZG6RAhSgAAUoQAEKUIACmStw8eIjDBy4HqNGbcO5cw/Ru3dl/PZbV3h4OGduxbh1ClAg4wS4JZsSMHtwZc2aNfj6668xYMAA1K1bF23btlUjWYoWLYqTJ0/aFCYbkzqBQL9H2LfuJywZPQizBnbC10O74dfpH+PikX2ICAtLtDBDVCQu/LsHM/q1wfwRfXD6n+2J5uNCClAgYwQaV8qPT/s+h21T2uDhD68iZPUAdG1QItGN58/ugfc6VsGhLzviwYpXcX5+V8x8rS7y6cu1RNf4/8JX6hfHmXmvwP/nvmhds9D/P+ArClCAAlYmEBlpwNq1Z9G5889YvvyYftLRBUuWtMecOa1RoIA3tOR+EK2svayu9QuwBRSgQMoEzBpckSpkzZoV2bNnl5exyd3dHTly5ICLiwv4zz4F/H3vY/OiL1VwxSOrD6o1bYNSNevB78EdrP16Kk7u3qIHWELj40RHw+/+XexZ/T0cnXlWJz4O31EgcwQ61SuKbg1LIrePO24+DEqyEiXzeeOTPs9hRIfKuOUbiPkbz+DAhfvorAdNVn/UAnmzeSS6rvyRUblYDnR+vjhyebshMio60XxcSAEKUMBaBMLCInHkyD3cuhWAl18ui3XruqNHj0pwd3eyliZYYj1ZJwpQgAKZLmDW4IqmaWqkyhdffIHz58+IPC53AAAQAElEQVTj5s2buHr1KtavX48HDx6gYMGCuH37tkrh4eGZjsEKZIyAwRCFh7eu4+qpoyhfryk6vjsBDV/pjxf6vo0X+7+DHPkK4fzB3Qj294tXobCQYPy7+TdAP6NToX4L8B8FKJD5Al9vOI3GH65DtbdXYeGmMzDoQdCEtXJ2ckCTyvnRvGoBzP/zNPrO3Ikxyw+i1/QdmPDDvyiWxxvvvlwp4WrqffYsruhQpyicHDXsOHEboRFRajkfKEABCliLgPwsBgaG486dAEhgxdPTBb16VcLPP3fB/PltUbVqXjg46J0ba2kQ60kBClCAAokKmDW4IluUoMqOHTvQqVMnvPHGG+jdu7eab+X06dNYvHgx3nnnHZUuXrwo2ZnsQCDaEI2w4EA4u7jAK3suODr9fxSKt/7e1cMT0dEGxP0XrfdMLh8/iMvHDqHGCx0g+eJ+ztcUoEDmCJy96Yer9wOeOaJEAiRlCvrg7uMQ7Dt3H4/1PzKMtV2x8yIeBYbhlYbF4Zpg4kYXJ0cVlGlQIS9+33cVRy/7GlfjMwUoYC4BlmtSgaioaFy9+hgLF/6L119fh927r6vyS5TIjiZNiiJ3bk/1ng8UoAAFKGD9AmYPrjRo0ABvvfUW+vXrh+bNm6NDhw4YMmQIOnfurOZgkXlYJHl7e1u/JluQIgEHR0dky1MAblm8cfPcST2dgO/t63hw4wou/LsX4aEhKFqxOlw9s8SW9/jeLez9fQVKVq+DUjXqxi7nCwpQwPIFnBwd4ObsiLCIKJXi1jg8MgohYZHIndUDcumQ8TM5i1uukI+6HOj4FV/8+e8NROmBWePnfLZvAbaeAtYgEBISoQdTrmH06O0qXb7sh4sXH+snkKyh9qwjBShAAQqkVsCswRVN0zB8+PAUJblEKLWVZ37rFNA0DdnzFkDNlh0Q+NgXG7/7Etu+n4fNS77CoU2/IVehYihbuzHcPGKCKzLK5e9flsLV3QPPte4MBwfeltA69zxrba8CQaERuOcXgpzebiia2yveCJWKRbIhu5cr9J8F9ZnRSEa7dKxXFFncnfHT35fw4EmCOZiMGS33mTWjAAXsWODaNT8sXnwUAwduwNq159CwYRGMGdNAXQ4kv3d2TMOmU4ACFLBZAbMEVzZs2IDAwEA9Mh+Nn3/+Ocl07ty5Z8JGRUVB5mIxpsiICL3M+JeLPLMAfmixApqjI7L45ECO/IXVKJYs2XLCO0ce+OTKh2hDFAIeP0BUZASiow04tXsbrp0+grrtuqvLiCy2UawYBaxOIGMq7K+fvT108QGCQiPR6fliKtUvn1fd9WdEhyp6YEXT/1sH3F1jAqdyeVDjSvnQtHIBrN57Bf9efJgxFeVWKEABCphA4MGDIEyZ8jdGjtyMoKBwvPZadXz6aXN0714JMt+KCTbBIihAAQpQwAIFzBJc2bRpk34wiblrxOrVq5FUetY8KwaDAVu2bMGkSZNi07LF3+H+jWsWyMgqpUbAoAfN7l4+h0MbV8PF3R2Nuw1Ai1eHoHnvwajWop26POjQn6sQ9OQxbl/S821ajcqNWqJYlVqp2Qzz2ooA22H1AgZDNA6ef4C5f5yGm4sjhrWriPE9auDd9pURpf/Wn7vppybCDdSDL5qmoVgeL/RpVgbHrz7C2v3X9DzRVm/ABlCAAvYjEBlpwPHj91CnTkGMH98Y48Y1gkxaq/+82Q8CW0oBClDADgXMElzp27cv5BbM0dHRePnll/Hmm2+qSWuNk9can6tVq/ZMcmdnZ8htm43J1cUVmoNZqvzMevBD0wpERoTh0tEDCPTzRema9ZGzYFE4u7rB3csbJavVRt5ipXHj3EkVXLn47174+z5AwKMH2PnTt9j+w3zs+mWxvv4+hAT44/Se7ep2zg9vXjVtJVNZGrNTgALPFnjoH4qf/76Esd8fUkGW1f9cweIt5zD156MICouEBGAu3H4CJwcNlYpmR+0yuSFBlpEdq+DTvrVVeqF6Qbi7OqnAiywrnCsLNO3Z2+WnFKAABcwtIMGU/ftv4saNJ+q3LF8+L0yZ0hSffNIMfftWRbZs7uauAsunAAUoQAELEDBLpKJ69epwc3ODBFfWrVuH8uXLx5u8ViawlZQ/f/4kCRz0IErjxo3x3nvvxaauPXsjV4FCSa7DD54pYDEfysiVAN/7au4UZ/17Erdijk7OcHRyQWR4GAxRkXDL4oUCpcsjQA+w3L10DipdOa8CLlGR4Xh8/7Ya6RIaHAj+owAFLFvgSXA49py5hyVbz2PuhtP44a+LCAmPVBPZnrvlh+sPYv47lmXHrvjC2ckBNUrmjE35s3vAUQ++yMS3stzTzcmyG8zaUYACNi/w8GEwFi8+glGjtmHGjH/g6xus2tysWXHUrl1Q7+to6j0fKEABClDA9gXMElwxsmmahrNnz+LOnTvGRck8x//Y0dERMnrFmJycnfSzlGatcvwK8J1ZBBwcHeGdMw+C/P1w8+wJNbeKcUMyAuXhravw8PaBi5sHytVpjGY9B6FZ78GxqXG311Gqej24Z8mKivVboN7LPZCrYDFjEXymAAUsUMBJD4o4O8b//fZyd8bAVuWRx8ddBVsiIg2INBjwz5n7GPndvqfSxn9vqDsLLdpyVn127X6gHsS3wMayShSggM0LyGg7ufRnwoS/IPOrHD16F+7uTnBM8Dtn8xBsIAUoQIF0CdjWyvF7uiZum6Zp6Nu3L+bMmYMjR47g8ePHai6WoKAg9RwREWHiLbI4axBwdnFDiWq14eaZBcd2/IHNS2ar+Vf2/vY9ti6fi3tXL6J8vWbwyp4T3jlyI3eREshTtGRsyl24OLJkywFHZ2dkzZUHOQoUgauHpzU0nXWkgM0J1CyVC0PalMfIDpXRpHIBaPr/2tQqpN4PbVsBtUrnUm0ultcb73eqgimv1tIDKuXwTruK+GZIA/RqUhLf77iAtftjLu2LjgZ8A0IhI1cSpruPQ9T8K1fuBajPg8MiVdl8oEBaBA4fPowRI0agVatW6N+/Pw4dOgSDHtxLWNa9e/ewYMECvPrqq2jbtq3KK6NyZeL+hHn53j4EAgPDsWrVGQwbthHLlh2Dl5crpk5thsGDayFrVjf7QGArKWBPAmwrBVIo4JDCfKnOtnjxYgQHB+OLL77AypUr0blzZzRo0AB16tSJTT/88EOqy+UK1i8g8+bkLVYaL/Z7BwVKVcCNs8exf/1KHN35ByIjwvF8h16o1qytHjDJYv2NZQsoYOMCcnnOoNYVMEIPrjStnB96TB2taxVR7we3Lo9aevBFCELDo9Tw+KZ6AEYmsn2zVXnk8HbD5J+O4PPVx/EoMEyyMVEgQwRkVO306dPViZ4+ffrA09NT/8N4MCSQkrACskzy16tXD2+88QaKFi2KGTNmYOfOnYjgSaKEXDb/3s8vFIsWHcHw4Ztw8OBtvPhiCcyd2wa9e1dBwYJZ4eio2bwBG2iZAqwVBSiQ+QJmC65MmDBBBVek8yKBlmnTpmH8+PEYN25cbJJ5VzKfgDXIDAEnZxcUKlsZLfq9hZ5jvsCrk77Gq+Nno+O7E1C1aRs1MkXTEu+gOLu5o1rzl9Br7EyUqvF8ZlSf26QABf4TWLHjIlqM2YCa7/6GSkN/RcnXf0IV/VneN9OXL9t+QeW8/SgIX645gZcnb0KTUevQbPR69Jy+XY1aufc4GDJiRWV8xsPXG06hxrDV2H789jNy8SMKJC+wY8cOREZGQgIrHTt2VHclDA8Px48//vjUyuXKlcPYsWNVXhnl8u6776Jw4cLYt28f/P39n8rPBbYt4OnpjNy5PZEjhztGj26AL79siXr1CuoBOmcVXLbt1qe7dSyAAhSggE0LOJirddLhkAltO3TogKRSqVKlzLV5lmsFAg6OjnDzyAJPn+zwypZTBVQ8vLLCSe4KlURgRZqlaRpc9ACLZ9bscNbzyjImClAgcwQCQyNwRw+O3PINQsJ051EwAkNiLv+MMkQjQH993y8Et/Xl8pmvfyhCI6IQncKqy/qynoyCSeEqzEaBpwSioqJw8eJF5M2bF0WKFIGLiwt8fHzU6Nrdu3c/ld/Z2Vl9LnculNeSX/o38uzg4PBUfi6wdoGn6x8eHom//roGg/475uTkgJdeKo3Nm3tjxIi6yJ/fC46O/B48rcYlFKAABexPwKxHAzkrJJ2YpJIhkWub7W8XsMUUoAAFKEABCmSUgFyyLPOleHt7qzsbGrcrwZbkJuCXoMrq1atx7do1yGVCWbNmNa4e+yx5pPyHDx/CmGSuOVku/Z6k+kSpWq4HiCR/7Eb1F/KeKQqmNIiMjML16356MOVHdOu2CmvWXNQDLAb9e+OIHDncILE1U26PZUUpX/lvhRam/S4n9JTforgp4ed8b1p/saapaU0T85TfDlNbS3mS9MNsiv5v1uBK7dq1IaNTkkqLFi1KUSWZiQIUoAAFKEAB6xKw1NpqmgZN0yCdsLh1lM6To6Nj3EXxXkdERGDTpk1YtmyZ/od2NzV/nIP8dR0vFxAQEICJEyeiYsWKKlWtWlVN7C9BHV9fX5gyRUVGqq1H6s+mLNfey3r40BdXr97BggV7UbXqN9i58xpy5nRHZGSoSfefvTsn1v5Hjx7Bz8+Pzib+rUho/VAP/sqNRiTJ64Sf871pf6vlOy3WdDWta0JPcZbfkITL0/tershRB9sUPJg1uDJp0iTMmjUrydSkSZMUVJFZKEABClCAAmYRYKF2KODh4QEZcSKdMAl4GAlu3LiBggULGt/Gew4LC4PM0yJ3DWrevDl69OiBLFmyxMtjfOPl5aXmcJFLjyTJZLjDhg2DbDdnzpz6H+mmS45OTmqzTvqzqcu21/K8vbPpf9gDkycfwrBhOyEBt44dy+L337uic+eKJt1/9mr8rHbnyJFDXYb3rDz8LP2/Ibly5UL27NmRLVs2fqdN/Luc2PdTnMU7sc+4LP3fZ6Ohj48P5DfE+N5Uz9JnUAfbFDyYNbjSunVrtG/fPslUsmTJFFSRWShAAQrYswDbTgEKmFJARpuULVtW3RlIAh9yCc+1a9fUBLVy0kdGtEhQ5PbtmImTQ0NDVWBl/vz5qFq1Knr27Am5u5CMFpG8CeumaRpcXV1V8EUCMJLkvaZpasSMbN9UKe62TVWmvZdz5Yof3nhjPX7++TRKl86hB8qaYNmyDihRIrvJ95+9WyfWfk0z/X8niW3H3pdpGp0z8jugaRoycnv2ui1NM/33WtNiykQK/zmkMF+qs2malup1uAIFKGClAqw2BShAASsSaNSoEeTM7U8//QS5RFlG2hYoUADt9RNCEjQZM2YMli9frlp04cIFyJ0Pb926BRmVsmXLFsh6cregkJAQlYcP1i0QFWWAwRAztXbWrG4oVCir/l0oo4IqAwfWhLNz0peLWXfLWXsKUIACFDClgNmCK126dIGbm5sp68qyKJAuAa5MAQpQgAIUEIHixYtj6NChkBG0J06cj0iikAAAEABJREFUQJ48efDZZ58hd+7c6uxi1apVIXkkr5wBLF26NCQdOXIEElyRJOvJqBbJw2SdAtF6POXBgyBs2nQJR47cQXh4lLr7z4QJjfHNN21RrVo+62wYa00BClCAApkiYLbgyjfffAOZiT9TWmW9G2XNKUABClCAAhTIAIEKFSrgww8/xMKFCzFlyhRUqlRJXfYhc2zIcjlJJNWQfHPnzoVMZBs3DRo0SM1ZIHmYrE8gIiIKp07dx+zZBzB8+Cb9e3AY9+4FqYbI5UBeXq7690G95QMFKEABClAgRQJpCK6kqFxmogAFKEABClCAAhSggMUJ+PuHYf36Cxg7dgfmzj0IV1cnlC2bEy4u7BZb3M5ihShAAQsQYBVSKsCjSEqlmI8CFKAABShAAQpQwGoFZF6Vq1f98OWX+zBu3E7s3HkVjRoVxcSJTdCnT1XkyZPFatvGilPA7gUIQAELEGBwxQJ2AqtAAQpQgAIUoAAFKGBegdDQSKxffx5z5hxAYGAY3n67th5YaYzWrUsiWzbOE2hefZYuAkwUoIBtCzC4Ytv7l62jAAUoQAEKUIACFNAFXFwcUalSHrRqVQozZryIIUOeQ4UKuXk3IN0mzv/5kgIUoAAF0ijA4Eoa4bgaBShAAQpQgAIUoEBmCKR8m3IXoGHDNiIsLBJOTg6oU6cgpkxpitatSyFXLo+UF8ScFKAABShAgWQEGFxJBogfU4ACFKAABShAgVQLcIVMFQgLi1KT1XbvvgrffnsES5YcU/VxdXVEwYLekGe1gA8UoAAFKEABEwkwuGIiSBZDAQpQgAIUsDYB1pcCtihw6dJj9O+/Bh9/vAPnz/uiS5dy6NSpHPiPAhSgAAUoYE4BBlfMqcuyKUABClAgvQJcnwIUoECKBKKiDFi16jTat/8RK1eeVJcB/fBDJyxY8BJy5uQlQClCZCYKUIACFEizAIMraabjihSgAAWMAnymAAUoQIHMFli37jzGjt2Jc+ceoXXr0ti9ux+6dq3ACWsze8dw+xSgAAXsRIDBFTvZ0WwmBUACClCAAhSggA0JREcD4eFRkPlVpFnNmhVDu3Zl8NlnzbF0aXuUKpUDmqbJR0wUoAAFKEABswswuGJ2Ym4gNQLMSwEKUIACFKAABZITiIw04No1P/z88yls2HBeBVi8vFzVnYDeeacOsmVzS64Ifk4BClCAAhQwqQCDK6nn5BoUoAAFKEABClCAApkkEBQUjt27r2PUqG0YNGgDVq06g9u3/VVtHBw0cLCKouADBShAAQqYRiDFpTC4kmIqZqQABShAAQpQgAIUyCwBuQzo+vUnWLbsOIYO/RMbNlxA3boF0bZtaeTK5ZlZ1eJ2KUABCliAAKtgCQIMrljCXmAdKEABClCAAhSgAAWeKXDw4C1MmfI3Ro3aisDAMPTrVxXTpjVHt24VkCWLyzPX5YcUoIAFCLAKFLBxAQZXbHwHs3kUoAAFKEABClDAFgR27bqGJUuOolq1fBgzpiHGjm2oXmuaZgvNYxssRIDVoAAFKJBWAQZX0irH9ShAAQpQgAIUoAAFzCYQFWXAgwdBMBii1TZaty6FYcPqYMqUpujXrxpy5PBQy+3wgU2mAAUoQAELFGBwxQJ3CqtEAQpQgAIUoAAFrFsgfbV/9CgEixYdxdixO3DrVsxkteXK5cJHH9VHvXqF4OjI0SrpE+baFKAABShgagEGV0wtyvIoQAEKUIACFLAOAdbS4gSio6Nx9OhdjB+/E1Om7MIvv5zG+fOPIMvl6p+sWd0srs6sEAUoQAEKUEAEGFwRBSYKUIACFKCAhQqwWhSwF4HAwHD89NMpjBy5Rc2t4unpogdYmqJChVw6AUeq6Aj8PwUoQAEKWLAAgysWvHNYNQpQgAJWIsBqUoACFEiXwJUrfpg8eRdGj96GfftuoE2b0pg3rw169aqMPHmyQEatpGsDXJkCFKAABShgZgEGV8wMzOIpQAFLEWA9KEABClDAUgVkXpXdu68jKioa48Y1xrRpzdXcKjJ6hYEVS91rrBcFKEABCsQVYHAlrgZfUyCzBbh9ClCAAhSggJ0IyF2AwsOjVGtr1MinB1UaYfnyDhg6tBYKFcoKJyd2UxUOHyhAAQpQwCoEeNSyit1kWZVkbShAAQpQgAIUoEBaBWRy2gsXfNGr12o9oLJTTVbr7u6M5s1LoEGDIpDXHK2SVl2uRwEKUIACmSVgq8GVzPLkdilAAQpQgAIUoAAFkhAIDY3EypWn0LDhYnUnoP37b+LixccqtwRUJKk3fKAABShAAQqkXMAicjK4YhG7gZWgAAUoQAEKUIACtisQERGFq1f9MGjQBvTosQoREdHo2rUC5s9/CaVKZbfdhrNlFKAABWIF+MLWBRhcsfU9zPZRgAIUoAAFKECBTBbYvv0KWrdegRUrjqNcuVyYOLExvv22HQMrmbxfuHkKPCXABRSgQJoFGFxJMx1XpAAFKEABClCAAhRITkDmWFm//gKePAlTt1iWSWsHD64FNzen5Fbl5xRIVIALKUABCliiAIMrlrhXWCcKUIACFKAABShgxQIPHgTh4sVHCAmJgKZpeP/9ehg1qj6WLWuP6tXzWXHLUlx1ZqQABShAATsTYHDFznY4m0sBClCAAhSgAAViBEz/KHOrnDhxH3PmHMDYsTsgr6OiolGoUFYMHfocvLxcTb9RlkgBClCAAhSwAAEGVyxgJ7AKFKAABShAAQokIcDFViPg5xeKDRsuqKDK7NkHcObMQwQHR0AuC7KaRrCiFKAABShAgTQKMLiSRjiuRgEKUIACFDAK8JkC9iwgI1PkEqCvvz6AceN2Yteua2jcuKj+upG6BMjJid1Ne/5+sO0UoAAF7EWARzt72dNsJwUoYO8CbD8FKEABkwtERwMXL/rqgZSd+OqrA2qkytChtTBxYhO0aVMK3t68DMjk6CyQAhSgAAUsUoDBFYvcLawUBexVgO2mAAUoQAFrEtA0wGCIRmBgOKpWzYtPPmmm5lapUCE3nJ0drakprCsFKEABClAgXQIMrqSLjyvbpQAbTQEKUIACFLBzAZlP5coVP6VQtGg2TJnSFNOnt0DbtqWRK5cnJOiiPuQDBShAAQpQwE4EGFyx0R3NZlGAAhSgAAUoQAFTC0RGGvDNN4fQtesvGD9+B8LCIuHu7gQZqVKxYm64uTmZepMsjwIUoAAFKGAVApkZXLEKIFaSAhSgAAUoQAEKUAC4etUPvXqtxkcfbcO5c77w9HSBBFvERkaqaJomL5koQAEKUIACiQnY/DIGV2x+F7OBFKAABShAAQpQIO0C0dHR+PXX02jZ8nusXn1GFbRo0cuYPv0FeHi4qPd8oAAFKGAbAmwFBdIuwOBK2u24JgUoQAEKUIACFLBpgZCQCIwcuQUDBqxVo1UaNSqKkycHoWfPSnpgxZlzq9j03mfjLFaAFaMABSxSgMEVi9wtrBQFKEABClCAAhTIHIHoaEBGq8jWZQ4VHx9X5M7tqUaqrFvXHfnze8tHTBR4pgA/pAAFKGBvAgyu2NseZ3spQAEKUIACFKBAEgIyh8qtW/44e/Yh/P3DoGka3nqrNrZvfxXvvFPb1iasTUKBiylAAQpQgAKpF2BwJfVmXIMCFKAABShAAQpkkEDGbEZGqwQGhmPPnusYMWIT+vb9Hf/8cwOy3MfHDYUKZYWTE7uNGbM3uBUKUMBSBWRUn8FgQGpSWtZJTfnMG7M/xFlSWjxkPVN853iUNIUiy6AABShAAQrYswDbbtUCUVEG3LjxBMuXH8PQoX9i48ZLyJLFVY1akU6qVTeOlacABShgAoHIyEgEBQXhyZMnqU6yXkBAQKrXS8u27Hmd4OBg+Pv7p8k5MDAQUVFR6f6mMLiSbkIWQAEKUIAC1iDAOlKAAk8LhIZGYu/eG5g8eRfGjNkBGb3St28VzJz5Ipo3Lw5HR3YVn1bjEgpQwJ4EIiIi8OjRI9y/f1/94S6BkpQm+aNd1g8JCUFK12G+gDRZSXBEAixp8bt3757at+kdwcIjpj39MrCtFKCApQuwfhSgAAUyTEAu+bl3LxBjx+7EihUnULlyHj3A0gAff9xIvXZw0DKsLtwQBShAAUsUkD+25Y91+aM9a9asyJs3L/Lly8dkYQb58+dP876Rferl5QU/Pz/ICKX0fA8ZXEmPHtelgF0KsNEUoAAFKGDNAhJUkfpreuxE5lEpUiQr+vSpgsmTm+jPVZEzp4d8zEQBClDA7gXk0siwsDC4ubnB29sbrq6ucHZ2TnFycnKCpNSsw7wp9zVaGY2Nz8blKXl2cXGBBFdk5AuDK+A/CiQiwEUUoAAFKEABCjwl4OcXikWLjuDo0bvqszx5smDs2EYYPboBnn++sP5HgINazgcKUIACFABk5IokR0dHNQ8VTWxTwLh/JZiWnhbyCJoevXSuy9UpQAEKUIACFKBARgkcOXIXH3+8AxMm7MSUKX/DYIhWwZTixbOhQAHvjKoGt0MBClDA6gQ0TWNwxer2WsorrGlayjM/I2dywZVnrMqPKEABClCAAhSgAAUsXSAoKBwrVhzHBx9sweLFR+Dp6YLWrUvqfyhYes1ZPwpQgAIUyGABbi4dAgyupAOPq1KAAhSgAAUoQAFLFrh48REmTPgL48btxN9/X0e7dmWwcOFL6Natoh5cMc2ZOktuP+tGAQrYogDb9CwBufPNxx9/jMGDB+PKlSvxsv7777/o3LkzZILeuB9s3LgRkydPxsWLF2MXX7hwAZ988gm6dOmCNm3a4PXXX8fSpUvVxK+xmUz0QuY6WbduHfr374+XXnoJH330EaQdSRUv8+Bs27YNb731Fl5++WUMGTIEBw8ejDchrcFgwKFDh1Setm3b6se9bvqJhhXx8iRVflqXM7iSVjmuRwEKUIACFKAABSxYwNc3BHPnHsT8+f8iPDwKU6c21TvKzVCvXiG4uztbcM1ZNQrYgACbQIFMEpCAggQmdu/ejbNnz8YLJjx+/FgPtP8Nmbw1bvXu3LmDkydPIjAwUC3es2ePCs4cPnwYzZs3V8GLBg0a4MCBA1i9erXKY8qHTZs26ceruShSpAi6d++Oo0ePYvjw4UluYufOnZg9ezZ8fHzQp08fyJ2cJk6cqIJJMkeOrCh1f/vtt5EnTx4MGDAAHTp0QO7cueUjsyUGV8xGy4IpQAEKUIACFKBA5gn4+LihevV86NGjon62sT3eeKMGChf2AW+xnHn7xNK2zPpQgAK2JRAREYG9e/eiWLFiaNmypQqG+Pn5paqRkn/WrFnqDjoTJkzAq6++ihdeeAGvvPIKxo8fr8pNVYHJZJZRKBs2bEDp0qVVoKRTp05qO3/++acKsiRcXQJAEuTJmTMnXnvtNciolPfff19l++OPPxAaGqpejxs3Ds2aNcM777yj8rRv3x4NGzaE3FFIZTDDA4MrZkBlkRSgAAUoQAEKUCCjBQyGaJw4cU8PpBzD48chcHTU0NHy4PIAABAASURBVLVrBcyc2VLvUBZVc62YaM6+jGwat0UBClCAAikUkJEq9+/fR7ly5dRIjf3798PX1zeFa8dkk8trTp8+jV69eqFUqVJwd3dXAQk3NzfkypUL+fLli8mY4HHBggWoXLky8ufP/1QqWLAgOnbsmGCNmLe3bt3C9evX9ZMB1VGgQAG4urqiZs2aasSJjL6JyfX/R7mEKCQkBB4eHmrEiouLixrBIvWU9oaHh+Phw4fYsWOHChDJZUY1atTAhx9+iJs3b/6/IDO8cjBDmSySAhSgAAUoQAEKWLSAXKvdokUL1TGrUqUKZEiywWBItM5Xr17Fu+++qzqUhQsXVtelS+f1/5kz/1VISAR+/PEEWrVaoXcgt+L770+oSjk7O8LNzUkFWtQCPlCAAhSgQPoE1ncFFhQG5hdMPi0oBMdvi0JbmML8iZW5tBLw6EyK6iyXwkiwQUaBPPfccyoosm/fPsjokBQVoGeSYIccDyXQ4ezsrC+J/39N0+Iv+O+djGxZs2YNdu3a9VT666+/1GU8/2WN9/TkyRNVP7m0x7g9BwcHFVy5fft2vLzyxtvbGyVLloTMH7NlyxZ1KdPPP/+MI0eOqOCJXPJ0+fJlNYJl/vz5GDhwID7//HPIsVzmcnnw4IEUY5bE4IpZWFkoBShAAQpQwMIEWJ1YATkrN23aNHWWbPv27WqyPrkeO+5EfsbMcvZr4cKFOHXqFBYtWoQZM2ZAJt2TjpwMTTbmy6znSIOGa/c0vPXWn+jb93cEB0fgxRdLoGXLEplVJW6XAhSggG0LhDwCgu7q6U6ySQu6Ay1YT/oz0pqC7wOGyGRNZYSKBFck+CCBCplfpXbt2pDJagMCAtT6mhYTGDHOS6IW6g9x30tgQ1+EuMvkfXJJRrb4+PggW7ZsTyUffbmXl1eiRWiapiZYT7g9eW+sS9wVZVm7du0gacyYMeoSKBk1U758eXXCxJhXLv8ZqAdWunXrph8XX4TMvxIUFAQZ3WLMY+pnBldMLcryKEABClAgzQJckQIZISBn0GRos1xHLkOFR48ejaJFi2LZsmVPbV7utCDDo3v06IFWrVqpQIzcmeDvv//G3bt65/qpNaA6pHLWz5ikg5hItnQvCo1wxJbzJdD6i8ZYvvw4ypbNicmTm2Lu3DYoVSpHustnAfEFZD9Kir+U70wlQFtTSaa8HJqnzEqcjEmtkbM8kL+unuolm6Lz10N0vrp6Sj4v9LyJpry1ACcPtelnPciEtMeOHdOPB8shk8/KyJVvv/0WEly5du2aOjZJ4EPa8uiRHiD6rzA5VsndgzRNU5cAyQhNGUEioz8SG/Ei+f9bNd7TypUr1Z1+ZNsJU6NGjTB06NB4+Y1vJPAigRmpk3F7MneMTLJbqFAhY7Z4zzLfygcffIDjx49D7mokJz1y5MihJsSVoIpcmiRtkLYYV/Tw8ICnpyeMgSbjclM+O5iyMJZFAQpQwA4E2EQKUMCKBaTDduPGDTXcWDpn0hRN01CnTh01pFjex01y5k86nTIE2bhczo7JGcLERq7IteDS0ZMAjqRdu3ZBAjQyTFmuA5eOo6nSubve6PF9R9wL8kKLFkUxb14rDBhQGY6OBjXE2lTbYTlhkH0n+1ae6RFmlu+X2EqS/0ZpbB5jo6s4SxJreTYu5/PT7uIjv98SkJAkgQVDo5kwdNkBwyt/JZui9TyRnSXvzmTzJlney2th8C4GtW2DIdFnmYNEAit58+ZVtxuWS10lbd68GU2bNsWqVavU75hMdCsjSGQ+Ej8/P8hIDjlGyXFLTjpI8KVq1aqQy2V//PFHdVyU46CUL5fvXLp0CRJ0Sawucjeen376SQVzJKATN8lEs3JpTmLrSZ2lXnKXI6mLBD/kBIZst169eqq9sn2ZT8bf3z/2vXwu32FN0yAjdqQNEsSROVtkXhg5VsvEtxK0kfWuXr2qLhWS7SVWD1km5cX970D2vywzHv+Te2ZwJTkhfk4BqxRgpSlAAQpQIDEBuYuAJDmDJWe1jHmkQykdMON747N0qiRJfuOyLFmyqA6a/LFtXGZ8lk6Z3OFg6tSpkPTpp5+qa8+lgyadWFOmMvkC0aHqZQxrcwuzZzdH+fJZVUfZlNtgWUGxptK5p8f/PcxhIYFMOpvXWPabBIbFWbzltSxjStpdjgHyh3d6kgRo0rN+cutK4EACDBJQkBErEqwwJpnQVY5LcoyTkRtyGayMMpFLXSWAIvOSyNwmMg9Z9uzZIce4QYMGQY6R06dPh3wu+ZcvXw65i5BcVpNYfeQ4KYELGTWSWJKRJYmtJyNN2rRpo0aDfvfdd1i8eDFku3LXIJmYV9aRCW+l3tJGeS8BHmOdZB3JX6tWLcjdgBwdHdUonREjRqg7J33zzTeqzLVr16JSpUoqcCRlJEwSPJP/LhL+tyB9BuMxPrlnBleSE+Ln5hNgyRSgAAUoQIEMFpBOnCRjZ9m4eek8ybBk43vjs1zbLUnyG5fJa+m8yXLjMuOzdC4HDx4M6cRJWr16NXr27AkpW4Y+SxDHVMmtQmdMHZ4No98ugaJF8zx1jbuptsNysqk7UcjZXlPvQ9pmi/3eiq3ME0Hn/5uY8/thnJfDnNuwhbLleym/3/Kbn54kx530rJ/cunIMqlChAho3bqyON3Hzy8gVmXtFggYSMHnrrbfUcUkuFZLJbuUuO3LJjtxu2biejOaUkSZSngRuZKSLBDhkZIgEa4z5TPUsdRwyZIgalSIT08p2Jk2aBGP5EvCRoJEEaGSZvJeTFjLa5dy5c2pOFbkdc548eWLX6dy5s5qMXu4QdObMGWUj25DvpZSRMMkxXX5/5HNjkv0v2xLflCQGV5JR4scUoAAFKEABCtiOgAwXls6ZDCeWYcLSMjlbdf78eXX3AXkfN0mnSjqecedXkY6adLhkedy88lrTNHW2Tz6TJMEW6cxqWsyEfZpmuufoumOhNZwI1P5QTQaoaaYrW9NYlqY9bSCdb017ermmcZmmpc8grm3c15qWvnI1jetrGg00LXMM5LhgTJpmvjrICI/33ntPjdzQtPjbkXlHZPSGXN6qaZq6PXHv3r3VKBSZk2XChAmQYIYcHzXt/+uWKFFCzZMi6y5duhSfffYZZDSJBOY07f/5NC39ryX41Lx5czVpvIxckflU5DIlTYspW+5cNHPmTDXyRNM0NbeKTFAro1ZkZM3AgQMho2bEWtNi1pEy5Q5Gc+fOhbTh9ddfV3f907SYzzUt8WdNe3q5lJuS5JCSTMxDAQpQgAIUoAAFbEFA/mirVq0a7t27hz179kCGQu/cuRNHjx5F27Zt1VkzmRhPhj1Le2Vos3Tq5K5Ccj23TBgo+WXotQRpJA8TBShAAQpQIAMFuCkLFWBwxUJ3DKtFAQpQgAIUoIB5BJ5//nk1ge2GDRsgt3H86quvINd7y/BnuS5ezoRt2bJFbVwCKxJ0kVsyT5w4Uc2jImfDZFi0XJuuMvGBAhSgAAUSCPAtBexPgMEV+9vnbDEFKEABClDArgVy586NPn36oG/fvmjSpIl6LRPfyVBnuQZbhhfLbZcFyc3NTV2nLcOPW7duDbkN8/Dhw1G9enVIkEXyMFGAAlYqwGpTgAIUMKEAgysmxGRRFKAABShAAQpYh4Bc7tOyZUvIdeft27eHjFDRNA1y2ZAsr1GjBoz/ZN4VmQywe/fu6Nq1q7rTgARdjJ/zmQLmFGDZFKBA5gvI3FySMr8mrIE5BEy1bxlcMcfeYZkUoAAFKEABClDAfgTYUgpQgAI2KSABd03TIHeJMxgMNtlGNgqIjIyEBFhk9Gp6PBhcSY8e16UABShAAQpQwEoEWE0KUIACFKBA6gQkuCJ3fgsNDf0fe2cCb1PV/vFniRLFJRUSbkloQiX1f8slaSBDylSkGRGKXpXXUFE0DyLj1YzMlCZDA5XmUVKm5lEkUfT3XdrXOce5173uOZxzz8/Huvvsvddee63v3nutZz3Ps9YyVpnbsGGDbdy4Mddh06ZNRsjLNYqbe74Bq4BxsA2O52bLs12zZo0f6pvf4b5SruTt+1JsERABERABERABERABERABEUhAAspSPAgwH1daWpqtW7fOVq9ebatWrcp1WLlyZa7j5iVdxQ1/BnDm2bDNKxuuW79+vZUpU8bkuRKPL0hpioAIiIAIiIAIiIAIiIAIxJ6AUhSBJCOA90qpUqWsUqVKVrFiRatQoUKuA/N5cS0TqfM7L9cqbt44lyxZ0sqVK+fnUMsru/T0dGN+Nedcvt5Oea7kC58uFgEREAEREAEREAERKGgEVB4REAERCCXgnPPDRpjMnGFCuQ3FihWzffbZx4jPb7YK+3oeseQA27333tt4PvzOa9pFihQx5/KnWOF9KcQfBREQAREQAREQAREQgaQioMyKgAiIgAiIgAgkEAEpVxLoYSgrIiACIiACIlCwCKg0IiACIiACIiACIpAaBKRcSY3nrFKKgAiIgAhkR0DHRSCOBFjakeS3bNlimzdvVkhyBizXqecYn/dYbOPDNaf3Vcx3L3Pxjh/veLKl/aYdD9pzfmcXkkq5UrzIXnZo2r4KKcLgkBL72N+/fmdlixfRM0+RZ16jfEk76/hDFaIwKIhczqx1iNUos8UaHH2wnnmKPPOTjjwoO3mkwB5HGKNzs2TJEps2bZpNmTIlZmHq1Kk2e/ZsYxvLdJXWjs+IZzdr1iyxjuH7G/me8R5Pnz7dxHnH9y+SVX73YT1jxgybOXOm3uk4vtM8J1jDmXeb3xxTiP07DlvaQzjHki/pLly40FCwEHYmrCSVcqVciaJ2xhEHKqQIg3qVSto7U8ZanYOK6JknxzPP93O6IqOKTb2pkUKKMJhwfX2rt9+nNvzyY23KjWfouafAc7+1/Yk7k0sK5PmqVav6ctFBnzx5ssUqTJgwwTp16mRsY5Wm0tnx+Tz99NM2btw469Wrl02cODFmz0+sw1nDefjw4da3b19xjmE9Ee09mzRpkg0dOtSGDBli/I4WR8fC389d5UGd0a9fPxs2bJjxju9qOrou5+cB5969e9uYMWNiyhnlyvLly+2kk07y7fjO/iSVcmVnhdH5gkUAS9+cOXNsw4YNMSyYkhIBEUgUAnzjc+fOtbVr1yZKlpQPEYg5AVaJaNGihe+cjx8/3jIzM2MWRowYYXvttZexzYxhukorc4dnNHDgQKtcubKNHDlyh3OZYh8TJmPHjrXu3btb7dq1bdSoUTFJU88mMypHOqAtW7a0Zs2a2ejRo6PGydR7HRMuvMt16tSxrl27Gu+4uGbGhGtmxPtJ3VylShXr379/XNKnbmIVItvJPylXdgJoj5zWTUVABERABERABAoMAZaG3G+//fwSkfyOZXDOxSXdWOaxIKSFkqxQoUJiXbRoXBmwlCoKw4LwziR6GQoXLpy1tHCi5zXZ88c7zVK/yV6ORM+/c86oQ2KdT5QqxYsXz9VSzYV2VXLRdSIgAiIgAiIsamDbAAAQAElEQVQgAiIgAiIgAiIgAiIgAgWfgEq4cwJSruyckWLsIQJoeRs1amT77rvvHsqBbisCIhBPAnzj9evXtxIlSsTzNkpbBAosASzPTZs29dbnAlvIBClYyZIlLSMjww/DSpAsFbhsOOesbNmyfm4DvIQKXAETqEDOOTvyyCOtevXqVsBYJxDlbVmB74knnmiHHHJIrjwftl2lv3klgExZr149K1WqVF4vjWl8KVdiilOJxZIAbl19+vSxtLS0WCartERABBKEAC6yPXr0sIMPPlgCR4I8E2UjuQgwVGXQoEHGNrlynly5dc75jlG3bt2Meiu5cp88uaUTWqNGDevQoUMB57znnwkd0QYNGtgZZ5whhWGcHwd1Rrt27ezoo4+WIiuOrOk3dunSxQ499NA9KlNKuRLHh6yk80eARvawww6TRS5/GHW1CCQsAb7xSpUqqWOYsE9IGUt0AnxDrETENtHzmuz5Q4FFfZUyrPfQA2NuovLly+/RztEeKvpuva1zzg444AAfnHO79d6pdjPnnPFO77///qlW9N1aXuecVaxY0c8JtVtvHHEzKVcigGhXBERABERABERABEQg8QkohyIgAiIgAiKQSASkXEmkp6G8iIAIiIAIiIAIFCQCKosIiIAIiIAIiECKEJByJUUedCoUc+nSpdawYUObM2eObd68ORWKrDKKQNITGD16tGVkZNjvv/+e9GVJ3gIo5yIgAiIgAiIgAiIgAvklIOVKfgnqek/gtddeszp16njlxuLFi/0x/ixYsMAqVKhgP/74I7t5CldffbWf8ZnVgooWLerH37Jln7GLgwcPDkuP+VkmTpxoTNDFRF1hJ7UjAiKwWwgwXp5vlMAkbnyL/CbwbS5cuDAsHxdeeKFNnTrVihcvHnZ8hx0dEIEUJPDPP//YG2+8YRdccIGf+JkJEcePH5+tMvKHH36wgQMHWnp6up/Ujwmjly1bZqSTgvjyVOQtW7bYrFmzjBXMmIvi+OOPtxdeeCEqO5j26tXLjjnmGGN1mxNOOMFQFK9ZsyZP90zFyHB+8sknDWas6lG3bl1btGhRVM4BH97fBQsW+AlBeT67IlMGaaXSFkPj/fffb4cffriVKVPGzjvvPPvggw+yZc37e+utt/oVhNLS0uyoo46yF198MZWQ7VJZN23aZEwsTr1brlw5u+yyywyDb7TEeP/HjBlj1C+8/6zY1K9fP/vjjz+iRdexEAIweuqpp3wdzfvcpEkTW7JkSUiM8J/UG9TpNWvW9HMLYYB/7rnnjGcQHjO2e1KuxJZnSqfGZG/vvPOOzZ8/P8dKgo8DAfDbb7+1n3/+2TZu3BiV2+233+4rp5UrV9qrr77ql2t96aWXjH0UOHTK1q5d6xU3NLSkwwdDIMENGzbYd999Z3/++ad9//33/vdvv/0W94+KeyukJgGV2mz58uX+G/3kk0+MzkejRo38PsfHjh1rRxxxhPEd8m3y/SL8EQJ2a9assV9//TUrDt8233JwXlsRSCUCn332mdE5KlmypE2bNs06d+5sQ4cONZSUf//9dxiK9evX24QJE2zmzJl2zz332KhRo+zzzz/3W9rasMja2YEAHfw777zTMjIybO7cudasWTNr3769r78iI1NPlShRwu666y6j03/FFVf454Qyho5WZHztbycAI+S7iy++2L/Hp512mrVp08a+/vrr7ZEifq1evdrGjRtnfAco8CNOazcbAtQHN998s8Eb7nTmaZdpVyMvof7473//a++995498MADXgmDwpCVVyLjaj+cAO8mrO69915fB+OJi5Lql19+CY+4de/ZZ5+12267zbp3727vv/++3XfffTZlyhRff2w9rf87IYAhrlWrVnbppZfuJKbZp59+atQz9Bep01HkYph/9913d3ptfiJIuZIfero2jADrt7OOO1Y2Xlw0hmERtu7QmULoO/fcc+3MM8/0y+1NnjzZonWemFX7wAMPtIMOOshrHJ1zVrp0ab//0UcfGRrLAQMGGB/NjTfeaGgjW7RoYShg6KwhYGJVGj9+vPEh0snr2bOnIaxuzUqq/le5RSCuBIJvli2NIEvj8Q2j9ESgwCPtpptuMuoAvv2RI0da06ZNDcGOONdcc43v0PBNN27c2Jo3b25Yeag74ppxJS4CCUgA4RuDRIcOHezkk082lpmsXbu297DgmwnNMkpJ2j+8XPhuzjrrLGvdurXhZaF2L5TUjr+RV2DHakDIFMcdd5z973//8563dJwir8DrAmszcgWW58svv9xq1KhhH3/8cY7Gpch0Um0fzngq8i63bdvWe0jQ8UfemzRpUlQc69at84oV+HIdbUrUiDoYRgDWKFjphFIn1KpVyxs8kLfpaIZF3rrD+48RBAUuChUMllWqVDHe762n9T8bAnAeMWKEoWBFIYuy8Morr/RGXfpDkZfBmHqGJbBZ2eaUU06xk046yVAgRsbVfjiBYsWKedmRd/TYY48NPxllD4UX/cDevXsbdTrtKJ5FKBqjRI/ZISlXYoZSCTnn7PTTTzde/gULFhiWnUgqaGwRVK6//npjCM9//vMfe+yxx7z1Ynvc3P2iIqLRpcN2yy23GMOCIq9EKH355ZftoYcesuHDh/s8oSXGmyUyrvZFQATiTwDFKI0drp3NtypOihYtGnZTrPEffvihVatWzR5//HFDAEdRKtfkMEzaSQECfAt4XeIVyvBaiuycM4TKFStWWKSHBO0a1n+GDhGXULlyZe+t+dNPP7GrkA2Bv/76y3duMBIxHIJozjmj4/PWW2+xm2PAExdrddmyZY3hkDlGTuGTvLNffvmlUb8zVBQUhQoV8p1LhquwHxro4OPWj+Lw7LPPNpT2oef1O3sC1AcMmUDODmLh9ZOenu4VrsGxYIvHCr8feeQRw8hBwIC5atUqDitkQwBlFZxRkARRGLLC0EL6KcGxYMsUCs45Q5mIV/706dMNxrzfQRxtY0Pg7bfftv/7v//LSoy6HcUhCi6UYlknYvxDypVdBarrohJAG4tHyptvvuldCrFEh0Z84oknDGtay5YtfePK+E8aS+KHxsvNbz4QOmeMWyy7VaCJ7KSRBvfv37+/HzdKxYd7GJ07GnfOK4iACOxeAlh18FRhDDguyszJEpoD55yfL6JTp06GAE5c6hWGHNIBCo2r3yJQkAnwvmMgQLkS2r5h5cdrhfYttPx4bHKcDlRwnA4sx+mkBse03ZEAHVEC3nahyhHqqGiu/aEpoLjKzMw0WCPIY2AKPa/f2wnwPvNe8w6H1v0M94k0yPF+47nFnH4M1aI92J6Sfu2MAMZHvn3e4SBu4cKFjbqEcxbxDwUWXudlt8rTd9xxh/Xt29fonDIMMSKqdkMIMMyZd5WOe3CYOoTA+x4cC7Z4AqHwoj80YMAAGzZsmOHBgtEpiKNtbAhQd0d7/1GIYbzYpbvk4iIpV3IBSVHyRgBXN15mXAx5sUOvxrqDm2FwjAaWRpXKKa9aRMY70wgEaUXb0ngH96NRCeJH5ivatTomAiIQewIoU0OFkMg78M2iOEUw4Rx1BFYg6ggaRI4piEAqEOBb4DuggxQqCGL957hzLgyDc857TXA+OMF1zjmj/QuOabsjAfgQ6PjTUQpioHChMxrsR26Zu4JOEsOBmMSyatWqfvL9yHja30aA9xZPFd7RUJkP5V8kZ+r7559/3ntZYGmGM0p2rPzMJSI5bhvT7P4yfMo55+cdDOLwblMncC44Fmx5NsjIF110kfeOQ1HIUBc8h7guiKdtOAGU386Fc6bOhhlMw2Ob4cH/+uuvG8MK8eRnqgTe5QcffNBCv4nI6/Kyr7jbCKDwph7Ztmfei5P3n+dCPRQcj/VWypVYE1V6fk4U5j7BGwX3fl7kAAudKtycg30EFzS7u2Lp4cNAGArSiralcmPyXM5R2dFB4zfWKbYKIiACu5cA3yydxuzuyjeLoMH3ShzqCNztaSSjCYTEURCBgkgAARDXcr4BvCMoI8I3HU3GjXOeY0FAyGd+o5UrVwaH/Lh/vjmMEVkH9WMHAnTsUeKiLKG+IQKsmZg7O48JZAtWvUHWYfhivXr1jGfAtQrRCSDr8Y6iIEGhQiw4MycQ3ozsB4HjDGs7+OCD/cSf8+bNsy+++MIvYsBwiuA5BfG1DSeAYQJlCYq/4AwdTWTwYJhhcJwtxzCMhrbPtLvI8DwL4sQwFJikMBDzTvMOB4Vijji8gzgeHAu2DHFmYn/qCwxJzN/UoEEDe+WVV6RcCSDFaIuymzo8SA7PTtpS6pTQ9zw4H6utlCuxIql0wgjgwokrP5UIlUxwkjGFTKTFJE+MDacyQZhhuTfnwq1wwTX53TJh5ldffeVXHpo9e7ZfnpIGO7/p6noREIHYE0C5wgonTFD9zTffGC7hdBbp4NABiv0dlaIIJCYB55xfXQshkHaT74DvgTlAmAuEjs+MGTP8JO6UgM4Uw2Sx9mPYYB4AOqR4i6nNg1D2AWMNE/IHjKl7Ao4Yi/C0YLUmFCmkgtyCJwXzyzGpLcOOUQijCFNHFELRA5yRD3mHYUlHnzm1UJrAkaFBzEHB/CsoYhj6zRAVhqYQzjnnHL8cM8O9y5cvH/0mMTua3AlRbzDBKnN7MLwKmZt2FaUU7yvzNuGVgrKWkjJZMNdQ1xCXdphJ53leHCeOwo4EYEMdAWemHeBdxnOf4wz1oXP/zDPPGCskcjXvLXUz7zhDseC8ePFio452Lj79IO5bEAJ1KwZ5WGIsp76lLmY1POpo5g2i/gj6nUw9QX+TdpA6nT4n8+Dw/seTh5Qr8aSbwmljJWPGfSoOXv4ABTOWM9kejWSfPn0MZQdC4qmnnhpEiemWzhjWEZZEY2wjH1fHjh0N7XxMb6TEREAEYkIAgQRrD66zrCr06KOP+jmTmCw7JjdQIiKQRARoL+l0InyzghZL/7JaEMNv8ZLg+0CYpEi0uwiTKF2CNo82mJW5sJASRyF7AhkZGVa3bl1jNRuWpGUuhDZt2hjzIyBHsPLg/PnzfQIs8cnS8nSQkGNuuOEGPwkoChcs1j7S7viThPdo0qSJX7mDlTxYxePhhx82VrRhok86SSxygOIFRQzzB9EeBAGvY957vIzwyErC4u/WLF9yySW+0z5o0CBD5qaTiWxevXp1o1PP+7p06VKfJxQB7dq18x4UvM+DBw/2wwmvvfZaf15/sifAHHF45rO4BquMoTxp1aqV4Y3FPDZM4E+nnhQ4zhwrDAPq1auXDRkyxBiOeNVVV2lIIYByCChQ8Frr0aOHXwyFepjVxu6++25DSbho0SKjTUTxQjK0kyhoWciEOh1jBB5D1Omcj1eQciVeZFMsXVyvunbt6gWToOg0lAiCNJQIfRxHY4uAyMSyNLBUJiyNRcPJ+ewCljeWlON64rBaAuMVqaDYJ3COYzVr1jQaZY7R+HIPPGbOP/98oyHnw+KcggiIQPwIoNikUQsEMxSazElA54/vTa5FPAAAEABJREFUMrgz7rADBgzwk+xxjG+XCd/at29vWClZ0pBx36HfOvEURCAVCOByjlWU9rV58+a+E4pgiQu/c84vzUyHCBZ8Vyw3STuHUgBjRvfu3Q2lAR1S4uyJkCz3RA6hk3/55Zcb8gkdpp49exoeFNRnPANkCcrD6oTIG9RdTLqN8pdAp1XDFyGUfWBFJlai6dixo6/ju3XrZldffbVvA3gGXbp0MSY+j5YCikLef7y0op3XsXACrAyElw91BO803Fu3bu2Hr+ExjnyMApereMfp+POeE5f6hne8Vq1anFbIgUC1atX8BMDUu8g4cG7cuLGfAwuFLXVKenq6TwHudPR5JnT+iY/iK94dfn/zJP+D8a1y5cpGPcB7iqEejhjoS5cubfXr1/dtIr8pKvUE7SEyJO808iR1PMNtOR+vIOVKvMimWLooP5j8iqFAQdGpqFkZiBc/EOzoOKHJRRihgkcYYex4cE12W6wXCIoImsThGiolOmzsE1DgcIyG27ntrnV0ynCN5HoUPuSL+AoiIALxI0BHD6EtUGZiTef7wzpGPRDcmbHHWOaJHxyjc0JcvlkEFIQS57Z/00E8bUUgRgQSOhkERYRHvgeESr6H4HtBmER4DwpAW8t3h0KGVfkYJoS1Pzivbc4EMNIgRyCfoNxlbD5XML8N8gr1F/sotzDY4AUQGhhaIRkDQjkH5DL40hlFTuQd5wo6Q7zTGOzYjww1atQwvgUxjiST/T4sUZTwTqO0CuRo3nXaZ2Tm4GrOwRclC3IzigDn1PYGfLLbOue8hy31LvUCdTL9FuLT54E73lbsO+eMZ4Jsw/sPZ5Ti1DGcV8ieAO0e7ELrXH5Th9APRcmFwS60zaO/CGve/4YNG1pQp2d/l/yfkXIl/wyVggiIgAiIgAjEmYCSFwEREAEREAEREAERSGQCUq4k8tNR3vJFAPfdhQsX5isNXSwCIpAHAvmMikcL42dxtc9nUrpcBERABERABERABERABHYrASlXditu3Wx3EsC9tEqVKrvzlrpXEhBQFhObAC6cu8NtM7EpKHciIAIiIAIiIAIiIALJRkDKlWR7YspvKhBQGUVABERABERABERABERABERABJKIgJQrSfSwEiuryo0IiIAIiIAIiIAIiIAIiIAIiIAIiAAECrZyhRIqiIAIJCyBn3/+2Qhk8K+//rIff/zR1q9fz27cwz///GO///67/fDDD8bvuN9QNxABERABERABEciRwObNm+3XX3/1IceICXTyjz/+8LIEckx22frll1/sp59+yu60jouACMSKwB5OR8qVPfwAdHsRSFQCCAvLli2z999/3z744AP7+OOPbfXq1bZx48aYZfnaa6+1Xr16+fSWL19uAwcOtPnz5/v9nP6gFPnwww8NISyneDmd+/PPP+2xxx6ztm3bGmXNKa7OiYAIiIAIiIAI5J7Ahg0bLJAhkCOCgJIhJ4PG999/72WBm2++Ofc3y2XM3377zT766KMsuebTTz+1b7/9Nl+yBLd+9dVX7aabbrKVK1f6tFatWuWNRVu2bOG0D8OGDbNbbrnF/471H2Sizz//3JcLzshr5GHTpk25vhWGrhUrVsRUxsv1zVMwoopccAlIuVJwn61KJgL5IkDjfMUVV9gFF1xgXbp08QFFyGuvvWaRDXZOglJuM3H44YcbK8WcccYZO73k7bfftlNOOWW3ebnsNEOKIAIiIAIiIAIikEUAxcVVV11l559/vpcfAjli0aJFlpOHR1YCcfgxb948y8jIsE6dOlnnzp2tW7duXimCsSY/tyPNu+++29LT023t2rV2ww03WGZmZpiMgjFp0KBB+blNttcuXrzYLrvsMm8sgvM111xjPXr0MJQ+uZXPJkyY4I1dGNH+vZE2IiACu0BAypVdgKZLRCBVCLBqCwLB9OnTDcEBD4+HH37YFixYYK+//rotWbLEnnnmGXvhhRf80BosH6+88orNnDnTXnzxRfvyyy+zhCga+C+++MKee+45mzVrlkUKMwwH4hhWK/gS/5tvvrGXX37ZZsyYYc8++6wtXbrUD+VBYPj777/9fUiL41yzZs0ae/PNN2327Nk2Z84cn79QTxuGAD3//PM+PeLhvcJ1CiIgAiIgAiIgArElcOCBB/pOPm1yEDCg0M4jRwRtO21/dp6otNMYe2jTiY9swfXICGZm/EZpwjm2eI+EeoxElqhYsWI2depULwfgbYIcc//99xvXIEO88cYbXkbhfp999lmWJwfn8XpB5kEmIh/ci/QZ0ozHCHIM8ggKCuIiC82dO9coA54lHCMd0l24cCGXZoWvv/7aUJIgR3GQLcYsyoXcRD6DMnM+MhxwwAE2YMAALxfhJUNcvH8CrshCyD3IUshNyHDcg3S+++47L68hcyEjTZkyxXv0cA6vGPJKWcgHSrNIAxvxFERABLYRkHJlGwf9FQERiEKgUKFChiBCo3388cdb3bp1DQFgzJgxdt1119nIkSPt6aef9ooMhJLx48fbiBEjDAvI2LFjbfjw4fbJJ594xcuKFSvs3nvvtQcffNCfHzVqlHehDW6LkILnCsoUjqGYIf0HHnjAnnzySR8QUnDrJQ7KFQQcBA+EDu6P8IZQQfxHH33U7rnnHsPLBSsZiqH77rvPhg4dak899ZRPD8GFeymIgAiIgAiIQFwIpHCigQyRlpZmaf+Gvffe23tUTJw40csPDM+99dZbvWEkGqq33nrLUH4gU0yaNMkef/xxbzhBSYE8QLvOOeQOZBPkBhQZ0dLimHPO5wW55sQTT7STTz7ZG25QNKB0uOOOOwxZBkPSnXfe6YdEo6BAIUI+uT/54H544ZAmWxQZKFWIx5AcFEbTpk2zl156yStXyNeQIUP8sCGUHHi3BHOwkH4gv3z11VeGPPPII4/Y6NGjvbwEo9tuu80P0eZ+0YJzzooXL26lS5e2ihUrWqVKlXy5ULIQf926dUaacH/iiSc8U8rBvRgahfGLe6NUQq7jGIyRpZCrKC/XI8OhmAnSJW0FERCB7QQKbf+pXyIgAiKQPQEEDxre/fbbz4oUKeIVIzVq1LDBgwdb7969vcUFi0jHjh0NgQSPF6w5CAxYPmismVcFd1UUHKeeeqphAYl2R6w8KE7effdda9Omjd11111+DDZDgQJLWNGiRb2yBo+aM88804+jxqLUoEEDP7yoX79+3hKF8oXJ8RAGULp0797dK11atmzpyxDt/jomAiIgAqlEQGUVgXgQoEOPZysKEAJtMHJB9erVDVkAA8jAgQO9UoBOe7Q8YExBAdCjRw/vQXv99dcbw4hR3KAMQbHRtWtXf46hzCg4kB9QDERLLziGcgC5ZuXKlV4hgUEHj41jjz3WUILg1cJ5ZAjuTzlQQAwYMMArJvr06WO1atUKksvaIo/UqVPHzjvvPKPMpFOyZMms84ULFzbOcwCPELYoWTBEVa5c2Q8twpBEuZBTYIQ8gwIGJRPxowW8ZsgrRixkLJQkxx13nMGJ+BjKGObN0CTOI0/BFm+aY445xjIyMqx27dp+XhgUS3AgTxjCWrdu7eW6vn37eoMbzxG5inQVREAEwglIuRLOQ3siIAIhBBAocJ/t37+/0ahikWnatKmVKVPGypcv7+djKVu2rLcCzZ8/37uR4g2C9woupAg5uMhiAcHdFYGCUK5cOUNoOOyww0Lutv0nggaT6CK4IKhwr/T0dKOxx+qFkEBsFD0EfpO39957z0/ohrWHxh9XVyxEWLcQjKpVq2bnnnuuMdyJfNSvX59LFURABBKfgHIoAiKQZARQCND+0hYTaNvxJEWGwKsUTxM8QZA13nnnHcMjNbKIyBh4nqJw4JoSJUp4+cM5Z3hgMEQFww6esmyRO/BmRdkQmRb7DI/BAwW5hglmmWAX5QH5wxDUuHFjQzY54YQTvMKBIUnEqVChgqGQQXGDsWavvfayI488kiTDAjIKBqh99tnHkE+QV5xzWXGcc16GQr5haBFKIOQXhi2j5KB8yFMMd0L58dBDD3lvHcrD8WiMSBzWKDzwLkbeQqnSs2fPLOUKSh3uhbfKuHHj7L2t8hKsCJwjz2zxftl///2N3/AkXzwb5Dq8V1asWGEYyjC2cV8FERCBcAJSroTz0J4IiEAIAeec91LBSwTFBF4fWD5oeBF4aHyJToONIIAggUBB4Bq8SBBU9t13Xz+xW6lSpXyDzTU0/KTB78iA8IP3Cu6tCCaR5yP3Ea4QfshPaB4YxsRketwXoQOlSnAtcQ866KBgV1sRiAEBJSECIiACIhAQQFGADICXB+GSSy7xng94Y+BpijKDTj0yAqsL0fYH1wbbRo0aeS8QJoqdPHmy3XjjjX5YEcoEFAPcA5mDgIdIw4YNvREF5UeQRuQWBQj3xFOD4TlNmjTxQ3e4Ji0tLSs6MgjyBQqh+luNMUwWixIGDxG8SfB0yYqchx/IUKeddpofNs0QJhQ4cDj66KN9Kiih2EeOolwElD3c30eI8oc0kc/gg0cx8ZGLUAgho6GoYcgTQ5acc0aaKGrgHiU5fwi+pEvcINSsWdN7FDOsykfSHxEQgTAChcL2tCMCIiACIQRoVJl8DvddGvVmzZoZw3Kcc15J4tw2awyKEhQXCCJXXnmln4GfWfhRxuApghIFAQgFDIIKt0AwWrHVAsLvyEBcBByEGASqyPMoRjiGwMAWQQkFCvdp3rx52P0vvvhi7/LLudD7ISwhZHB9SgUVVgREQAREQAR2AwFkA5QYKD0IGD8YhsOkqSgCGM6DrMAwIbITtOn8DgIeI23btjXiXnrppYYyAM9U2nDOIXuQRhCQO84++2zjvkEaoVvkBeQZ5BpWM0LGQebAYwNlA54aQXy8bkmHa5AxOnTo4IczIVcgCzF8hvwE8dlSZuec93JhP1ogPQxWyFgMmWaINN4yzJNCfBQXhxxyiHGf0HJ16tTJUAARJzI457ziinwyHAgvY+asY2gT5cJLBoVNkB6MUN6gfCGtaOnCl+MMtwqugy+ePshUXKcgAiIQTkDKlXAe2hMBEQghgJCAtQKhg0Y55FTYTwQFhu+gDGEiOAQSxlUvWLDAcCdFkVKvXj1jyBCuvSg5cHXFKhKW0L87CAcM2+FaJl9jLDTCB6sEIVDRqCOE4SIcKF+w+CAo4LZKfCw/TITHNVjHUPIsW7bMTxCHcMcwIQS8f2+pjQiIgAiIgAiIQJwJIC/QoWf4Cp4qDN1lqE202yI7sAIhXhecZzgRigIC+3T6aeNRUCBzYMBB7iBN57YZf4gXGpxzfrgOcg2KA84556xy5cqGUgMZgsloAxkBDxAUKcgL5MM5Z8gg5AEP28DYQzoEvG1Jm6EzlBH5g/JyLjTgOcswIIZFsUoPw4SKFi3qo5xzzjnG/C7Tpk0zzuGBgjzDHHbORS+XvzDkDzKZc85Pzsth8okHL/PgICNRHvLHOQJyF/fB6MQwLcrH8G0MYihpGAbEedjCgVaMTwwAAAZ8SURBVLJznYIIiEA4ASlXwnloTwRyS0DxQgggoCCA4PZLo3vRRRcZITMz07CaoKTBSsUktrilYoXCFZYJ1UKSyfqJEIDVBVdd3ICxkmBpYoJbhK1DDz3ULrzwQuN+eNMw7hpLDXFQ7GCNYiJcJrtln4SZrwV3WWbsJy/MJYPCh3MKIiACIiACIiAC8SeAhwYeKLTbdN5Z6QdlQnZ3prPPxLCtWrUyhhWhnOncubOxZcgQcgBGGOQEPD1YDRCFRnbpZXe8SpUq1rFjR0OJQP4Y9sMQGGQMPExQLDChLEONkT+QLZisNtLwxD5DoTAeEQ95BDko8r4oMzAiYZSiLKzIGMRBNsFDBEUGshRlZ6Ja5l0J4uxsS57hgWIEpQp8OEbZmEMP5UnVqlWzkkEeY58yMaQbYxhz3XE9w5ZgQxowQOGDXJd1sX6IgAhkEZByJQtFQfyhMonArhNAGcG46BYtWuyQCI0+nie4ywYnsdagEOE4LrssHYhARCONsIFF6LrrrjMEHyw1CC7MQs+s/KTBxHBMmEYa7BOfxpwJ77AkMQFb+/bt/ThhBJHbb7/dEKgQzBgKRF4YE81KRQhtBPKC8IYrMnlA0GAyN/LACkSMS2ZpQfLOPRVEQAREQAREQATyT+Coo47KWpkvNDW8YfE4oY2mLcbgwuqC8+fP96sG4dFB559OPoYbZAJkA+KzLDByBcYUOvd4iKDAQJYgLc6zEk5GRkboLbN+MwQIzxbykHXw3x94jSBDsGoRMgdyDAYZlEHcC2MP5ziODIOSIbjPWWedZRiTjjjiCJ8aSh8MOcgoyCooUgYOHGjIJD7C1j+U7fTTTzc8UpC1mOh/62H/H5kEb1sUKpSLsnNvFDs+QsQf5pcj7SA/wel27drZvHnzvEcOqzsG8hST/7J0NJP/Y2wiPgsHMNEv9yLfGMwoNzIc9w7KzW/kKnhxnYIIiEA4gT2vXAnPj/ZEQAQShADCB2OZsXREZom5VXCLdW67e6pzzmhsaaARRrB48Bvhx7lt8RhzXblyZT8TP+69pI8gRfooTBAugvs5t811lzG/pMd1aWlp5ty2tMgD9yAguARpkB7HuIZrSQ8BgfMILIxp5hz3Ig3GNTu3LU3iKIiACIiACIiACOSPQCBDMJ9JZEq0yxUrVvSyAHJCIBvQVuO5inxA4Dri4q1Ku03bjtyAYoJzBAwrtOPBedp22nrORQbkEWQJ56K3+eQZ2Ya0iIdsEdwLIw0yBefIB/GQW7gH5yhHsB/IQiwZTd5Jg6FF5I34QSDvpEeZKHtwnC1pEJ/zBO4NC85FBtIhP5Qv9Bz7XAtT8kAc9mEPX/aD58P9OUbZ8OLhWtLCMEU8jnMt+eAa56Iz5BoFEdgpgQIcQcqVAvxwVTQREAEREAEREAEREAEREAEREIG8EVBsEdgVAlKu7Ao1XSMCIiACIiACIiACIiACIiACe46A7iwCIpBgBKRcSbAHouyIgAiIgAiIgAiIgAiIQMEgoFKIgAiIQOoQkHIldZ61SioCIiACIiACIiACIhBJQPsiIAIiIAIiEAMCUq7EAKKSEAEREAEREAEREIF4ElDaIiACIiACIiACiU1AypXEfj7KnQiIgAiIgAgkCwHlUwREQAREQAREQARSloCUKyn76FVwERABEUhFAiqzCIiACIiACIiACIiACMSegJQrsWeqFEVABEQgfwR0tQiIgAiIgAiIgAiIgAiIQFIRkHIlqR6XMisCiUNAOREBERABERABERABERABERABEdhGQMqVbRz0t2ASUKlEQAREQAREQAREQAREQAREQAREIO4EpFyJO+Kd3UDnRUAEREAEREAEREAEREAEREAEREAEkplA7pQryVxC5V0EREAEREAEREAEREAEREAEREAERCB3BBRrlwhIubJL2HSRCIiACIiACIiACIiACIiACIjAniKg+4pAohGQciXRnojyIwIiIAIiIAIiIAIiIAIiUBAIqAwiIAIpREDKlRR62CqqCIiACIiACIiACIiACIQT0J4IiIAIiEAsCEi5EguKSkMEREAEREAEREAERCB+BJSyCIiACIiACCQ4ASlXEvwBKXsiIAIiIAIiIALJQUC5FAEREAEREAERSF0CUq6k7rNXyUVABERABFKPgEosAiIgAiIgAiIgAiIQBwJSrsQBqpIUAREQARHIDwFdKwIiIAIiIAIiIAIiIALJReD/AQAA//+sNRoCAAAABklEQVQDAPrgyKQkw3e6AAAAAElFTkSuQmCC"/>
          <p:cNvSpPr>
            <a:spLocks noChangeAspect="1" noChangeArrowheads="1"/>
          </p:cNvSpPr>
          <p:nvPr/>
        </p:nvSpPr>
        <p:spPr bwMode="auto">
          <a:xfrm>
            <a:off x="282575" y="-731838"/>
            <a:ext cx="5943600" cy="232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AutoShape 6" descr="data:image/png;base64,iVBORw0KGgoAAAANSUhEUgAABFcAAAGzCAYAAADqs/jOAAAQAElEQVR4AezdB2AUxRoH8P+mFxJC7733LkV6UZpIlS7NQlMRsCBIB0VBRBAElCoqKihN6SAC0qT33nsgpNfL22/i5SUhIe0uufLnvbmyNzs789vzdvLt7KxD2fIVo60hLdh7I/rGjeTS2eh1Y6yjPdZgzjqm77s0Zv3ZFHxnb0Tv+S5927HF/ZS43d7oBZn8exVTLxPUY8z66DPG37O936byN/jb6D36upb/vYmpZ7K/22fWR4/J5P2a3H9D6viTkv0Ud7/q++jGjbM8JmXgvo357zNOP8EKvlvJffeS/zzmv7Onfg++26sff0zwW5WB+y/5tvJYSSN+B/gd4HfABN+BVPY7aZ4acwdYyb8vXmuFFi8mlzrjvdVW0iBW0+YFfn2/cwq+s60wYIbNU6S6gYnbvYEvUl2SaVeIqZcJ6rH6Q3Qw/p699mUqK/klBujrWv73Jqaeyf5ud/oQv6ZSIKOzq+NPSvZT3P2q76MWL/KYlJH7Kua/zzj9BCv4bqXfJ+a/s6d+D2a8oR9/TPBblf4KsgQKUIACaRDgKhSwTgGHM6dOgIkG/A7wO8DvAL8D/A7wO8DvAL8D/A7wO8DvQAq/A/wbin9D8jvA70CC74DVjFyxztgVa00BClCAAhSgAAUoQIHMEeBWKUABClAg4wQYXMk4a26JAhSgAAUoQAEKUCC+AN9RgAIUoAAFbEKAwRWb2I1sBAUoQAEKUIAC5hNgyRSgAAUoQAEKUODZAgyuPNuHn1KAAhSgAAWsQ4C1pAAFKEABClCAAhTINAEGVzKNnhumAAUoYH8CbDEFKEABClCAAhSgAAVsUYDBFVvcq2wTBSiQHgGuSwEKUIACFKAABShAAQpQIFUCDK6kiouZKWApAqwHBShAAQpQgAIUoAAFKEABCliKAIMrlrInbLEebBMFKEABClCAAhSgAAUoQAEKUMAOBOw+uGIH+5hNpEA8gfDwcGzZsgVjxoxB//790bt3b1y9ejVeHlO92bx5M4YNG4YDBw6YqkibLefo0aMYNWoU/vjjD4SGhtpsO9kwClCAAhSgAAUoQAEKZJaAObfL4Io5dVk2BeIIBAYGYtu2bSqo0aNHD3To0EEFNiZOnIhdu3ZBgh5xspvtpdRhypQp2L59O4KCgmAwGMy2rXPnzuH333/H9evXzbaNlBQ8fvx4tGvXDm3atMG1a9eeWiU6OloFnDp37qzyrFq1CmFhYU/lS26BtHfkyJFYsGABnjx5klz2eJ/fvHkT69evx+nTpxERERHvM76hAAUoQAEK2KqAHINPnTqljr9ynJbUtm1bdOnSBXJMlRM10odKrP2y7v3797Fw4UIMHDgQnTp1QteuXfHBBx9A1gsICEhsNbVMjrV79uyB9BF69eql+mU9e/bE2LFjsXXrVvj7+6t8KXm4d+8efvrpJ3VCSerdsWNHvP7665g1axakb2DOvlZK6sc8VifAClupAIMrVrrjWG3rErim/0EvI0UGDRqkgg0S1PDy8oJ0Fn755Re8+eabmDdvXob8Ub1jxw7cuHED77//Pj777DN8+umnyJ8/v1lAX3zxRcyePRu1a9c2S/kpLfTff//Fxo0bVfrxxx+fWu3hw4cquLJ27Vr8+eefuHz5MqKiop7Kl9wCCaj8888/OHPmTKqDM9WrV1f7QzqUbm5uyW2Kn1OAAhSgAAVsQkACJI8ePVLHYTnRkC9fPuTKlQshISFYs2YNhg4dqgIX0mdK2OBDhw6he/fu+OSTT3DixAnI8VOO35s2bVLrTZgwIdETPNIPGz16NAYMGIAffvgBfn5+yJIlixo5umHDBrXu119/jQcPHiTcZLz3kZGR2Lt3L6R/J/08ea1pGjw9PSFtkTJeeeUVlSfeijbxho2gAAUSCjC4klCE7ylgYgE5mzF9+nT8/PPPaNSoEZYtW4ZvvvkGsmzu3LmQ4Mqrr76Ku3fvmnUUibFZd+7cgYeHB0qXLo0iRYqgUKFCcHFxMX5s0ucSJUqgZcuWKFCggEnLTUthzs7OqFWrFr777jtIZyhuGRJM2b9/v6pnnjx54n6UYa/z5s2L5s2bo1SpUpC6ZtiGuSEKUIACFKCABQhIYKRx48bqpI+c/JHRKBIckeVy7L569Wq8Wt66dQv9+vVTIz5HjBgBOXkyc+ZMzJkzB4sXL0b9+vWxYsUK1edKGCT56KOPVH+gQoUKaj0ZcTpjxgxIMGSFvs7AgQPVSRYJ8MTbaJw3EhSSkylS1smTJ/HGG29A1pWTSlLWt99+i++//x41atSA9AXjrMqXFKCAjQowuGKjO5bNsgwB+SNezqosX75cHeTlEqCqVatCzsrkzp1bPZcpUwYyL8l7770XG+SQ4aOXLl3CW2+9hcqVK6N48eLqD+9FixZBzu4gzr+pU6eiaNGiuHjxoupA1KlTB8WKFUOrVq3UKBk5+Et2ORMjHY1ff/0VZ8+eRcOGDSF/0L/00kuQPHKpkGzr2LFjkj02ScdBhsm+8847asSL8QNpV9++fVX9JEhTrVo11cmRy42MeaRzU7duXTWPiHGZPEtn5YsvvkC9evVUgKdq1aqQ9l+4cEE+jk1yCVOTJk3U6Jd169ap4b5iIfUUy9ReuiNBrCtXrqhLoowbkWHB0kYZdVKzZk111sv4mTzLPpQOmxhIG6Wtkk/OUMmIJMkjSUa8iNHBgwfVZUEVK1ZUvmIs25B5VGSoc2O94yj76u2334bkkcuV9u3bpy4Za9GiBebPn69GNEmZ48aNU2VIp0/eG9Px48fRvn17yLDjw4cPGxfzmQIUoAAFrFCAVY4R0DRNnfzJmTOnGrkifaXWrVurY6Uc9xL2f6QfcPXqVTXK5LXXXkPhwoUhfSs57lapUkVdhi3HawnSSPBD+layJRlhKstKliypRg3LsV1G8BrXlX6ZBFekDyZ1kHUSSzLaRU6QSR9C+giSX8qUkzRSlpxYku3LpUFyfJcyHj9+rPpsMnpY3sdNX375JST/zp07YxfLJUoFCxaE9F0kcCR9vKpVq+LDDz9Uo27kEii5nDh2hf9e/PXXX+okmvTt/lukLj+XkTXSFypfvrw6mSN9CbkkOTg42JiNzxSgQDoEGFxJBx5XpUByAnKtr8w5ki1bNnUtrxykHRzi/2enaRrc3d2RPXt2aJoG+SeBFTkQyxkPCSZIoEQO4jI0Voa+yvXFkk+SDJOV93KglY5GuXLlVODkyJEjkLMpsn3JV0wPuMjQVBlNItuSa4LlLMvLL78sH6s/6OXMjgQC1IL/HiS4INuWa49lqK0slmuU5YAsl9HI5SxycJdAgXQw5PIbySNJgihyyY0EFuS9JJlbplu3bup6aNmW1EPqJmeL+vTpAwnaSD5JEjzx9fVVo3uk7VIXuWxG6iFBJZkAVvKlNEkwwtvbG0uXLo1d5fbt25BLpaRD9Nxzz8UuN76QoIvYyqVUMvJF5mWR4coSHJLrqaXDI3mLFi0KGZkknSqxkImCxVeScZ9Lx1D2iyyTDk6DBg0gwScZSWRsq3RwJNglZUrnS/aVBHJkuLMsk30k3wtxatmyJaSTJcuZKEABCphRgEVTIFMEZCSno6PjU9uWY6Ucy318fDBkyBC4urrGyyPHXWP/SUbnymVCcjyXTDIKRvoT0q+QIIjkleXGpGmaOtGSNWvWZ44klf6N9LFkJLD0DaQvp2kx/ThjWVK2XAYufQ9ZJgEe6bNJn0rex01yqZKUKf0k43LpR8qoFwncyGgY6eMZA04SIJFRt9KvMOY3PsvccTLfnZxAk2VS5m+//abmtZHgjQRx5OSVnOyRvpdcGiV9NsnLRAEKpF0g/l95aS+Ha1KAAokIyIFKRhbkyJFDjfBIJMtTiyRwINcBywH1888/V6NPJPCwevVqSHBEOhN/6WckjH+AGwuQP77lACujRWSEi+STS41kRIV0IuQgLKMlZNSHBADktQRj5GyPpsXvDBjLTOpZDtBy9kVGkyxZskTNFSKjc3bv3o2PP/44qdXUchmFIcEMmdRX7iIkl0fJyBAZsSFtkLlnxE1l/u9BRtPImR85Q/TVV19B5lCRgIyMwpFOx3/Zkn1yc3ODdCKkkyU2YiidD9lH0tGQS6QSFiIdIum8iLnUXTo30pkSZ5mkTiawk3WkwyPBGzlzJiNyZDI98ZUUt2Mo+0ICXDt37lRnzCRAJPtEykiY5JrtlStXqrNNgwcPhnTI5E5Psm3ZllxnLh23hOvxPQXsU4CtpgAFrF1A+kASCJAkJ2Zkwn85cVOpUiXIiSpj+6QfIHlk1IkEWIzLEz7LyQ45ISL9CwnIyOfSV5HjspwQkfdpSdJ/kGCNjASWkTISYElLOSldR4Ig0meS47+cXJIJeMVEgkrS95M+o7Es6Z/JhLzyufT9ZLlcQiWTA8sJMTGVS9SlTyN3KGzWrJnqj4iz5GWiAAXSLsDgStrtuCYFkhWQToKMVpCDX9xOwbNWlJEoMkRThqXK6AdjXvmjXSaIlQnXpFMhIzqMn8mz/JEuQRN5LZ0GCT7IQVT+IJcky02VJEihaRrkYC4HcQmGyNkYJycnyBmapLYjnREZ7SJ5x48fHztSR8p7/vnn1cgP6ajI8N+4ZbRv317NlyJnn2S55JezRNLxSm1nQCavkxEzEhSR+svwYDnbJJdMSdkJk5w1k+CYtFNGucgEdeIpZ7tk6LJsXwImCddL6r3sIxnxIvsxqTxxl0vnaPLkyeqacgmEyQTEsl9l8rxnWcctg68tSIBVoQAFKECBRAXkmC4nHmS0qAQC5FIbGekpJ1FkdIqMMDWuKKM45bVcziPPSSXpe8kxXvpixmO1HMM1TYMERZJaL7nl0o+R4IqmaZDgjvQVklsnPZ/LnDIJ2yoecsMACa5IX8RYvowglj6ijBKWEzDSbjnRJn0fWSYmUndJMjpH+j9iIiNxJa+xHD5TgAKpF3BI/SpcgwIUSKmApmmQQIcEFSTQghT8O3/+vJrYVv6olqBM3FVkvg+59lYuUUk4pDTh6AcJRMglJXJmRzoscctJ72u5NKds2bLqel/p8MikbRKkkHrJ9pIqXwJHEpyQESIJOwkyQkTOMBmDGHHLkKG9culM3GXSKRJXKTPu8uRey+R1EpyQkUAyZ4qMBJEzO7IssXUlcCQjXWTSPBlCK5cOyeVBMopIruGWM2EylDexdRNbJp08CZwl9llSy/r27avmp5GRQrItCRDJSJmk8qd3OdenAAUoQAEKZLSA9JPkuCxzt0mQRUatSkBATjTJpdJubm6xVZKTOfJGPpfnpJKUKYEQ6YtpWswo3ZSum1SZslzTNNW/g/5PtiH9Ef2l2f4vk+ImLFz6UtIfkVEtp06dUhPwiocEUiSvXBIkwRWpn1hKf0YCLxK8iptkTj7pS8kJJLlEWdZlogAF0ibA4Era3LgWBVIkIGcyJBgifxDLQSslK8mBTdM0dRu/hPkl2CJBEzl4Smch7udyCUnc95qmQQ6quTqCugAAEABJREFUcsBPmBep+CfrSoq7ikyoJnc8kstSpF0ytFQu85EJ4GS4qRzI4+Y3vpbAi9QnsVEb0tmRAIqsm/DMiXSopGNkLAeA6tRIWQnrFjdPYq81TYN01OSSHpnVXzpyMjRYtp1YfungyYgRaaeMlpHLnmTeGzmLJMEu2b7UObF1E1sm7ZRAUmKfJbVM9rdMjCfrymgVGZWUVF4upwAFKEABClijgPRj+vfvj6NHj6r51+RSYJlbTOYDkctxpS9lbJccfzVNg9zt71nHYDl2S+BAjqHSJ5P15Rgqx26Z307epyVJ/0pGrMgJExkVIyNh01JO3HWkTtKvibvM+FpOlhlfG5+lPXIiTkbEyuXNMl+LBFrET0ajyEkoY145ESR9MBmdIiOE4yZZLvO3yYhcTYsJQBnX4zMFKJA6AQZXUufF3BRIhQDURLVyuYsMX5U7wiQMGsQtTA6q8l4ObnJwlVEgxmWyXJIM85SRHXJAl4CDLDNVksCNbE8OwHHLlE6JpLjL5LXMUSLzpcgZEpkcTobuyjXNMpu91FPyJEwSVJHOk8x3ImdQ4n4u7+WaYAlypDb4ELeclLyWy6vET+Z5kRE0jRs3TnI16dxJh07yyqz7cjmOjCSRDp90rhJbUfZfYsuNyzQt5Z0XKWvNmjVqUl+ZAFecZF4a6TAay+MzBShAAQpQwJYE5ESSzKci88PJfCYyv5tc+iL9FGmnjJ6Vy6VlmSRZljDJySqZ/F2CDjLCQ/ogkkduEiABGeNlyrIssSTHX0mJfSbLpC8mfSE5SSOXa8uypJKx3pqmQU6UyLE8bl45iSIjkqXOcZcbX2ta4v0GcRAnuVOhBFZkNK70wTp06KAm5ZX1NU1Td6eU/qWcHJJ57xJLcnMC6YPJOkwUoEDaBBhcSZub7azFlphVQAIJchCXYIGcdZGJURMeOOWAKwdEOTDKwV46C3JWRQIVcW+vJwEOua5Wrj2Wg6kc1E1ZedmunL2QS12MnQk5+Mv7q1evxtuUHLiNgSI5ayOXysjZJrlURQJJcu1uvBX+eyMBHBnaKmd5pAPw32I1lFXOpshkbXJ2Sa4jNn5mjmeZQ0UurZE79cglTnKnn6S2IwbSEUp4Bkgug5LJcOOuJ2eRZISNrCP7Mu5naX0tHTYJ6kjnSSY4ltFCcqchmTNGvhNpLZfrUYACFKAABSxdQG6pLP0oOeEkl+gaR4hIf0Lu9iMnhOQWxgmPx9LXkolr5TIYOX7LCFXpk0l75TgqfR4ZvSqjbaXvI8uNSY7f0u+RS2medZyVedc6deoE6RPJ6Brpy0mfzliOPEs9pH8nI2zkvZyUkZEmUl85WSbLpM8ll4TLaBJj30qWpyRJWdI/kH6XnMSTiWylzyn9MumTSBnSL5GTM9LObdu2Qe4AKcuNSbYvy+Rz4zI+U4ACaROwiuBK2prGtSiQ+QJyQJMhmzIviQQdxo0bB7mERkZ7yAFdOgoyX4ksl+CLHFTlbI3klwCEnGGQMyty/bGctZF5QiTwIKNhjGdgTNVKudRHypQ/2uUuPHKAljsOybW40nmJux0ZzTF37lzIXYPkshmpn6wjnRG5DEpm5o+bP+5ruSRHhvPKxKzff/895C48MjJDRmNIm2VUiXwedx1Tv5ZOmYxAkTv/yN2DNC3xM0KyXXGRzpLcrUgCQpJkn8ndkYwdNcknSdotQS/pkImJBEGksyMdF/k8tUlGp3z00Ucq+CTXR8u8MDLBn8yvI/tJ7KQTmNpymZ8CFKAABShgDQLSj5JbD0tfSu6eFzeAIaNI27dvD5mPTCZ+//nnnyF9EjlOy4haOTEhwRi5jbHMdSaBDWmzvJZjq7yWY6vckVHumiP9ss2bN0P6WxMmTID0ayToIPkSS9Jnkrq1adMGf//9N+TugNKvkQCGHJ+l/zZ79mzINuRElZQhfTyZP0ZG28yZMwdSV+kDyV0eJcAiJ3MkX0qTpmmQvoH0myRYJCfx5O4/EvjRtJi+jRjKySRZLv02GWEsdZPRKxJ8kvaKgQR8Urpd5qOAuQWstXwGV6x1z7HeViMgM7HLfCQy873M0C5/lE+aNAljxoyBPMtBTf74bty4sRoqKgd/Oavy5ptvQq4Hljwyz4fcfk8uYRk+fDhk4ldTA0jQRobfyuzxcicf6ZTIQV9G0ciQ3Ljbk87KqlWrICMppG7SCZF2yagUuROODD2Nmz/uaznAS6dGrh/+7LPPlIMEWqStElSSs0Cp7VzELT8lrzVNgwRCZKSNPD9rHRlaK/tPAluyz+QWiBJ4knaIWdx15QySdLJkf8qZNLmDk3SqJGgWN19KXsskxBLQkc7eO++8A5lMV9M0yCgbMRYj+U5IBy0l5TEPBShAAQpQwBoFSpUqBTnxIpf3SCDCeMJHRqFKf0UuS5Z51Ix9ElkmfSvpc7333nuQ47iM5ojbdrmVsZzYkgnzZdSJ9LXkGC8BEgl0yOXAErTw8fGJu9pTr2VSWZmDTU7UyOgRCZhIuVLWtGnTIPUtW7YsZDJ9WVkuSe7Xr5+6A6LUcezYsZCTVdJvkBMncvJH8qUmSfkSfJL+gNS7efPmT925USykPyLBIAkgSTBK+m/Sp5G+hIyskRNJqdku84IEFHhKgMGVp0i4gAKmF5AOgARMjAcz+eNYDuwyUaocgOVgLgdDObsgW5fAw7vvvgsJcEjAoW/fvvjggw/UWZEXXngh3mS3L7/8MuQPefnDXtY1JilDLn2R9eMGEOSgPnr0aMgwWWNeeZazKdJBkUCHBHBkm8OGDYP8YS91lBEn0g7JK7fyk86DDMl99dVXIZ0KCSTIMjkjo2kxZ0sa6wEj6bDIkFVZT5K0UdaXUTlyoBcHqaMc4MVFAkiST5IEkaSu0ma3OHcJkM9kiKsEZ6QzIu+flWSUihgldy2xBIekvrIvxEPKlKHD0jZxkf0lLu+//z6kMyXLxcxYrgzBleCQ7DfZprRT7iokbZbPpJMngSUpN2GSjpG0VbYtbZUgm7jJWS/ZppQh60g5cutFqadsS86cyXImClCAAhSggDUKaJoGOVkho0mlT5OwDXI8lOOdfC6jSeXkgjGPBEfk2CrHXem7SJ9ELlOWY630ueQYbOy7GNeRZwlidOnSRZ3kkhNEckJL+iPSb5K+ifTLJBAhk8hL/qSS1E3qLv0Y2Z70D+SYLX2mwYMHq36bBFAkj5Qh+WXyWKmvbEPqKv0F6U/JulKGnPiRvJJkIn3pB0ifTt4nliRwJP0wySepXr16kL5CTN6YR+lDlC9fHuIi25X6yjrSr5H2iqGMfonJzUcKUCCtAgyupFWO61EglQJyIJehqHJrPAlwyB/lcgCWg7ccdOXAZyxS0zTI2RIZwil5JOggHQT5A1z+8Dbmk2f5Q1vKkvzy3pikQyCBDplTREbPGJfLMpm0TM5iGJcZnyWfXNssnQs56EoAQzouMhqjadOmsWdC5EyNvJcRHVI36RzImSFpX9xOj9RXOhglSpQwbkI9Sx6ZBE7Wlw6NbEsCMQnrJIENqasEGYzBDlWA/iBngWS7MpJDf/vM/4ux1DNhGQlXkrNj0rmS7UkdjZ9LPaRjJ2VIXcVFgkDt2rWDTGwbd5/IUFwJkEjdpMMknSvpTMn+7dixI6Q9xnLjPkunRoIx0umSTpHUVd7LNmW/xM0rHSn5bkjALiXtj7suX1OAAhSgAAUsSUDT+zz58uWD/KFfp06dRKsmx2HpM8jxPO4xV9M0yDFR7o4jx0Q5ZkofRi4XkiBF3LwJC5bjsvRPpEzpa0lfSvpn0k+T0SDPWjdhWVIH6ddIMETaIWXJZbxNmjSBnPzStJiTTrKeHOPlxJB8LvWV/pP0tWTSXekzSR9L8kmSy8AHDhwY2/+SZYklOTkk25X6JzV6WPoiUhfpB0pfRrYtwShpv7RX+qmJlc1lFKBAygUYXEm5FXNSgAIUoAAFKEABCtihAJtMAQpQgAIUSE6AwZXkhPg5BShAAQpQgAIUsHwB1pACFKAABShAgUwUYHAlE/G5aQpQgAIUoIB9CbC1FKAABShAAQpQwDYFGFyxzf3KVlGAAhSgQFoFuB4FKEABClCAAhSgAAVSKcDgSirBmJ0CFKCAJQiwDhSgAAUoQAEKUIACFKCA5QhYVXAlIjIK/oEhTDTgd8A6vgOp3k/BIeGW8+vImlCAAhQwgUB0dDQePHiAS5cu4caNG7h58yYTDfgd4HeA3wF+B/gdsJLvwNWrV9Xx22AwJNsrsKrgys8b/0WeBu8x0cCE3wF+nyzpv6leHy5GaCSYaMDvgI1+B8Kjku2X2FyGkJAQfPXVV5BbpcrtYk2d6tatC1OXyfLqP2Uqt8StV6/eU8tp9bRVekzobFrPZ+0LsZb0rDz8zDT7Q347aG0ay2d9J83lXLt2bQwePBj+/v7J9lEcks3BDJkvwBpQgAIUoAAFKGCVAk5OTnBxccGgQYNw9OhRnDp1ymTpxIkT+OuvvyDPpiyXZT29j44dO4bdu3fT2oTf34Tfs5MnT+Lw4cP4559/IK8Tfs73T38v02oivgcOHIAkeZ3Wcrhe8vtEfOU7Ld9teU2z5M3SYiTHwT179pj8OHv8+HHMmTMHcix3dXVNth9isuBKsltiBgpQgAIUoAAFKGBnApqmQdM0FWDx9PQEk3UbZMmShfvQTN9jo62HhweNzWTM35/M/f0xfsdtZT9YUjvE1ly/HW5ubqrnommaen7Wg8OzPuRnFKAABShAAQpQgAIUoAAFKEABKxRglSmQoQIMrmQoNzdGAQpQgAIUoAAFKEABClDAKMBnClDAVgQYXLGVPcl2UIACFKAABShAAQpQwBwCLJMCFKAABZIVYHAlWSJmoAAFKEABClCAAhSwdAHWjwIUoAAFKJCZAgyuZKY+t00BClCAAhSggD0JsK0UoAAFKEABCtioAIMrNrpj2SwKUIACFKBA2gS4FgUoQAEKUIACFKBAagUYXEmtGPNTgAIUoEDmC7AGFKAABShAAQpQgAIUsCABBlcsaGewKhSggG0JsDUUoAAFKEABClCAAhSggH0IMLhiH/uZraRAUgJcTgEKUIACFKAABShAAQpQgALpFGBwJZ2AXD0jBLgNClCAAhSggOkErl69iokTJ6J27drIkycPvvnmG4SGhia5gfv37+Ozzz5DhQoVULp0aYwZMwa3b99OMj8/oAAFKEABClDA/gQYXDHVPmc5FKAABShAAQpYhYAEUrJly4aBAwciZ86cCAsLS7LewcHB+OGHH/Dbb79h9OjR+Pzzz7F161YsWrQIfn5+Sa7HDyhAAQpQgAIUsGGBRJrG4EoiKFxEAQpQgAIUoIDtCpQtWxZvvfUW+vXrp4Irz2qpjHI5cOAAOnXqhB49euDll19G37598c8//yQ5eiU6OhrGZDAY1OtnbSM9n8l20rM+102dAL1T5xWb2xAJhAcAoY+fmbQwP2jhT56ZJ7ky+PmzjZVP2GOINfRnlZI06V8AABAASURBVJLZL2od5knz9zLWOhMM7WHfGUL8EBLgD0Oof8zvR7Qh9qcno18wuJLR4tweBShAAQpQgAJWI/D48WPI6JVSpUrF1rlixYrw9fVFQID+x2Ls0pgXUVFRuHXrFo4dO6bS8ePHcffuXUiQJSIiAqZOsj1Tl8nyEt9PkZGRJt9/1modGRqAqCfXYXh8OWXp0gZEr+uK6KUVEb24XJLJ5Yeq8F5VG1hSPsk8z1qfnyVtG9cGi8vDfWUNeKysCXkd97NMeG3T+1q+y176d9r1h2o23c7M/N5cmV4bE1/pi3MzOwArmyIi4J5Jf6vltz/mCJ/8I4MryRsxBwUoQAEKUIACdioglwyFh4fD09MzVsDLywsS1AgJCXlqVIosW7ZsGQYMGKDSm2++id9//13N6eLv7w9TJwn8mLpMlhd/Pz158kTtt6CgIPVssz7SznuX4X95D/wv/f3MFHRwHgyr2gA/1AFW6MGQZJK2oRu0q39CC7wNLdRXT4+TSI/gEPY4ic8yc7ntbVucJWmhttc2S2tTjPMjfq/N9F07ec0V28/kxdoj+fHELxgB/jG/2f4mOubKcTa2A5DMCwZXkgHixxSgAAUoQAEK2K+Ag4MDJMU9cyWvNU2Do6MjEv6TIMzIkSPx999/q7R9+3YVZHF3d0f27NlNniTQY45yWWb8fSVz9Hh7e5t8/5nUOb3fr2w+yH51ObLv7IXs27s+M2U9NBrOj0/CIfQBHCIDkk0aogEnDyBbKUSXeAnRZTo/nUp3RlTJTggv2h7R+utE8yS2Hpch1Va6b0TxDpBE60S+i6b8TunW4cXa69/tjqC1aaxDCrfHZefmuOvTSpm++FJVvPdaDnTrWBDeFV5Atpx5TfpbLcdZpPCfQwrzMRsFKEABClCAAhSwO4EsWbLAzc0N9+/fj2273CnIw8MD8pmmabHL5YWmaXBxcYF8LkmCLfJe0zRoGpOmWZ+BBNckaZqmAm2aZuFt0AMZ2pPL0K78Ae3yutSlk4ugBd6KOcMeEQQtiQQHZ8DFC8hXG6jYT0/9k0+VXwcafg6t1TJorVc8ndqsQESLxQhqPB9o/f3Tnye2DpelyUl8w5p9B0nyOtH9Qds02Sa0FN/gxgv07/YSaPp3POHnfJ/Ib0ES3z20+h4Pay3A7+FjMGZvf/zo9yECGy6C28vL0HnMJBTp9gnQdBY0Nx+TH2+Rwn8OKczHbBSgAAUoQAEKUMAmBOSSHhku/PDhQ3VdtlzuYZxDxWAwYN++fSpJY/PmzYtChQqpCWwvXrwImeBW7hZUsmRJdWZM8jBRwKIEosKAQ9OBTXrA488+QEqT5A++C2iOQLbSQPVhz041hgONZwLN5gLNU5CafAmUfBlwzgL+owAFKJAagYgIA06cuI8vv9yH0aO3Y/v2K3jyJBTBwRGpKcbseR3MvgVugAIUoAAFKEABEwuwuPQIyCS1K1aswIQJE3Dt2jVs3LgRU6ZMwW+//aYmnpU5U+Rz2UaePHnQqlUryOS106ZNw6effqomrG3Xrh3kM8nDRIEMEQjzA65tAY7qgYwjs4Ek0xzg/C9A8H0gIhCIjkp5ksCHVyGgYl+gwdRnp3rjgfx1oZ8iBv9RgAIUMJdAUFA4fv/9DMaM2Y6vvz4Ib29XvPtuHfTuXRm5c/9/PjRzbT815TK4khot5qUABShAgZQLMCcFLFTAyclJ75DlRpEiRfQO2ruQQEnx4sWRM2dOddlH27Zt0bp1a1V7Z2dnPP/88xgyZAhq1qyJypUrY+jQoWjSpIm6XEhl4gMFMkLg4Ulg32Rg90fA389I/0wAQh5BXbqT9zl1KY5cjpOi1OhzPaDyCVC2e0a0iNugAAUo8EwBgyEaCxb8i7Fjd2Lnzmto2bKkfjKkKQYNqoUSJbLrsV3tmetn9IcMrmS0OLdHAQpYlAArQwEK2J+Aj48POnXqBJl4Nm6SgIrMrSHPMlrFKCPzptStWxdy55/BgwejcePGSM0Ed8Zy+EyBdAkE3gYengDC/PViDFDBE5n75KnkArhlA7KXASoNAKq8mfJUWc9bthsgo1f0rfD/FKAABTJbIDLSgPDwKHz44fMYN64RWrUqpUavZHa9Ets+gyuJqXAZBSxLgLWhAAUoQAEKUMDeBaL1gIokJ3c9WDIYaLMi6dRa/6z5PKBEO3tXY/spQAErE7h3LxD79t1EVJQBDg4aeveuggUL2qrRKuXK5VLLLLVJDK5Y6p6xunqxwhSgAAUoQAEKUIACZhdwcAJyVQaKtXpGagkUqA+45zR7dbgBClCAAqYQiI6Oxs6dV/Hmm+sxePAGXLjwSBWbN28WNG1aDNmyuan3lvxgX8EVS94TrBsFKEABClCAAhSgAAUoQAEKUMDOBOTOPzNn7sPbb/+JP/+8CGdnRzg5abEKmvb/17ELU/Iig/MwuJLB4NwcBShAAQpQgAIUoAAFkhS4/Afwc1NgRe34ac8YIDwwydX4AQUoYJ0C9l7r48fvYfDgPzB58t9qtMqgQTXx44+dULRoNqujYXDF6nYZK0wBClCAAhSgAAUoYLMCe8cCN/8C7h2Mn/wux9xS2dEVcHC22eazYRYpwEpRwCwC69efR58+v+Pnn08hVy4PLF3aHpMmNUGxYtng5GR9oQrrq7FZdisLpQAFKEABClCAAhSgQCYI3NwF/NICWFAImF8AuH9ED6IYYgIoXoUBY/LWX2crBZTrAeSrnQkVtfRNsn4UoIC1CWTP7o7s2d3QqVM5rFnTDV26VICXlyus5CogJPzH4EpCEb6nAAUoQAEKUIACFKCASQSigcgQINQXCHkIJJZOLgJu7wYCbgJBd2O26ugCFNEDLq9fBeKm/ueBJl8CWYvF5OMjBShAASsRiNZ/DoOCInDhgi+uXHmsal2nTkH88ENnzJ/fFmXL5rTaoIpqjP7A4IqOwP9TgAIUoAAFKEABCsQI8NGEAhF6YOXQDGB5DWBJxcTTuZV6ACYUkMt9ZESK3OWnaEug1nsmrAiLogAFKJB5AlFR0bhx4wnmzDmAFi2+x6xZ+xEWFgkHBw158ngia1bLvxNQSvQYXEmJEvNQgAIUoAAFKGBJAqwLBaxDICIIOPEt4H8NCHkAhOlnaxOmaAPgpP9hkbcW0PEPoOtfQPs1QMFG1tFG1pICFKDAMwRktMrevTfw1lt/4OOPt8PFxRHZs7sjODjiGWtZ50cO1llt1poCFKAABShg6QKsHwUoYNcCgbeB23v1gIo/oOldbu+iQJmuiadyvYDnRgHOnuA/ClCAArYgEB0djStX/LB06VH06rUa27dfRZMmxTB1alN88EF9ZMvmbgvNjNcGh3jv+IYCFKAABexLgK2lAAUoQAHTCgTeAi5vAPZPBba+CYT7AXJ3n0JNgFbLEk8vLASKt47JZ9rasDQKUIACmSKgx1Ywf/4hvP32n3B01PDaa9Uwa1ZLdO5cHq6ujplSJ3NvlMEVcwuzfApQIN0CLIACFKAABShgNQInFgFb9KDK0a+BoHt6tfXutldBIFdF/TX/TwEKUMC2BQyGaNVATQNy5vRA48ZFMXZsI0ye3FRNWqs+tNEH/dfeRlvGZlEgYwW4NQpQgAIUoAAFKABc3agHVW5D3fYiS36gXE+g7ligVEfwHwUoQAFbFZAJav/66yrWrTuHJ09C9Z9ADa+/Xh3Tp7+Avn2rwtPTxVabHtsuBldiKezhBdtIAQpQgAIUoAAFKGBWgahwQE7cuuUAGk0Hnp8IlH8V8Cps1s2ycApQgAKZJXDnTgAWLz6KMWO2Y9y4nTh3zhcygkXuAlS1at7MqlaGb9fygisZTsANUoACFKAABShAAQpQIJ0Cj84CBz4FAm/oBenRFRcvoGx3wLuI/p7/pwAFKGB7ApGRBhw6dBuTJ/+NTz7ZjfPnH6F+/cLIlcsDcllQilpsQ5kYXLGhncmmUIACFKAABShAAQpkgEDQXeDYfGDzG8DGfjFpy0Dg0HQg+EFMBZxs704YMQ3jIwXsT4AtflrgyZMw/PTTSYwcuRnff39cBVQmTWqCDz+sj8KFffTgivb0Sja+hMEVG9/BbB4FKEABClCAAhSgwH8C4YHAmR+ADd2BtR1TnBw3vIIs2/vq+TvpSV9P1v9nInB6OXBWL0/Srb+BEF8g2gB4FQIqvf7fRvlEgQwR4EYokGECcsnPgQM3MWnSLhw7dg8vv1wGM2e2RI8elVCwoLe6O1CGVcaCNsTgigXtDFaFAhSgAAUoQAEKUMCMAkF3gEOfAxdWA5fWpzg5XNkA15sboV3+b52beiAl6DYQFQo4ugGuPoB7TkAuAaqnB106b9aDK/3N2BBrLZr1pgAFbEFA0zQUKeKDjh3LYuzYhvjkk2aoW7cgsmRxsYXmpbkNDK6kmY4rUoACFKAABShAAQpYlYBMNhtwSw+KROhBEf2PAPccelAkQUpkWbRbDhhccyDa+JlHLqgJaiu9BnTZArx6LCb13A/UHAFkLwu4eFsVDStLAQpQ4FkCwcERmDNnP/btuwk9toISJbJh9OiGGDiwJvLn94aTE0MLFHjWN4ifUYACFKAABShAAQsUYJVSKHBpA7C8OvBdyZi0uhUQ6gs4uQGV3wBeu5KiFNn3PB53/hcYcPn/+fufA5rPBfLUAjzzxiSPPICzRworx2wUoAAFrEPg/HlfNG++DCNHblV3BAoKCoejo4MaqeLu7qyCLdbREvPW0sG8xbN0ClCAAhSgAAXsVIDNpkDmCxyYAtw/Avhd0pMeGAm4CURHx4xakZElEmRJaZLLfxLmdXAG/6oA/1GAAjYoID+VYWFRmDfvEKpXn48DB26jaNGseP/9evD0dLHBFqe/SQyupN+QJVCAAhSggNUKsOIUoIBNC4QHxTTP0RXIXTUm5akBlO4ClOoY8xkfKUABClAgnoBMWHv+/EP06rUKw4ZtVKNUevWqhF27+uGFF0rGy8s3/xdgcOX/FnxFAQpQwDIFWCsKUIACFEifQNaiQO/DManXQeCFhUCuyukrk2tTgAIUsFGBgIAwjBixGRs3XlJzq8yd2xqLF7+M3Lk9bbTFpmkWgyumcWQpFLB7AQJQgAIUoAAFKEABClCAAtYpEBISiaCgCMiolaxZ3dC5c3m8+mplrF7dFT16VIamadbZsAysNYMrGYjNTWW6ACtAAQpQgAIUoIA9CIQ8BG7tASIC7KG1bCMFKECBNAtER0fj/v0grF17Fr/8cgp37gSqsnr2rISvvmqFsmVz6oEVtYgPyQgwuJIMUMZ/zC1SgAIUoAAFKEABCqRL4NwvwOYBgP/1mGJk4tmYV3ykAAUoQIH/BMLDo3DixH3MmrUPH364DbNnH8ClS76QgIuzs6Oaa+W/rHxKgYBDCvI8nYVLKEABClCAAhSgAAUoYCkCIb7A1c3AyUXAiW9jnv0uAtEGwC0bULChpdSU9aAABShgEQJ+fqFYu/YcPv54h7ojkI+PG7p0KY8iRXzZaWjXAAAQAElEQVT0+iW4BEhfwv8nL8DgSvJGzEEBClCAAhSgAAUoYMkCt/cCe8cBO0foaTjw4ChgiALcswP1JgLV3rbk2rNuFKCACQRYRMoEZFTK9etP8OWX+zBu3E7s3n0dLVoUx6RJTTB4cC0VXOH0KimzTJiLwZWEInxPAQpQgAIUoAAFKGBdAn4XAN/TQNgTqNEqzp6AR26gTDeg6mAgexnrag9ra6sCbBcFMl0gOlqPPz8IwvLlxxERYcC779bRgyyN0apVSXh7u2Z6/ay5AgyuWPPeY90pQAEKUIACFKAABaBGqURHARJUqfU+8OIiqNst1xwOaA7gv9QIMC8FKGCLAo8fh0BGrTg4aChc2AcjRtTF55+3wKBBtVC+fC7Or2KCnc6jjQkQWQQFKEABClCAAhSgQAYKJLUpRxegYAOgVEegRDsga/GkcnI5BShAAbsQkIDKrl1X0b//Wqxff161OUcOd7z6ahW0bl0K8lot5EO6BRhcSTchC6AABShAAQpQgAJPC3CJGQXC/ICTi4F1rwC/twdOLQEiQ824QRZNAQpQwPoEAgLCMGPGPxgy5E8VWPnpp5Oxo1eyZHGBszPDAabcq9Q0pSbLogAFKEABCliXAGtLAesU8L8O/PsFcPF34MoG4NFZQC4LcnQFNEfwHwUoQAF7Fzh+/B5ef30dpk3bg/PnffUASy1MndoMmsY7AZnru8HgirlkWS4FKEABCphIgMVQgAIU0AUkeHLmR+DHesC6zjEBFUMk4OgGeOQBvIsA5XoCPiX0zPw/BShAAfsUCA2NxNKlR9Gr12qsXn0WWbO64qefOmPSpKbqTkD2qZIxrWZwJWOcuRUKUMDWBdg+ClCAAhQwr4AEUv6ZANzeBzy+AMh7V2+g9ofAG9eAAfqyhp8CWfKbtx4snQIUoIAFC/j6BmPduvM4ffoBOnUqi02beuHll8vAy8vFgmttG1VjcMU29iNbQYEUCTATBShAAQpQwGoF5P6h4U9iqi93BcpeDijZAWriWgdnQJK6JEiLycNHClCAAnYgID+NERFRCAuLVPOpFCjgjXfeqY0//uiJ+fNfQokS2eHgwN/FjPgqMLiSEcrcRmoEmJcCFKAABShAAQrEF4gMAYLvAtEGwMEJKPoC0O800HIxkLNS/Lx8RwEKUMBOBKKiDLhx44matPbddzfh6lU/1fIGDYrghRdKwNvbVb3nQ8YIMLiSJmeuRAEKUIACFKAABSiQYQInlwArmwAhD/7bJLuw/0HwiQIUsFOBoKBw7NlzA2+//SfGj/8L+/bdwpEjehDaTj3M2+yUlc4jU8qcmIsCFKAABShAAQpQILMEjs0F/K/GbN3VB8haLOY1HylAAQrYocC1a0+wdOkx9Ou3Bjt2XEXDhoUxZkwDtG5dyg41LKfJDK5Yzr5gTShAAQpQgAIUoAAFEhOICI5Z6pYDqPIGUKFPzHs+UoACViXAyqZf4ObNJxg3bgdGjtysCuvfvxq+/LIlOnYsBzc3J7WMD5kjwOBK5rhzqxSgAAUoQAEKUIACSQkE3wOu6n84nPsZOLcSiAjUc2qAV2Hg+clAzor6e/6fAmYRYKEUsGiB27cD1WiVevUK4eOPG2LixMYoXz6XRdfZXiqXIcGVqKgo3Lp1C6dPn8alS5fg7+9vL75sJwUoQAEKUIACFKBASgWCHwCXNwAHpgE73ga2vBmTQh4CemwFjs7gPxFgogAF7EUgPDwKhw7dRmBguGpyrVr5MW5cI3z6aXP06VMVXl6uajkfMl/A7MGVBw8eYN68eRgzZoweVZuofxHGYdq0adizZw/Cw2O+IJnPwBpQgAIUoAAFKEABCphUIC2F3dwJ7B0HHP0aeHQOCPMD5A5BzlkAjzxA4eZpKZXrUIACFLBKgbt3A7F48VGMHr0Nv/56ChERUdA0DXIpUM2a+fXXVtksm620WYMr0dHR+Oabb/D777+jVKlSaNGiBWrXro27d+9i4cKFOHr0qM3CsmEUoAAFKEABCli+AGuYQQIPTwL7pwK7P3p2kqCK5I2KANyyA2W6Ao1nAE1nA02+BCq/nkEV5mYoQAEKZJ5AVJQB+/ffxOTJu1Q6fPgunjwJh/7ndeZViltOVsDswZUVK1ZgwIABeOedd9TzwIEDMWTIEP2LEY1jx44lW0FmoAAFKEABCti5AJtPAesS8L8ONfJk+9vAtiExSV4f/Bz498tnp1t7gaiwmMBK3bHA85OAiv2BCq/GBFq8i1iXBWtLAQpQIJUCjx+HYsWKE/joo23qjkB582bBlClN0blzeTg7m/XP91TWlNkTCph97zg6OqJixYrw9PRU23Z2dkbBggWRN29eFWBRC/lAAQpQgAJWLsDqU4ACFPhP4Pp24PAs4MS3eloUk27sjLnEJzIEcPZIOrl6A575gNKdgFIdgWylAM0R/EcBClDAHgRu3w7A7Nn7MX78TsholU6dymHGjBfQq1dlFCjgBU2TyafsQcI62+hgzmprmobXXnsNX3/9Na5evao2JZPZbty4ETLJba1atdQyPlCAAhTIEAFuhAIUoAAFzC8QdAcI1FNUKODkBrh4Ae45ARl10uBToPPWZ6dOG4G642KCLOavLbdAAQpQwGIEPDycERYWCU9PF0yY0BgTJzZBvXqFIMstppKsSJICDkl+YoIPZM4Vmcz2p59+QtOmTVGhQgVIQOWDDz7Ajz/+iL59+6JmzZoqHT582ARbZBEUsH4BtoACFKAABShg1QIyAS2i9aBKVuCFhUDP/TGp619AtSFA7qrPTrkqA1nyAw5OVs3AylOAAhRIiUBAQDhOnryvsnp7u2LgwJr45ZcuGDCgGgoVygonJ7P+ya62ywfTCJh1T2mahmHDhmHKlCkYMWIEBg8ejLffflvdOeijjz7Cm2++if79+6sklwmZpkksJQMEuAkKUIACFKAABSgQIxD8ADgwDfi+FrBUD4wcmQ3I5T+a3s2US3yyFgMkycgVuetPzFp8pAAFKGDXAgZDNI4fv4cOHX7S/y5ejyNH7sLBQUPBgt4oUyaHGr2i/zlt10bW1nj9qGe+KmuahkGDBqmgigRWEib5zJjy59fPUJi0KiyMAhSgAAUoQAEKUMAsAqe/BxaXBxYU0QMqFYHdo4B7h4CHJ4Dge4CMXnFy5+gTs+CzUApQwNoF5AqPb789jIYNF2PHjqsICYmAv3+oapamaZxbRUmk9iHz85sluHL37l01p4o079atW0gqBQYGqi+OpmmSlYkCFKAABShAAQpkiEBkZCSCgoL0zqw/pD8i75PasMFg0Du+ISqvzB0XHBwc289Jah2bWn5tG/BzE2B+QeAb/WSYpD97A4/OAAHXgZCHenP1vpyDM+CZF8heFshVFaj2FuBTQv+M/6cABShAARGIjDTg2jU/dOiwEgMHrpdF6NOnCjZs6IFGjYqq93ywXgGzBFfat2+P69evQzojzz33HGrXrh0vyTJJP/zwg/XKseYUoAAFKEABClilQHh4ONauXYsuXbqgRo0aaN68OX7++WfI8oQNkgn4Dx48qHeCB+L5559H3bp10bt3b+zZsyfR/AnXt4n3Z/X+2p19QOAtIPh+THJwBBxdAS894JK3FpC/rh5MGQq8shPodwZ49Qjw3AdQE9naBAIbQQH7EWBLzSewd+8NNGmyFH/+eRElSmTHV1+1wsKF7ZAvn5f5NsqSM0zALMGVb7/9FgUKFFCjUuT1qlWrVCdGOjKS1q1bB0kShMmwlnJDFKAABShAAQpQQBc4cOAAFixYgDp16mD16tXo2bMnRo0ahdOnT+ufxv+/jL5dsmQJZGTLsmXLsHLlSvj4+GDOnDm4efNm/My2+k7u+iOX+Ti6AIUaAUWaA4X1VLYb8NIqoIceeOm2G2j8BZC9jK0qsF2WJcDaUMBqBAyGaMhlQFJhNzcnZMnigjZtSuGPP3rg1VerwNFRk4+YbEDAwRxtqFixIlxcXNSQ2T///BNFihRRZ4Zq6GeH4qY8efKYY/MskwIUoAAFKEABCiQqIB3c3bt3I3fu3GrkSqVKlTB06FCULFkSiY2olUuAQkNDIfnKly+PMmXKqD6NwWBAREREotuwmYXhAf/NofIwZg4V12x6MOVXQG6VLKnlEiDfczbTXNM3hCVSgAL2LCDHm/v3g3DgwB3cvRsMgx5kee65Apg3rw1+/LEzSpXKYc88Ntl2swRXjFIODg7YtWsXHj7UD8rGhXymAAUoQAEKUIACmSQgAZHbt28jV65cyJ49u6qFpmmoWbMmjh8/rt7HfZAgTNWqVXHq1CksX74cK1aswD///IN69eqpMuLmNb6WS4lkO8Yk742fSWfb1EnKTnOZ0TFnVBNbHzd3AduGALf0Z0Mk4OCEaH1jieXlsqQdaZNyG/3rpf5Ps5SbpcVKkI3rxX1tXMbn9PuHhUXi5Mn7mDVrvx7A34p16y4gKChcjWCpV68QXFwc1Gtap9/aaCjfZUnG96Z4NpYnzylJZg2uaJqGBg0aqI7Iv//+i8uXL+PatWuxSSaFS0klmcd6BdxcnFG6SG40r1sOr7SsgT4v10UX/blu1eLw8XKPbZj+VUG2rB6oVq4w2jSqhB5tnkOvl2rj5aZVUL5EPsjniPPP2ckRhfJmQ4MaJdGxRTWVt1vrWmhauwxyZ/eCQ8IV4qzLlxSgQOYKBAcF4cTxY9j4xwas+X01tm3dguv6sSFza8WtW7KAKesWFhYGSe7u7nB2do4t2tvbG0+ePIl9b3zh4eGhRrWEhITg999/h1zqLCeN5PJnV1dXY7bYZ5m3RU4sffPNN5Aklx/JnC0SaJFRMKZO0haZmNcU5Yb4+yLixl4YzvyI6NMrYDixCLh7CIgMQ7STJ8JyVEVIaARMsS1rK0P2v1hbW72tsb4yUswa621tdRZn+V6b6vfD2tpvzvrevv1YP16cwUcfbcO8eQf1Y000DIZwBAYG2eXvpzmt45Yt3+m47031Wn77Yw/yybxwSObzNH8s1zBLA2Vi2++++w4ffvghxo0bh/Hjx8cmOfOT5g1wRasQqF6+ED54rSXGDGyN1zs3QJ/2dTGsdzNMfac9BnR6Hvlz+0D+ubk6o03DSpgwtC1G9G2B/h2fx2ud62PsoDb6spf0IEtVyRabCujrDe3ZRH0+tEcT9OtQD2/r7ycMfQnD+zZH8UI54eCgxebnCwpQwDIEAvz9sWnjn5g9ayaWLV2MVb/8jG++no2v58zCqZMnLKOSaasF17ISAWc9oCJJgiBxR5RIJ8zT0/OpVty4cQNyibNcEjRjxgx8+eWXaNiwIX788Uc1eX/CFQwGAx48eIBLly6pJCeWHj16pHesDepyadmmKZNsz2TlPTqP6H8mQts2FNg2GNrl9UBkCKJdvGCo9BoM1UciUnM2SztM1oaoKNaPBvwOJPMdkDmk5L85k/5+JLNN2Z6tp7CwCJw+fR+zZ+/D2LE7sG/fTTRtWgyjRtVGhw6lcwWt+AAAEABJREFU4OnpxO+mGb8n5vo+S7kJj/VJvTdbcGX8+PGQSKjMrD9y5Eg1E7/MxVK2bFkYU/b/huMmVTkut36BPDm94RcQjB83HMT0xZsx/ut1mLV8G27e98Pg7o3R+YXqKgji4uQELw83nLl8F4tW7cEnC//EpHkbsPDX3WrkyqS3X0bZYnljQdzdnOHs5IhNe06r8iZ9swGffrcJx8/dwista6KfHpzxcHOJzc8XFKCACGRukuGZBw8ewA8rlsPDwxO9X+2LIW+9g05duuLwv4cw56svERAQkLmV5NZtXkBGm8ilPr6+vrEjVeS7KZf9yHwqCQHu3bsHCbDIZUPyeYkSJdCoUSPcuXMHfn5+CbPDzc0NHTt2xLRp01SaOnUqXnjhBch2s2TJAi8vL5MmGYFjqjKzaIFw9T0Mh/DHcIiOgObkBrjlgFb0RTjUeBduxRrBy9vHpPU3Vd3NXY7sOw8PD7tsu7lt45YvzhLkjLuMr037m2H0FGdJxvd8Tr9zRIQTfvvtEr777hQcHR3x1lu1MXFiY7RuXQq5c/vw98PEx7+E31lz/EbLb5IcZ5862CexwCGJ5eleLDPoS5Tngw8+QFKpVq1a6d4OC7BsgX3HruhBlS16kORvFQjZdegCVm0+grk/7kRoWAQa1iqF7N6eCA4Nx9odx/DZd5uwYsMBbNt3VqVv9eDKivUHUKJwLrxQr1xsY2/cfYyvvt+OOT/sxJrtx7DzwHms1Z8/1wM48lmnFtXg6e4am58vrEiAVbVZAflDdN/ePYiKjET7jp3Q4sWWqF2nrh5ceQVt2rbDgf379PSPzbafDbMMAU3T1Pwq9+/fx9atW3H16lWsWbMGJ0+eRPv27SFnVpcuXYpt27apCkvHSjrJMtr24sWLKv/OnTv1AKEH5DOVKcGDk5OTCqZIQEWSvJcsmqZB0ywoIRra7b3Q9o6D9vcoaCe+BWQSW0c9qFK6C9D8a6DZHKD2R9Cy5LWsuluSI+ti0u+GRf63wn1s0n2saRb0O2jCuri5OaFQoaxo1qw4Jk9uiiFDaqF8+dxw0k8Ia5pttlnTLKdd8tshSdNMXycpNyXJbMEV2bgEWOLOsZLwNedcESXbTncePIEkgyE6tqFRBgPuPvDHQ78geLi5QEahRERG4dZ9P/jqy+QMojFzZJQBJy/cgqYvyJkti/4Y8//A4DBcveWrAjQxS2Ier91+hMf+wcjm7aFGxMQsNf0jS6QABVIvcPvWTVy5chklSpVCseLF9c6GkypELtFo0/Yl9Uft7l271DI+UMCcAjIZbcuWLbFlyxbInYJkbpS+ffuibt266vKdX3/9FXJHIalDcf272rlzZ3WJz3vvvYfhw4dD5pHr3bs3ChcuLFmsL937F/hrJLB1ELBjGHD4S+DIV8ClNUBUGCAjVvLVBcr1Asp2A3JXBRxdra+drDEFKEABMwvs3XsDCxb8C/n7xdvbDa+8UlGNVmnbtjRy5PAw89ZZvKUJOJizQm+++Sa6desWL3Xv3h3GtGHDBnNu3t7Lttj2Ozo4IH/urCicLzvuPfTHg8eBeNa/RrVK6z9YwNFzN5+VTX1WrnheNaHt2ct3IQEbtZAPFKCARQg88vWFpHz58sPbO2u8OhUtVhxyhv/ihQvxlvMNBcwh4OPjo/oio0ePxogRI9RccIMGDYKnp6cK+k2YMAE9e/ZUm/b29sZLL72Ejz/+GO+++y6GDRuGsWPHQgIu8pnKZG0P/84Ejs8HTi0F7h2KGa1iiARcvAGPPEDBBjEBFWtrF+tLAQpQIIMEgoIiMH36XgwcuB5ffPEPJMiiadADKu4oXToHXFwcM6gm3IwlCZg1uPLOO+9gzJgx8ZJ0ZIypdu3almTBumSQQI5snni3T3MEhYTht21Hnxp9ErcazeuWQ8cW1XHo5FVs2XsGz/rn7emG/p2eV0Gb71bvQUBQ6LOy8zMKUCCDBUJCQyFJ/oB1cYk/J5KMXvHMkgV+fo8yuFbcnL0KyLxv1atXR5MmTVCnTh29Q5wDmqapJMtLliwZSyPXdVeqVElNZNuwYUNUqVJFDxB6q7yxmazhhdz5Z/PrwGX95Fa4fmLDEBETTMlTA2g+F+iyXU9bgaaz9eBKNWtoEetIAQpQIMMFTp68hz59fsO0aXtw9uxDtGpVCmXK5MzweljnBm271mYNrjRt2hQvvvhikqlo0aLP1A0LC0NgYGBsCg0NgRrC8My1+KElC7i5OmPCkJdQs2IRNcnt5j2nk6xujfJFMHVYe8hlREMm/fjMYIm7Xu6bXRuiY/NqWPnnQTW/S3i4fhYuydL5AQUokNECMmQ2OtoAB80h0T9KHRwc1H/vGV0vbo8CdiMgc6qc+xkIexLT5OzlgJ4HgA7roC4BylUJyFkR8C4CdWlQTC4+UoACFLAvgSRaGxERhUWLjqBbt1VYt+48PDycsXJlZ4wb10gP0HsksRYX25OAgzkbKxO4PStJRzqp7UdFRWHSpEkoWLBgbHpn4KuICkz+0pCkyuTyzBXQNA1fvN8FHfQAyA/rD2DG4i1JjlqpVq4QZn30CnL4eKLne9/i5MXbSVZeAjZv6IGVQd0aYdPuU2qi2/u+AYhOcg1+QAEKZIaAi7MzXJxdEBYeBrkNZMI6BAcFwdPDM+FivqcABUwlEHwPiAyGHt0EfEoBdcbogZTCgGc+MJgC/qOAVQmwshkvMGfOQYwduxOnTz9Ex47lsHt3P7RrVwY+Pm7qZzXja8QtWpqAg7kqVL9+fbgkGPadmm3JzPxySdH169dhTF/OXQqHLAVSUwzzWoiApmn4ZlxP9GpXG9+v348xX61BaHhEorWrWrYQvvqoGwrk8UHvDxfh4MlriI5OPFTi5uKM/h2fx4g+zbFj/zlM+24TZFLbpPInukEupAAFMkTAO2tWSPJ9+BASSIm7UbUsOBgFC+t/6MX9gK8pQAHTC3jkBvqeBGSyWtOXzhIpYBTgMwVsSuDll8ugcuXc+Pbbl7BkycvqzkCOjg421UY2Jn0CZvs2rF27FjJhXHqq5+bmBpkszpjcPTz0qKDZqpyeqnLdZwjIHYHmjOmOrq1q4rtVu/H+9FWIe/cg46qODg6oWaEIPhvZUU1K+/rY73HgxLVE88o6nu6ueLV9HQzXAyvb9cDKp99uhNxBSD5jogAFLE8gX/4CKFCgAC5cOI979+7GBk0lGPr3rr/033cNNWs+Z3kVZ40oQAEbFmDTKEABCjwtEBUVjVu3/LF27VkcPRrTZylePJv+vjv69asGV9eYOx4+vSaX2LMAIxX2vPczoO3eWdwx9d326NGmFn7fdhST5/+JrPqybN4ekOTl6QYnPeLr4KBBLgWa8NZLKFU4t55vA06cvwUvD1eVT/Jm0V8bqyyBlVda1sD7A17E6Uu3seCXv/HwcWBsXskv5Rrz85kCFMh8gbx586JK1Wq4d/cOdv21Ezdv3ICf32PI7ZmXLV2MnDlz4YWWLTO/oqwBBSxNgPWhAAUoQIEMEZDB8nInoN27r2PQoA3o3n01fvnltN5fCVXbd3Jy0E8GqZd8oMBTAg5PLeECCphQQEardHmxhjpDHRYeiYlDX8Lkd16OTTJPitySOXtWT/RpXxdy22W5NXPjWmUwdnCb2HyT334ZPdvWjq1Z+RL51IgVbz044+zkpH/23P/z/ld+wbzZ+OMXK8YXFMh8AQcHBzRt3gLNmr+APzasw+SJ4zBt6hSMfPcdyATm7458D7ly5c78irIGaRLgShSgAAUoQAFrFoiKMuDGjSdq0trXXluLv/66hnr1CqF27QJwd3e25qax7hkkwOBKBkHb62b8A0Ow+/BF7DlyGflz+6BwvhzxUr5cWeHiEjOs7tptX+zYfx73fAOQO4d3vHyF82dHruxesYwhoeE4fv4m9h+/ikj9hzBhufLeVZWrxa7DFxSgQOYL5MmTF6+9OQgDXn8TOXLkQHBwEGrUrImPx01A6zYvmbuCLJ8CFKAABShAAQo8JRAZacD+/bcwbtwOfPTRNsj7AQOqYfbsVnjppTJwc4v5e+WpFbmAAnEEzB5cMRgMOH/+PDZs2IBffvkFv//+u/7F3Q8/P7841eBLWxVY+echdB2+EC8NnpNoevfTn3H28l11Sc/0xVsSzROz7teY/M2GWCa5e1DP9xc9I/8cnLtyDzKXQ+xKfEEBqxCw/UrmzJkTnbt0xdRp0zFrzjyM/ng86tStZ/sNZwspQAEKUIACFLBIgdDQSMyf/y9+/vk0nnuugB5kaaRS2bI5ORIe/JdSAbMHVw4ePIhPPvkE8+bNw/Lly/Hdd99hxowZWLlyJR48eJDSejIfBShgSQKsCwUoQAEKUIACFKAABaxYQEanPHkSqlrg4uIIuRtQ//7V9L9dm+HVV6sga1Y39RkfKJBSAbMGV2TUwKxZs1RdRowYgWnTpukRwHGoU6cOtm3bBgm8qA/5QAEzCLBIClCAAhSggN0IRIUDd/YDx74BjsxOPPldAqINdkPChlKAAhRISuD+/SAsXnwUs2cfQEREFCS40q5dGUyY0FiNXHFw4NQCSdlxedICZg+u7N27F4MGDUKTJk1Qrlw51KxZE926dUOePHlw9erVpGtmH5+wlRSgAAUoQAEKUCDtAhIsuXcIOPAp8PeHevoo6fToTExwxdE17dvjmhSgAAWsWMBgiIbMrTJ58i79pP8OfPvtYdy7F6haJHcCyp7dXb3mAwXSIpCC4Epaiv3/Om5ubrh///7/F+ivgoKCEBoaCmdnzrqsc/D/FKAABShAAQpQIG0CenBFO/gZcGg6cGMnEPYYMIQDDk5PJ+csgEceoGR7QDN7FxD8RwEKUMCSBPz8QrFs2TGMGbMN3313BPnyeWHUqPrw9GTAOf5+4ru0Cpj1yKppGrp06YKpU6fi888/VxPaypwrU6ZMQUBAACpXrpzWenM9ClCAAhSgAAUoQAE9uIK7+4HwAEBGpOStBdSfCrT5IfHUehlQ413AwZF2FKAABaxXIBU1j44GTp16gIkT/8KkSbvUyJWuXStg5swX0adPVWTLxrlVUsHJrM8QMHtwZeDAgejatav+Jd6Pb7/9Vt0tKEeOHBg8eDCDK8/YMfyIAhSgAAUoQAEKpEjAEAVoerAk33PAi98BlV8HirVKPBV5AfAuAkAD/1GAAuYVYOmWI3D8+F2sW3cecunPlClNMXZsIzz/fGG4uTlZTiVZE6sXMGtwRXTy58+P/v37Y/r06Zg9ezZmzpyJDz74AHXr1oW7O69pEyMmClCAAhSgAAUokC4BTQ+WuGYHclYCXLzTVRRXtisBNpYCNisg86tERUVDfh7r1y+MDz98Ht980wb9+lVDkSI+cHTUfzdttvVsWGYImD24omkavLy8ULRoUZQuXRolS5ZE7ty5Od9KZuxtbpMCFKAABShAAQpYnQArTAEKUCDlApGRBuzbdxNDhvyB3347o1YsUMAbPXtWRoMGRZAli3mX3/MAABAASURBVIsKuKgP+EABEwqYLbhSuHBh+Pj4PDN9/fXXJmwKi6IABShAAQpQgAKZJJAZm728Dtk3tQGC4984IDOqwm1SgAIUsASB4OAIyB2AOnRYiUWLjmD9+vN4/DgEDg6augRILguyhHqyDrYpYLbgyvz587Fs2bJ4aenSperyoHr16iEiIgJRUVG2qcpWUYACFKAABSxQgFWyLQHtn4lwfnQCWrTen9IcARdP22ogW0MBClAghQIyae3t2wHo3fs3DBq0ARJk6du3CmR+lWzZOBVFChmZLZ0CZguutGrVCu3atVOpdevWqFOnjv4lD8aSJUv06OFjLFy4EP369Utn9bk6BShAAQrYmACbQwEKpFQgIlDljHbS/3Ao0gKoMki95wMFKEABexKQwMr69efw3HMLsW7dOZQpkwNz5rTC11+3gVwOZE8WbGvmCpgtuCLNMhgMuHv3LjZv3gy5a5BMZtu5c2esWbMGPXr0UHOxSD4mClCAAtYlwNpSgAIUsBQBDchWGuiwDihQ31IqxXpQgAIUyDCB8PBIjBu3EyEhkfqJ/TL47bdu6N27irozUIZVghuigC5gtuCKBFV27dqFjz76COPHj0f58uXx008/YdiwYWpCW33b/D8FKGBOAZZNAQpQgAIUoAAFKEABGxOQkSq+vsF4+DAYcjcgV1cnfPVVK/3vzvpYvrwDypXLaWMtZnOsRcBswZUpU6agQ4cOOH/+vBq10rFjR/j5+eHw4cOx6f59TsBmLV8Uc9WT5VKAAhSgAAUoQAEKUIACFEiJQHh4FM6ceYCZM/dh+vS9ePAgSK0mt1oeMaIe3N2d1Xs+UCAzBMwWXNm9ezfy5cuH/PnzY9OmTZg2bdpT6cCBA5nR5tRuk/kpQAEKUIACFKAABShAAQpQIBMFZLTKH39cwHvvbcHs2Qewc+dV+PuHIVqGsmRivbhpmxNIc4PMFlz58MMPIZcEyaS2L730EhJLJUqUSHPFuSIFKEABClCAAhSgAAUoQAEK2LZAZKRBjVaZN+8QRo3ahgMHbqF58+L4+ONGKFw4KzRNs22ARFvHhZYoYLbgSteuXdGrV69npnLlylmiCetEAQpQgAIUoAAFKEABClCAAukRMMG6UVEGHD58B+PH/4VZs/bDwUHDkCG1MHVqM7RsWQJubk4m2AqLoIBpBMwWXDFN9VgKBShAAQpQgAIUoAAFKEAB8wiwVEsX0HD/fhAuXnyEOnUK6kGWxnj77dooUyYHHB35p6yl7z17qx+/kfa2x9leClCAAhSgAAUoQAFrEmBdKWBXAhERBpw79xBPnoTqARQNtWrlxyefNMPkyU3Qrl0ZZM/ublcebKz1CDC4Yj37ijWlAAUoQAEKUIACFirAalGAAhRIv0BQUATmzDmAIUP+wPLlxyFz1ebO7anmWKlcOS9cXR3TvxGWQAEzCTC4YiZYFksBClCAAhSggIUJsDoUoAAFKGCxAmfOPED//mswbdpuNc+K3AlI5lzRNE3NtaI/gf8oYMkCDK5Y8t5h3ShAAQpQwO4E2GAKUIACFKCAPQlIAGXRoiPo2HEl1qw5B29vV8yd2wZvvFEDnFfFnr4J1t9WBlesfx+yBRSgAAUyWoDbo0CmC0RGRiIqKirT68EKUIACFKBA2gV8fYP1IMo6vP/+Fpw754uXXy6DP/7oqQdayiFnTg9wtErabblmxgswuJLx5twiBSiQIQLcCAUoYGsC0dHROHLkCLp3746CBQti5syZCAoKwvLly7Fw4UIEBgbaWpPZHgpQgAI2LeDl5YqHD0NUG7/9tp3+e94BJUpkh4sL51ZRKHywKgEGV6xqd7GyNifABlGAAhSgQIoFzpw5gxkzZsDDwwP169eHwWBQ6xYuXBjr1q2Dv7+/es8HClCAAhSwTAEJkj98GIzHj0P03/BoFUSZNasljh0bhH79qqn3HK1imfuOtUpegMGV5I3sPgcBKEABClCAApYgcO3aNTg7O2P06NGoUKECNE1T1SpWrBju3buHiIgI9Z4PFKAABShgWQLR0UBISAR27bqGXr1Wq0uBLlzwVZUsWtQHBQp46b/p6i0fKGC1ArYSXLHaHcCKU4ACFKAABSiQMoHw8HD9TKcBWbJkibeCXBokCzQtJtgir5koQAEKUMAyBCIjDbh1yx8LFhzGgAFrsWfPDTx+HAq57bIEXSyjlqyFlQlYZHUZXLHI3cJKUYACFKAABSiQUCBXrlxq5MrevXsREBCg5li5fv06Vq9ejVKlSsHd3T3hKnxPAQpQgAKZKBAcHIF9+25izJjtGDt2ByIiDHjtteqYN68tqlXLZ+OjVTIRnpvOFAEGVzKFnRulAAUoQAEKUCC1AmXLltU749Xw66+/4tChQ/j7778xdepU7NixA127dkXWrFlTWyTzU4ACFLBvATO2PirKgGPH7mLYsI16EPwMqlfPh8mTm2D8+EZ6QDw7AytmtGfRmSPA4ErmuHOrFKAABShAAQqkUiB79uzo1asXunXrpia0ldEqctcgmYOlefPmcHFxSWWJzE4BCliDAOtonQJyyU94eBS8vV313+7K+Oyz5ujRo7IeCHezzgax1hRIRoDBlWSA+DEFKEABClCAApYhcPXqVRw/fhwtW7ZUI1bmz5+PTz75RAVaNm/erC4TsoyashZ2KMAmU4ACuoCvbzB++ukk7t0LgpOTA2rUyI8ZM17AuHGNUKtWATg6anou/p8CtinA4Ipt7le2igIUoAAFKGBzAhJY+eGHHxAWFhavbSEhIfjiiy/w6NGjeMv5JqEA31OAAhQwj0B0dDQOHryNSZN2YeTIzVi27JjaUJYsLpC5VfLkiT8RufqQDxSwMQEGV2xsh7I5FKAABShAAasWSKTyEjw5efIkLl26hFu3buHUqVOQ95Ik4LJ161YY7xiUyOpcRAEKUIACZhTw9w9TwZTRo7dh7txDyJHDAwULeplxiyyaApYpwOCKZe4X1ooCFKAABSxYgFXLWAEJqLz99ttYtGiRmsj2vffeg7yX9O6772L27Nlo3LgxvL29M7Zi3BoFKEABOxc4deo+Jkz4CxMn7sLu3TfQs2clzJrVEh06lLNzGTbfHgUYXLHHvc42U4AC9iDANlLAZgRy586NESNGoHPnzqhdu7YKrMh7YxozZgzeeusteHnxTCn4jwIUoEAGCVy58hjTp/+Db789DAcHDdOmNVNzqzRuXBRubk4ZVAtuhgKWI8DgiuXsC9aEAnYowCZTgAIUSF5ARqS0adNGBVVmzpypnxHtAHkvqXXr1mjWrBmKFCkCR0fH5AtjDgpQgAIUMIlA7tyeyJPHEx07lsOCBW3Rr181FC3qA/6jgL0KMLhir3ue7U65AHNSgAIUoIBFCGTLlg0FCxaE3DVo/fr1kMltv//+exhTYGCgRdSTlaAABShgiwKRkQbs23cTW7dehtxi2dPTBSNH1lO3WG7QoAhk8lpbbDfbRIGUCjC4klIpC8/H6lGAAhSgAAVsXeDJkyf4+uuv0apVK7z22muQuVeGDx8OSVOmTIF8busGbB8FKECBzBDw8wvF3LkH0aPHKowbtxN//31dVSNnTg/kyuWpbrsM/qOAnQtkZHDFzqnZfApQgAIUoAAF0iNw7Ngx7NixAxMnTsSAAQPUPCt79+5Fx44dMXToUPj4+KSneK5LAQpQgAIJBOQWyxcvPsIbb6zTA9mb4esbglq18qNMmRwJcvItBZ4SsLsFDK7Y3S5ngylAAQpQgALWKfD48WMVQGnatClcXFwgnX6Z7HbYsGFYu3Yt5HPrbBlrTQEKUMDyBMLCIvH772fRvPkyrF59RgVU5s5tjc8+a4GCBW3l7myW584aWa8AgyvWu+9YcwpQgAIUoIBdCTg5OcHZ2RkGgwFZs2aFv78/Hjx4gMjISP1sqi+ioqLsyoONpQAF7EQgk5r5229n0b37Kv23NgydOpXDzz93Rs+elfXgNicPz6Rdws1auACDKxa+g1g9ClCAAhSgAAViBGSUSp48eXDv3j2UL18eFy5cwOzZszFp0iQUKFAA7u7uMRn5SAEKZLgAN2gbAkFB4YiOjmnL888XQv36hTF6dAMsWvQyKlTIHfMBHylAgUQFGFxJlIULKUABClCAAhSwNIGyZcvqZ1G7I2fOnGjQoIGaa+Xu3btwdXXF+++/D7mbkKXVmfWxKAFWhgIUSEIgIiIK5849xOLFR3Hrlr/KJZf+/PJLFwwfXhdyZyC1kA8UoECSAgyuJEnDDyhAAQpQgAIUsCQBLy8v/cxpBeTPn1+NUunRowd++uknzJ07V+/4e6rLhVJaX7mcaM+ePZBbOsskuffv39fP1v53ujZBIXIZkoyWkfwbNmzAxo0bcfHiRURERCTIaYq3LIMCFKBAxgo8ehSCTZsu4Z13NuqB6i3YsOGCqoCmaXrQ2h2apqn3fKAABZ4twODKs334KQUoQAEKUIACCQUy4X1YWBguXbqEQ4cO4cqVKwgPD0dISAgOHz6M7777DlOnToWfn1+Kavbo0SOsWLECX375JZYuXYrp06djzpw5CAwMfGp9mTT36tWrWLJkCb755hu13g8//ID9+/er7T+1AhdQgAIUsBKByEgDzp59qP+2HcKwYZtw8OBtNG9eHMWK8c5rVrILWU0LE2BwxcJ2CKtDAQpQgAKmEWAptiMgQZTt27dj/PjxGD16tJpj5Y8//sAvv/yC+fPn48iRI3j++efh4eGRokbLCJRt27bhxRdfxIwZMzB48GD8+OOP2L1791Pry6S5Mrrl5MmT6Nu3L7744gtMmTIFjRo1gpub21P5uYACFKCANQgEBIRj69bL+u/qTj3AvBeuro76b2EtzJzZUgVYrKENrCMFLE2AwRVL2yOsDwUoYE8CbCsFKJACAbmER0aLODg4oHr16pBAh4w6OXXqlJp7ZezYsRgyZAjksqHkipNLfGS0i0yM26RJExQuXBitW7dGpUqVsHbt2qdWv3nzphotkyNHDly+fBlSj3///VddluTi4vJUflkgdy+SkTaSQkND1d2MZLmMgjFlkjKNyZTlsqxodYkYHTLHQb7TtDe/vZ9fKH799Sy2bLmsB6cLYdy4hhg5si6KF/eBXAXEfWD+fUBj0xqb87dDyk5JYnAlJUrMQwG7FmDjKUABCmSugIweuXPnjt7xH4lRo0ahadOmyJIlCzp16oRu3brpfwwUh5OTU4oqKQEPmV8le/bs8Pb2VutomqbuPnT+/Hn1Pu6DXEIkwRxJZ8+excOHD9WlQTLS5fHjx3GzqtcyykbmgXnrrbcgadiwYZB5WmS7AQEBkLaYKhmiotQ2DVEGk5ZrqvrZUjmy74KCgujs729WA7k0T5ItfXcsqS1+fk/037DHah86OUWiVq2cGDy4Ct5/vyaaNMmv/56Eqc8sqc62UBf57ZDfEFtoiyW3wRzOst+Cg4P1/zZS9n8GV1LmxFyWLsD6UYACFKCAzQrISBCX6I3jAAAQAElEQVRJBQsWVAGR3Llzq2BIqVKlUhxUMeJIOZJk1Imjo6NxsRqJklgHSvJKEKVo0aIYOHCgCpjIJUhyqdDt27dj1ze+kDKLFSuG2rVrxyapt4y6cXZ2himTpmlqs5qmmbRcU9bRlsqSAJ4ttccS20Jj0/5GxN3H/v6RWLLkBObPP4qwsGhky+aB9u3L6b9pdVC9ekF4errxd8TEv9FGf36vzfe9NhrLs7mcpVx1sE3BA4MrKUAyVRaWQwEKUIACFKBA6gVk6LSMGJG79KxZswZyOZBMMmt8L8skJRYcSbg1V1dXNVeKjDCJe7efJ0+ewMfHJ2F29ceGXEJUsWJFSDAnX758qFevHiTg4ufnpy4fibuSBG3q1q2LPn36qNS7d29Uq1ZNlePu7q6COKZ61hxiunGag2bSck1VP1sqR+bXke+OLbXJUttCZ9P+Tri5uePSpQB89NFfmDHjINatu4yLF/3V72Du3N7InTsrPDxMu01L/W5lVr3kO+3m5sbfaRMfAxPuT3FOuMwU76XcuMf5Z72OOSr/PwdfUYACFKAABShAAYsSkDNSMtx31qxZ+PTTT9Wdek6cOAHje1k2bdq0FN0tSMoqUKAA5NIgueRHGirBm4MHD6Jq1aryNl7y8fGB5JfAjeSTD+WyBTmTJYEUTYsZPSLLjUlGqcjnxiTvjZ9pmgZNM00ylinPmmaaMjWN5WgaDTQtcwzkuyxJ0zJn+5pmW9uNjgaWLz+OXr1+w2+/nUW2bO54553aqFAhtzCr3yJ5oWm21W5NY3s0LcUG6nugadafX77LkjTNdG2R8lKTGFxJjRbzUoACFKAABSiQ4QKlS5eG3C1I5jmRCWXXrVsHuVuQ8b0sk1sry+VCyVVO0zTUr18fMknuypUrcfz4ccycOVM/s3sJPXr0UJPPfvjhh1iyZIkqqkiRIqhTpw62bt2qJryVyXCXLl2KkiVL6md8Y/5AURn5QAEKUMCCBO7eDUS/fr9j5MjNOH/eFy+9VAY//NARHTuWQ9asbhZU05RUhXkoYB0CDK5Yx35iLSlAAQpQgAJ2KyAjRIoVK4bkkowUSQnSc889h6FDh+Kff/5RdwqSII0EWMqVK6cu85G7AV28eBHyTybO7d69Oxo3bqwm0+3atStkJMrw4cMhc6lIHiYKUIACsDCCH388gZUrT+sBYwNmzWqJBQvaomLF3HBzc7KwmrI6FLAdAQZXbGdfsiUUoAAFKEABCqRAQIIwbdq0wZ9//olr166py4w6duyoJseVy4Y2bdqEiRMnqpI0TVNBlI8//hhyKZLcMei7775DlSpVIJPXqkx8oICVCLCa9iMwaFAtvPpqZRw8+Dpef706vLxc1eUf9iPAllIg4wUYXMl4c26RAhSgAAUoQIFMFtA0TY1AkQCJjETRNA3Gf/JekvG9PGuapoIpxvzgP3MJsFwKUCCVAhERUdiz57oeRFmHI0fuwmCIViNUFix4CSVLZmdQJZWezE6BtAowuJJWOa5HAQpQgAIUoICdCrDZFKAABTJfICrKAJlbZfbsA+jZczV++OEE1qw5i4CA8MyvHGtAATsUYHDFDnc6m0wBClCAAnYgYKNNjIqKwpMnT3Djxg31LHfwkTv5hISEqPlSbLTZbBYFKECBeAJBQRHYv/8WRozYhAkT/lJzq7z5Zg0MGFAN3t4u8fLyDQUokDECDhmzGW6FAhSgAAUo8LQAl1AgNQIRERE4ffo0Fi5ciPfeew8bNmxAWFgYDh48iC1btkACLKkpj3kpQAEKWKOAv38YVq8+g6FD/8C6dedRpUoefP55Cz3I0hiFCmXlZUDWuFNZZ5sQYHDFJnYjG0EBCphRgEVTgAIWInD9+nV8++23kLv53L9/X41ekZEsMnJl2bJlaiSLhVSV1aAABShgNoF794L04PJ5PHoUgp49K+PLL1vilVcqqElrzbZRFkwBCiQrwOBKskTMQAFrEGAdKUABCti+wMWLF/U/Jh5h9OjRaNCggZqQVlpdtmxZ3Lp1CzKyRd4zUYACFLA1gcePQ3Hlip9qVuHC3njjjRoYO7YRxo9vhOrV88HRkX/WKRw+UCATBfhfYSbi292m2WAKUIACFKBAOgTkEiBHR0fkzJkzXimyPDo6Ot4yvqEABShgKwKHD9/BtGm7MXPmP3jwIBiurk5o0qQY+vWrijx5sthKM9kOCli9QGxw5e7duzhz5kyy6dq1a1bf6Gc1gJ9RgAIUoAAFKGCZAtmzZ1eT1h46dAjh4eHq9YMHD7B69WoULVoUbm5ulllx1ooCFKBAGgQCA8OxfPkxjBq1DbNm7ceJE/cREBCmStI0cG4V8B8F0i9gyhJigyvSMRk+fDiSS/PmzTPl9lkWBShAAQpQgAIUSJGAXP5Tt25d/PDDD9i4cSN+//13NbHt33//je7duyNr1qwpKoeZKEABCli6wOnTDzBu3E6Vdu68ildeKY8xYxogb16OVLH0fWeG+rFIKxGIDa5IZ6V///5ILrVq1cpKmsZqUoACFKAABShgSwI5cuRAx44d0aNHD3Tt2hX169dHjRo11ImhZs2awdXV1Zaay7ZQgAJ2KrB+/Xk9cLwFCxb8C4MhWt0JaNy4xmjatDg8PJwtVIXVogAFYoMr1apVQ5cuXZJNjRo1ohoFKEABClCAAhTIcIGAgABERkaiZcuWGDx4MEaOHKmemzZtiixZeDY3w3cIN0gBaxOwkvoGBYXj6NG7aNGiOJYsaY8BA6qhePFskEuBrKQJrCYF7FIgNriSsPUyOdz+/fuxatUq/PTTT7Fpx44dCbPyPQUoQAEKUIACFDC7gPRLOnfujBEjRuDAgQNwd3eHt7c3ZJJbs2+cG6BABglwM/YnEBlpwP37QQgICFeNf/HFkli4sC1mzHgBDRsWgaeni1rOBwpQwLIFEg2uXLlyRY1gefXVVzFkyBCMHTsWb7/9NkaNGoUff/zRslvE2lGAAhSgAAUoYJMCNWvWxPvvv4+QkBA1auXFF1/E+PHjcfLkSd6GOWP3OLdGAQqYSMDXN1hNVtux40ps3HgBEmjx8XFDixYlUbRoNjg4aCbaEouhAAXMLZBocOWrr75Sk8Jt3boVoaGh+OWXX/Drr7+iSpUqeOWVV8xdJ5ZPAQpQgAIUoAAFnhLIli0b2rZtiy+//BJr1qzBG2+8AblzkARZ5FKhe/fu4f//+IoCFKCA5QpER0fjxIl7GDz4D/1E9g6cOvUA1649QXBwhKq0s7MDLwNSEnyggPUIOCRW1RMnTkBGreTPnx9OTk7q1oa1a9dWE8h9//334D8KUIACFKAABUwgwCJSLSD9Eg8PDxQpUkT1VcaPH486depALhkKDg5OdXlcgQIUoEBGC4SGRuonrs+gffuV+PnnUyha1AcLFryEt96qDW9v14yuDrdHAQqYSCDR4Erc2fYlwHLhwgU13FYirA8fPjTRplkMBShAAQpYgwDrSAFLEYiKikJgYCBOnz6NGTNmQCbZ79SpExwcHLB06VLkzZvXUqrKelCAAhRIVODRoxCMGrUVvXuvxsOHwfrJ60p6gEVuKlIerq6Oia7DhRSggHUIJBpcqV69Oq5fvw6Zkb9Nmzb47LPPMHv2bHz33XeoXLmydbSMtaQABexJgG2lAAXsQEDmVhkwYIC6RHnz5s3o2rUrdu3ahZUrV0KCLDLBrR0wsIkUoIAVCshJaql2REQUbt8ORIkS2TFhQmPMm9cGFSrkko+YKEABKxdINLgiHRe5NbPMvi8Tx1WqVAky/4rMuSK3PrTyNrP6FMgkAW6WAhSgAAXSIxAREYFy5cph8eLFWLt2LYYOHaouD5KRK+kpl+tSgAIUMJeATFB7+fJjnDvnqzaRK5cnPv+8hbob0Dvv8DIghcIHCtiIQKLBlaJFi0JGr8h1zTJ53Ndff41t27bpPwSfo2DBgjbSdDYjUQEupAAFKEABCliQgFwK9PjxY8hZXznZI3cxlH6Kv78/Hjx4EC9JXguqOqtCAQrYuYCfXyi2b7+CN99cryauDQoKh4ODhsKFs6JevcLQNN4JyM6/Imy+jQkkGlzZs2cP1q9fjw0bNjyV9u3bl+kErAAFKEABClCAAvYhIEEUGakSFhaG8+fPqxM9n3/+eaLPT548sQ8UtpICFLBogaioaJw9+xDz5x/Ca6+txYEDt+Du7oQnT8Isut6sHAUsVcBa6pVocOX333/HwoULsWDBApXmzZuHCRMmYNiwYWoYrrU0jvWkAAUoQAEKUMC6BQwGA+QuQPIsc8EFBAQgsSQT3croFutuLWtPAQpYu4AEUDZvvoRx43Zi8uS/4enpgsGDa+Gbb9ogf34va28e65+0AD+hABINrvTu3Rsy14oxvffeexg4cCBq1Kihrm2mGwUoQAEKUIACFMgIgRw5cmDMmDGQ2y8XL14co0ePhlyuLCd+jEneDx8+HF5e/MMlI/YJt0EBCiQuYDBEY+vWS/j44+3YtOkSGjcuop+gboyxYxuhUKGsia+UoUu5MQpQwJwCiQZX5I5Azz//PIxJbnXYo0cPtG7dGkePHjVnfVg2BShAAQpQgAIUSFRA7hYkdwYKDw+P93loaCi+/PJLyNws8T7gGwpQwPoErLjGMoVKdDSQO7enfmK6BqZMaYaOHcupS4KsuFmsOgUokEKBRIMria1rMBjg6+uLhw8fJvYxl1GAAhSgAAUoQAGzCty9exfHjx9HwolrJaiyf/9+SJDFrBVg4RT4T4BPFDAK3LkToCatvXbNT01Q27x5cUye3BQjRtRFpUq54eSU4j+3jEXymQIUsFKBRP9rnz17NuRSIGMaMWKEHn0diFWrVqFp06ZW2lRWmwIUoAAFKEABaxS4desWRo4ciWXLluHff/9VlwbF7aPIJUHe3t5wcXGxxuaZq84slwIUMKNAZKRB/z26rf8ebcf772/B6tVn9ABvJHx83FC9ej7kyuWpgi1mrAKLpgAFLEwg0eCKzMgfEhKi/0CEqhQREYHChQtDOi9dunTJtCaUK18U7wzvxkQDfgds9DuQp1wZvDzxTyYa8Dtgo9+Bj5YkvOMgUvRPJqqVUSnSH5FRK3H7KDLJbalSpfDxxx9D5mdJUYHMRAEKUCAdAsHBEfj+++MYNGgDfv31DBwcNJQqlQPOzon+aZWOLXFVClDAmgQS/QXo16+fmjxOJo0zJgmstG3bFjlz5sy09nln9UTpsoWZaMDvgI1+B9y8vbDr5G0mGljWd4D7w2T749gV3zT1IfLkyaP6JRJAGTdunAqkGPsnH330kTr5U79+fY5cSZMuV6IABVIjcPt2AN55ZyNGjdqGc+d80b59Gcyb1wZNmxaDo2Oif1qlpnjmpQAFrFgg0V+A119/HXfu3EHu3LmRN29eSKfGx8cHhw8fRs+ePa24uaw6BShAAdsUYKsoYMsCzs7Oqj9Sq1YtdOjQAQUKFFDvjX2U7Nmzw8nJyZYJ2DYKUMACBAID+HjebwAAEABJREFUw9Gq1QqsWHFcBVI++aQZZs58EdWq5YOHh7MF1JBVoAAFMlMg0eCKTBgnlwbFrZgMyQ0MDFST2sZdztcUoAAFUijAbBSgAAVSLXDz5k288MIL8Pf3x+bNmyGXABUtWhRFihR5Kt24cSPV5XMFClCAAikV8PR0QePGRVCrVgFs2NAdr79eAzlyeKjLglJaBvNRgAK2KxAvuLJx40Z1K0MJrsitDmfNmqXey+0Np02bpkdmZ0I6NLbLwZZRgAIUoAAFKGBJAjJy9q233oK7uzsqVKiAyZMnY9KkSYmmbNmyWVLVWRcKUMDKBQyGaBw4cAsnTtxDVJQBcqvlzz9/AVu29EaVKnk5x4qV719WnwKmFogXXNm9ezeWL18OuaWhBFq+//579V6e//jjDxQvXhxy5yBTV4LlpVKA2SlAAQpQgAJ2IpAlSxa89NJL+h8xzmpy/R49eqBXr1549dVXIa87duwISXLZsuS1ExY2kwIUMKOABFUePQrBF1/s1X9/fkSfPr9D3ssmXVwcIQn8RwEKUCCBQLzgipwNklscDhs2DOvWrcOhQ4cg7+VZAi9yi2YZjpugjETfciEFKEABClCAAhQwpcC9e/cg/RGZF07uGvT333/jvffeUxPaHjt2TD+zHGXKzbEsClDADgWCgyP0v4Fu480312PixF1KoGHDImqOFfWGDxSgQKICXAjEC64YQfr376+G38o8K8Zl0omR655v3bplXMRnClCAAhSgAAUokGECJ06cgIymlTngJMCyePFiNReLn58fpk+frp9ZfpRhdeGGKEAB2xKQ0Sr37gWqyWpfe20tNm26iPLlc2H27Fb45JPmyJ7d3bYabJ+tYaspYFaBRIMrn376KX755ReEh4fHbjwkJAQyD8vMmTNjl/EFBShAAQpQgAIUyCiB4OBgNTolZ86cOH78ONzc3PDOO+9gypQpuHbtGqSvklF14XYoQAHbEoiIiML69ecxadIu+PmFonv3Sli48CV06lROP+nslIGN5aYoQAFrFUg0uHL+/HmULVs23m0NXV1d1ZwrFy5csNa2st4UoAAFKEABClixgIuLC0JDQ3Hu3DnIJcsSZMmfPz9kuYywjTvi1oqbyapTwPIFbKSGMlolNDQS8izzqBQvng0vvlgCH33UQA+yNEGlSnl4OZCN7Gs2gwIZIZBocEVm5L99+7b+Q2OIrUNkZCRkCK4EWWIX8gUFKEABClCAAhTIIIHChQtD7h4kdzOU4Er58uWRK1cunDlzBhJocXZ2zqCacDPWIMA6UuBZApGRBhw9ehfLlh3D2bMPoWka6tQpiE8/bY5+/aoid27PZ63OzyhAAQo8JZBocKV58+ZYvXq1SjJB3NGjR7Fq1SrIHYMaNWr0VCFcQAEKUIACFKAABcwtUKJECXWXoOeeew6vvPIKmjZtCjnp4+3trZZnzZrV3FUwdfksjwIUyASBoKBwrFx5CqNHb1eT1v7xxwX9pHI03N2dkSOHh/67wsuAMmG3cJMUsHqBRIMrnTp1QsWKFbFixQp8/PHHmDRpEn777TdUr14dDRs2tPpGswEUoAAFKEABCqRUwHLyyRwrdevWxRtvvIGaNWuqEbWXLl1C1apV0blzZ3h68kyz5ewt1oQClilw7pwvJkz4C+PG7cCePdf1IG1R1KiRD5pmmfVlrShAAesRSDS4UqBAAQwbNgxDhw5Fly5d0KpVK5QsWRJ3797Fr7/+aj2tY00pQAEKUMA+BNhKuxCQS5T379+vn20ejZEjR2LMmDGqv2Kc0NZgMNiFAxtJAQqkXiA8PEr/O+Y03n13I77++qAqYNy4RvqJ5IZo3LioHlzR1DI+UIACFEirQKLBFSksb968KFq0KB4/fow///wTp0+fhlzLXKFCBfmYiQIUoAAFUinA7BSgQPoELl68iEWLFiEoKAg9evTAW2+9hY4dO6o+yvz58+Hv75++DXBtClDAZgXkDkBffrkPGzdeQosWxTFvXlu8/noNlCqVg4EVm93rbBgFMlbgqeBKQEAANmzYoP/YvI7BgwerSeK2bdum3n/44Ydo27ZtxtaQW6MABTJSgNuiAAUoYLECV65cUSd9Bg0apEbWtm7dWgVZpL+ye/duSB/GYivPilGAAhkuEB39/01mzeqmB2PLYfr0FvjiixfRrFkxeHu7/j8DX1GAAhRIp4BD3PWXLl2q/+h0xPLly1G5cmXMmDEDMueK5ClXrhwKFSoEDw8PectEgUwU4KYpQAEKUMAeBcLCwtQo2vz586tnMZAJbWWkbWhoKHhZkIgwUYACIuDrG4zPP9+DH388oQdew+Hq6ojXXquON96oAbnlsoODJtmYKEABCphMIF5wZdeuXZDJ4vr06aNm3a9SpQqkA2OyrdlTQWwrBShAAQpQgAImFciZMyf8/Pzw+++/q0uDpHB5/9133yFPnjz6H088Cy0mTBSwZwEZrXL48B0MGrQBU6f+jU8/3YMrVx4rEhmpkiWLi3rNBwpQgAImFdALixdckcnh5I5AMplty5Yt8dVXX+HBgwd6Nv6fAhSgAAUoQAEKZK5AtWrV0K5dO/1s9OeQEbVyZ8OyZctizZo1GD58OCT4krk15NYpQIHMFAgKisCyZcfQo8dqrF59BoUKZcXEiY1RunSOzKwWt00BixFgRcwrEC+4Ih2VCRMm4NixY2oW/o0bN6J48eJqmO327dvVdc4yU795q8TSKUABClCAAhSgQHyBaP10tIyu7d+/P7Zu3Ypp06apueFkItu9e/eiWbNmcHJyir8S31GAAnYhoP884Pp1P7z33mYMGrQe16756QGWSli1qgtefrks3Nz422BFXwRWlQJWKxAvuGJshXReOnXqpO4SdPToUXWbw9mzZ6NmzZoYP368MRufKUABClCAAhSggNkFZC4Vmcx26tSp6N69O2bOnIkCBQqoyfZffvllZMuWzex14AYoQAHLFQgMDMPq1WexdOkxFC6cFZ9/3gJz5rRG6dI5zVRpFksBClDgaYFEgytxs5UoUQITJ07EgQMH8NlnnyF37txxP+ZrClCAAhSgAAUoYFYBuURZ+iArVqxAeHg4Dh8+DBlp+88//5h1uyycAlYtYOOVj4qKxv37QZBnLy9XtGxZEh9+WB/fftsOgwfX4p2AbHz/s3kUsESBZIMrxkrLXYJkNMvbb79tXMRnClCAAhSgAAUoYHYBX19fnDt3DrNmzcLatWshQZZ8+fKpZTKqxewV4AbMJsCCKZAWAX//MOzefQ0ffLAVp07dV0WULZsTH3/cEPXrFwbvBKRI+EABCmSwQIqDKxlcL26OAhSgAAUoQAEKKAEZrSIv5PJkeZZbL0vy9/eH3J5ZlpkxsWgKUMBCBAyGaFy48AgLFx7GK6/8qgdbz2HTpksWUjtWgwIUsHcBBlfs/RvA9lOAAhSggA0I2HYTZDJbCaScPHkShw4dwr///ov79+/j+vXr6r0sk8RAi21/D9g6+xYICAjHtm2XMWbMNowatRVZs7piwIBq6NSpnH3DsPUUoIDFCDC4YjG7ghWhAAUoYOMCbB4F0ijg4uKiRqh888036tIguTzozJkzOHr0KObNmxe7TAIwadwEV6MABSxYQOZWWbLkCN59dxM2bLiI5s2LY9KkJioVL84JrcF/FKCARQgwuGIRu4GVoAAFLEWA9aAABSxPQOZXGTlyJF588UU0a9ZMpQEDBqBfv3544YUX1PvmzZvD3d3d8irPGlGAAukWCA2NxJo15/QgaxQGD66Jzz5rga5dK8LV1SndZbMAClCAAqYSYHDFVJIshwIZJ8AtUYACFLArgezZs6Nv377PTH369EGWLFlS7HL+/HnMnTsXH3zwAaZNm6Ymx5XLj55VwJ07dyCjZ6ZPn44bN248Kys/owAF0inw8GEwJEkx+fN7YeDAmvj002YYNao+Klbk3UvFhYkCFLAsAQZXLGt/2FBt2BQKUIACFKCAZQpcu3ZNBVYOHDgAb29vnDp1CqNHj4bclSipGoeEhOCPP/7AkiVL1LPM+ZJUXi6nAAXSLhARYcC+fTcxduwOLFjwL+7cCYCTkwPatSuDDh3KIVs2jlBLuy7XpAAFzClg38EVc8qybApQgAIUoAAFLFJg165dajLcLl26YMiQIfqZ8FE4e/Ys1q9fn2h9ZUTLP//8A5lQt2LFivDx8Uk0HxdSgALpE/D3D8fKlacxYsRmrFhxAkeO3IGfX6gq1MXFkbdYVhJ8oAAF0ixg5hUdzFw+i6cABShAAQpQgAIWI2AwGHD69GnkzZsXlSpVUoGScuXK4bnnnsPWrVsTrefFixexZcsWlC9fXuVzckp6ngcJxISHhyMoKCg2yXtZLkm2b6oUt7KmKpPlGJCUgan3X1LbscflUVEGXLjgi7Fj/8Inn+zHuXO+6NSprB5kqYvChbMmuU/s0coUbZbvsiQpy/gsr5mS/u8/PTapNU7Ptux5XXGWZEoDKU9S3OPts14zuPIsHX5GAQpQgAIUoIBNCcjlPX5+fiqo4unpGdu2IkWKQC4Xil3w34snT57gzz//RGRkJNq1awcPD4//Pkn8KTAwEFOnTkXNmjVVqlOnjrqjkWxXLjt69OgRTJWi9DpJLeTZVGWynKf3j3G/yXfB+JpOTzul1eTBg4f47bdj6N79V3z//Um4ujpi5MjqGD68KooWdUVIiL/J/ptJax1tbT35Hj9+/BjyWyiv09A+7pMU/paLrziLt7ymtel+O+Jaiq38RssyeS3PpkhSVmruRMjgivRKmChAAQpQgAIUsAoBmevku+++Q8+ePbFy5UqEhoZCLvPZvXs3wsLCkm2D8YyWg4MDNE2LzS+jUSSAErtAfxEVFYV9+/bh4MGD+h9+3ZE7d/KTaErAZvDgwVi7dq1Kq1evRq9eveDm5qYCOnJJkamSo6Mj5J+jk5PJyzZVHW2hnGzZsilfLy8v9WwLbbKkNmTN6oOoKCecOeOLOnXyYuHClnjrrfooW7YgcubMng5zH67rk7RB1qxZ1ZxTPs/Iw8984JNOH/n9kLm9xDu9ZXF9nyT3hzgbf6PltU8691vc9VMzWb6DHJSZKEABClCAAhSggKUL3L59G1OmTMGCBQtw7tw5XL16Vf+jLApyRnDevHnqLGxybZCRJ5ICAgLiBWMePnz4VPBEAjdyV6Eff/wR9evXV3cjkltAS8BE3v/222+IiIiIt0kJ2kgQplSpUpBUsmRJ5MiRA7JcAjimTHp0KHbbpiyXZTkhMQMJZjk7Oyf6WWL5U7RMD4zZa77AwEhl6ebmgjZtymD16lfw00+dUL16Xnh6uqrP7NUmI9ot32dJGbEte9+G0Zm/H4n/tprq+yHOkkxVnrEcKTP2YJvMC4dkPufHFKAABShAAQpQwCIEZK4UCaTI7ZDbtGmjAhZSsQoVKkACLSkZuSKdpOLFi+PevXuQWyvLSBZZT0a/yCU8Up7MkSKjWNzd3dUImV3UVMsAABAASURBVOPHj+PQoUNqBMvEiRPRvHlzLFu2DM2aNVN/AMo6SSVN+//omKTyWPpy1o8CphKQuQuCg8MxY8ZelC49GydO3FdFZ8nighdfLKkHMF3ixgzVZ3wwn4Cm8ffJfLos2R4FGFyxx73ONlOAAhSgAAWsUEDmM9E0DYULF45XexcXFzUKRf5wi/dBEm+aNm0KCaAsWrRIzacyatQotX7v3r3VSBQZnTJr1iwVvMmePbuayFYms5VUoEABNZReAjQy1FvT+MdJEsxcTIF4AqGhkTh69B66d1+FMWN2IDLSgM2bL8XLwzcUoAAFrFmAwRVr3nusOwUoQAEKWJEAq5peAbmeWtM0yN175HIcmRNFAi4y6iRPnjxwcXFJ0SZkpMsHH3ygAiqTJk1SE9nKpUb58+fXz5prcHV1hQzfTqwwuQ5bgjsyqiWxz7mMAhSILxAVFY3794Pw/ffH0a3br9i27SrKlMmJhQtfwvDhdeNn5jsKUIACVizgYMV1Z9UpQAEKUMDUAiyPAhYsIHOYFCpUSF2Sc+rUKchlQjK57ZIlS9C6dWs1oiSl1a9du7b+x91CNWHtqlWrUK9ePTVSRa6x/vbbb/H2228nWlTbtm0xffp0NZol0QxcSAEKxBO4ezcQ06btwYcfbkNQUDi6dq2An3/ujA4dyunBzHhZ+YYCFKCAVQswuGLVu4+Vp4B9CrDVFKCAfQrIiJF+/fohb968aiLbGzduYO/evZD5V7p37w65U499yrDVFLBcgcePQ3D7dgDKlMmBMWMaYsaMF1C6tEzyzEvqLHevsWYUoEBaBBhcSYsa16FA8gLMQQEKUIACZhCQuU5Gjx6N77//HjJiRZ7feecdyNwoZtgci6QABVIpEBYWhTNnHuDkyfuQeZDKl8+Ft99+DnPmtEK/ftXg4+OWyhKZnQIUoIB1CDC4Yh37yUy1ZLEUoAAFKEAB6xG4efMmfvnlF8hlPFu2bMGBAwcgz/JelgcFBVlPY1hTCtiYQHQ04OcXitWrT2P06O2YNWs/rl9/AgcHDXXrFkK1avng6upoY61mcyhAAQr8X8Dygyv/rytfUYACFKAABShgxwK3bt3Cb7/9FptWr14NmR9FJqVdsWIFGFyx4y8Hm56pAjJC5fz5h/jssz0YP34n/vrrGtzdnSCT2WZqxbhxClDA+gSsuMYMrljxzmPVKUABClCAAvYkUKJECQwePDhekolnn3/+eRQsWBAyGa09ebCtFLAEgagoA1avPoORI7dg7tyDcHBwwAcfPI+hQ59D0aI+llBF1oECJhdggRRITIDBlcRUuIwCFKAABShAAYsTyJkzJ+rXrx+bGjRooCazff311yGT24aGhlpcnVkhCti6wJIlRzFmzA5s2XIZjRsXwxdfvIA33qjBSWszf8ezBhSgQAYLMLiSweDcHAUoQAEKUIACphUICwvDnTt3EBkZadqCWRoFKJCsQPHi2RAYGI6xYxti2rTmeOGFEvBJ8aS1yRbPDBSgAAWsRoDBFavZVawoBShAAQpQwL4FTpw4gQ8//DBeksuEhg0bhjJlyvBWzPb99TBf61lyPIFHj0KwZcslBASEqeX16hXCmjXdMHhwLf2/wxxwdOSfFwqGDxSggN0J8NfP7nY5G0wBClCAAhSwTgG57EdGqBjT3bt3VUN69uyJCRMmIFu2bOq9PT6wzRTICIEDB27h9dfXol+/Nfjzz4uIiIiCq6uTuhMQR6tkxB7gNihAAUsWYHDFkvcO60YBClCAAhSwHYF0tUTuRiKT1g4ZMgTTp0/HnDlzMHv2bHz22Wd48803UaxYMTWRZro2wpUpQIFEBYKDI7Bgwb8qqLJu3Xl12U+ePJ76f3Oayq/FPKnXfKAABShgrwIMrtjrnme7KUABClAgEQEuslQBTdOwf/9+zJ07F46OjvDy8lIpS5Ys+plzV2ga/7qz1H3Helm3wOXLjzFs2EYMH74J58/7omfPyli/vjsaNiyi/7fIPyWse++y9hSggCkF+ItoSk2WRQEKUCAjBLgNCtipQNasWSHBFLkcKCoqCjKaJW6yUxY2mwJmE/j33zt47bW1WLToKPLm9cK8eW3w1VctUbRoNgY0zabOgilAAWsVcLDWirPeFKCAZQuwdhSgAAVMJSCBlMDAQHXpj6urKz7//HNs2rQJx48fx+nTp2NTeHi4qTbJcihgtwIGQzQiIw2q/blze6By5Txo1640VqzogP79q8HLy1V9xgcKUIACFIgvwOBKfA++sy8BtpYCFKAABaxA4Pbt21iwYAGOHj2KdevWYc+ePZA7BL3yyivo2LEjOnTooNL9+/etoDWsIgUsVyAgIByHD9/B3r03EBUVjUKFsmLChMb47rt2qF27YOwcK5bbAtaMAhSgQOYJMLiSefYp3DKzUYACFKAABexbwNfXF2vWrEH16tXxyy+/xKaff/4ZkozLcufObd9QbD0F0igQHQ1cufJYD6IcRqdOP2Py5F2QWy5LcVmzuiFbNnfwHwUoQAEKPFvANMGVZ2+Dn1KAAhSgAAUoQIE0C8i8KrKyzLlSpUoVJJVcXFwkGxMFKJAKgaCgCOzceRUffbQN77+/Ba6ujqhRI5+6zXIqimFWClDAngTY1kQFGFxJlIULKUABClCAAhSwJAG55GflypVYvnx5kknmZbGkOrMuFLB0AbkT0KJFhzFo0Hr89ttZNG1aDOPGNcLHHzdC/vxell591o8CzxTghxTIaAEGVzJanNujAAUoQAEKUCDVAg8fPsT69evx+++/J5mCg4NTXS5XoIA9C/z550VMmLALwcEReoClFj77rIW61bKHh7M9s2Rk27ktClDAhgQYXLGhncmmUIACFKAABWxVoEiRIhg1ahTGjx+fZPLx8bHV5rNdFDCZgExUa7zUrnTpHGjZsgQmT26qB1kaqzsDPb0hLqEABShAgZQIOKQkE/NQgAIUoAAFKECBzBTw9PRE+fLlUalSpSQT51zJzD2Uydvm5pMViIiIUncBmj//EC5deqzyN25cBGPHNlKjVby9XdUyPlCAAhSgQNoEGFxJmxvXogAFKEABClCAAqkSYGYKZJaAr28Ili07jg8/3IpPPtmN3buvIzQ0Es7OjpDRK46OWmZVjdulAAUoYDMCDK7YzK5kQyhAAQpQgALpFrDIAkqWLIkZM2ZARq9YZAVZKQpYqIDBEI3Tp+9j3LgdmDDhL5w69QCtWpVEzZr59cAK/wyw0N3GalGAAlYqwF9VK91xrDYFKEAB+xVgy+1NwMvLS/9jsCacnJzsrelsLwXSLBASEoE1a87hjTfWY9myY8iSxUXNrTJuXGOULZsTjo78MyDNuFyRAhSgQCIC/FVNBIWLKEABCqRbgAVQgAIUoAAFMlHgyhU/jB+/A0eP3kWzZsWwcGFb9OlTBfnze+mBSv4JkIm7hpumAAVsVIC/rDa6Y9ksCqREgHkoQAEKUIACFLBNgYIFvTFsWF2MGtUACxa8hDp1CsHDwxkap1exzR3OVlGAApkuwOBKpu8CViAZAX5MAQpQgAIUoAAFKJCMgMyv8uWX+7Bo0RGVU+7+069fVYwe3QC5cnmCk9YqFj5QgAIUMJsAgysmoWUhFKAABShAAQpQgAIUyHgBucXyuXO+aN16BYYP34SJE3fh9u2AjK8It0gBClDAbgQSbyiDK4m7cCkFKEABClCAAhSgAAUsVkBGqjx6FILly4+jRYvl+OuvayhVKgdmzGiBfPmyWGy9WTEKUCCDBLiZDBdgcCXDyblBClCAAhSgAAUoQAEKpF0gOjoaZ88+xPvvb8G7725CeHgUOncuh61bX0WnTuWhaZxYJe26XDMjBbgtCtiSAIMrtrQ32RYKUIACFKAABShAAZsXiIqKxvffH8f69RdQokQ2jB/fCAsWtEOhQt423/ZMaCA3SQEKUCBFAgyupIiJmShAAQpQgAIUoAAFKJB5AqGhkZDLgMLCItWtlNu1K4OBA2tg3rw2eO216nB3d8q8ynHLFKAABSgABlf4JaAABShAAQpQgAIUML8At5Amgeho4OHDYKxZcxZz5hzA0aN3Ea0vfO65AhgzpiGee66gCrakqXCuRAEKUIACJhNgcMVklCyIAhSgAAUoQAFrF2D9KWBJApGRBpw58wCzZu3D2LE7sXjxUZw/7wu5LMjBQVNBFU6vYkl7jHWhAAXsWYDBFXve+2w7BShAAQpYowDrTAEK2IFASEgE1q07h48+2oa5cw/B2dkBb7xRA7VrF4QEVuyAgE2kAAUoYFUCDK5Y1e5iZSlAAQpYiwDrSQEKUIACaRXw8wvFp5/uUaNVduy4ioYNi+CTT5qrOVZKl87B4EpaYbkeBShAATMKMLhiRlwWTQEKWLgAq0cBClCAAhSwQAGZU2XTpkt4/DgEI0fWw5QpTdGqVUlky+ZugbVllShAAQpQQAQYXBEFJgpYsACrRgEKUIACFKCA7Qs8eRIKuSOQtNTLyxVjxzbE/PkvYfDgWihfPpeaX0U+Y6IABShAAcsUyLDgSkREBO7du4cnT55YpgRrlR4BrksBClCAAhSgAAUokEaBgwdvo0+f3/HZZ3tgMESrQErz5sXxwgvFkSMHR6ukkZWrUYACFMhQAbMHVwIDAzF+/HhUqVIFzz33HGrUqIEuXbpg165d+sHDkIGN5aYoQAEKUIACFKAABShgOQIhIZGYN+8Q+vb9HX/8cRHr15+HLJMaurg4wtnZUV4yUYACFKBAqgUyfgWzBlfketEPPvgAq1atwogRI/DTTz/hyy+/hJeXFyZPnqwCLBnfZG6RAhSgAAUoQAEKUIACmStw8eIjDBy4HqNGbcO5cw/Ru3dl/PZbV3h4OGduxbh1ClAg4wS4JZsSMHtwZc2aNfj6668xYMAA1K1bF23btlUjWYoWLYqTJ0/aFCYbkzqBQL9H2LfuJywZPQizBnbC10O74dfpH+PikX2ICAtLtDBDVCQu/LsHM/q1wfwRfXD6n+2J5uNCClAgYwQaV8qPT/s+h21T2uDhD68iZPUAdG1QItGN58/ugfc6VsGhLzviwYpXcX5+V8x8rS7y6cu1RNf4/8JX6hfHmXmvwP/nvmhds9D/P+ArClCAAlYmEBlpwNq1Z9G5889YvvyYftLRBUuWtMecOa1RoIA3tOR+EK2svayu9QuwBRSgQMoEzBpckSpkzZoV2bNnl5exyd3dHTly5ICLiwv4zz4F/H3vY/OiL1VwxSOrD6o1bYNSNevB78EdrP16Kk7u3qIHWELj40RHw+/+XexZ/T0cnXlWJz4O31EgcwQ61SuKbg1LIrePO24+DEqyEiXzeeOTPs9hRIfKuOUbiPkbz+DAhfvorAdNVn/UAnmzeSS6rvyRUblYDnR+vjhyebshMio60XxcSAEKUMBaBMLCInHkyD3cuhWAl18ui3XruqNHj0pwd3eyliZYYj1ZJwpQgAKZLmDW4IqmaWqkyhdffIHz58+IPC53AAAQAElEQVTj5s2buHr1KtavX48HDx6gYMGCuH37tkrh4eGZjsEKZIyAwRCFh7eu4+qpoyhfryk6vjsBDV/pjxf6vo0X+7+DHPkK4fzB3Qj294tXobCQYPy7+TdAP6NToX4L8B8FKJD5Al9vOI3GH65DtbdXYeGmMzDoQdCEtXJ2ckCTyvnRvGoBzP/zNPrO3Ikxyw+i1/QdmPDDvyiWxxvvvlwp4WrqffYsruhQpyicHDXsOHEboRFRajkfKEABCliLgPwsBgaG486dAEhgxdPTBb16VcLPP3fB/PltUbVqXjg46J0ba2kQ60kBClCAAokKmDW4IluUoMqOHTvQqVMnvPHGG+jdu7eab+X06dNYvHgx3nnnHZUuXrwo2ZnsQCDaEI2w4EA4u7jAK3suODr9fxSKt/7e1cMT0dEGxP0XrfdMLh8/iMvHDqHGCx0g+eJ+ztcUoEDmCJy96Yer9wOeOaJEAiRlCvrg7uMQ7Dt3H4/1PzKMtV2x8yIeBYbhlYbF4Zpg4kYXJ0cVlGlQIS9+33cVRy/7GlfjMwUoYC4BlmtSgaioaFy9+hgLF/6L119fh927r6vyS5TIjiZNiiJ3bk/1ng8UoAAFKGD9AmYPrjRo0ABvvfUW+vXrh+bNm6NDhw4YMmQIOnfurOZgkXlYJHl7e1u/JluQIgEHR0dky1MAblm8cfPcST2dgO/t63hw4wou/LsX4aEhKFqxOlw9s8SW9/jeLez9fQVKVq+DUjXqxi7nCwpQwPIFnBwd4ObsiLCIKJXi1jg8MgohYZHIndUDcumQ8TM5i1uukI+6HOj4FV/8+e8NROmBWePnfLZvAbaeAtYgEBISoQdTrmH06O0qXb7sh4sXH+snkKyh9qwjBShAAQqkVsCswRVN0zB8+PAUJblEKLWVZ37rFNA0DdnzFkDNlh0Q+NgXG7/7Etu+n4fNS77CoU2/IVehYihbuzHcPGKCKzLK5e9flsLV3QPPte4MBwfeltA69zxrba8CQaERuOcXgpzebiia2yveCJWKRbIhu5cr9J8F9ZnRSEa7dKxXFFncnfHT35fw4EmCOZiMGS33mTWjAAXsWODaNT8sXnwUAwduwNq159CwYRGMGdNAXQ4kv3d2TMOmU4ACFLBZAbMEVzZs2IDAwEA9Mh+Nn3/+Ocl07ty5Z8JGRUVB5mIxpsiICL3M+JeLPLMAfmixApqjI7L45ECO/IXVKJYs2XLCO0ce+OTKh2hDFAIeP0BUZASiow04tXsbrp0+grrtuqvLiCy2UawYBaxOIGMq7K+fvT108QGCQiPR6fliKtUvn1fd9WdEhyp6YEXT/1sH3F1jAqdyeVDjSvnQtHIBrN57Bf9efJgxFeVWKEABCphA4MGDIEyZ8jdGjtyMoKBwvPZadXz6aXN0714JMt+KCTbBIihAAQpQwAIFzBJc2bRpk34wiblrxOrVq5FUetY8KwaDAVu2bMGkSZNi07LF3+H+jWsWyMgqpUbAoAfN7l4+h0MbV8PF3R2Nuw1Ai1eHoHnvwajWop26POjQn6sQ9OQxbl/S821ajcqNWqJYlVqp2Qzz2ooA22H1AgZDNA6ef4C5f5yGm4sjhrWriPE9auDd9pURpf/Wn7vppybCDdSDL5qmoVgeL/RpVgbHrz7C2v3X9DzRVm/ABlCAAvYjEBlpwPHj91CnTkGMH98Y48Y1gkxaq/+82Q8CW0oBClDADgXMElzp27cv5BbM0dHRePnll/Hmm2+qSWuNk9can6tVq/ZMcmdnZ8htm43J1cUVmoNZqvzMevBD0wpERoTh0tEDCPTzRema9ZGzYFE4u7rB3csbJavVRt5ipXHj3EkVXLn47174+z5AwKMH2PnTt9j+w3zs+mWxvv4+hAT44/Se7ep2zg9vXjVtJVNZGrNTgALPFnjoH4qf/76Esd8fUkGW1f9cweIt5zD156MICouEBGAu3H4CJwcNlYpmR+0yuSFBlpEdq+DTvrVVeqF6Qbi7OqnAiywrnCsLNO3Z2+WnFKAABcwtIMGU/ftv4saNJ+q3LF8+L0yZ0hSffNIMfftWRbZs7uauAsunAAUoQAELEDBLpKJ69epwc3ODBFfWrVuH8uXLx5u8ViawlZQ/f/4kCRz0IErjxo3x3nvvxaauPXsjV4FCSa7DD54pYDEfysiVAN/7au4UZ/17Erdijk7OcHRyQWR4GAxRkXDL4oUCpcsjQA+w3L10DipdOa8CLlGR4Xh8/7Ya6RIaHAj+owAFLFvgSXA49py5hyVbz2PuhtP44a+LCAmPVBPZnrvlh+sPYv47lmXHrvjC2ckBNUrmjE35s3vAUQ++yMS3stzTzcmyG8zaUYACNi/w8GEwFi8+glGjtmHGjH/g6xus2tysWXHUrl1Q7+to6j0fKEABClDA9gXMElwxsmmahrNnz+LOnTvGRck8x//Y0dERMnrFmJycnfSzlGatcvwK8J1ZBBwcHeGdMw+C/P1w8+wJNbeKcUMyAuXhravw8PaBi5sHytVpjGY9B6FZ78GxqXG311Gqej24Z8mKivVboN7LPZCrYDFjEXymAAUsUMBJD4o4O8b//fZyd8bAVuWRx8ddBVsiIg2INBjwz5n7GPndvqfSxn9vqDsLLdpyVn127X6gHsS3wMayShSggM0LyGg7ufRnwoS/IPOrHD16F+7uTnBM8Dtn8xBsIAUoQIF0CdjWyvF7uiZum6Zp6Nu3L+bMmYMjR47g8ePHai6WoKAg9RwREWHiLbI4axBwdnFDiWq14eaZBcd2/IHNS2ar+Vf2/vY9ti6fi3tXL6J8vWbwyp4T3jlyI3eREshTtGRsyl24OLJkywFHZ2dkzZUHOQoUgauHpzU0nXWkgM0J1CyVC0PalMfIDpXRpHIBaPr/2tQqpN4PbVsBtUrnUm0ultcb73eqgimv1tIDKuXwTruK+GZIA/RqUhLf77iAtftjLu2LjgZ8A0IhI1cSpruPQ9T8K1fuBajPg8MiVdl8oEBaBA4fPowRI0agVatW6N+/Pw4dOgSDHtxLWNa9e/ewYMECvPrqq2jbtq3KK6NyZeL+hHn53j4EAgPDsWrVGQwbthHLlh2Dl5crpk5thsGDayFrVjf7QGArKWBPAmwrBVIo4JDCfKnOtnjxYgQHB+OLL77AypUr0blzZzRo0AB16tSJTT/88EOqy+UK1i8g8+bkLVYaL/Z7BwVKVcCNs8exf/1KHN35ByIjwvF8h16o1qytHjDJYv2NZQsoYOMCcnnOoNYVMEIPrjStnB96TB2taxVR7we3Lo9aevBFCELDo9Tw+KZ6AEYmsn2zVXnk8HbD5J+O4PPVx/EoMEyyMVEgQwRkVO306dPViZ4+ffrA09NT/8N4MCSQkrACskzy16tXD2+88QaKFi2KGTNmYOfOnYjgSaKEXDb/3s8vFIsWHcHw4Ztw8OBtvPhiCcyd2wa9e1dBwYJZ4eio2bwBG2iZAqwVBSiQ+QJmC65MmDBBBVek8yKBlmnTpmH8+PEYN25cbJJ5VzKfgDXIDAEnZxcUKlsZLfq9hZ5jvsCrk77Gq+Nno+O7E1C1aRs1MkXTEu+gOLu5o1rzl9Br7EyUqvF8ZlSf26QABf4TWLHjIlqM2YCa7/6GSkN/RcnXf0IV/VneN9OXL9t+QeW8/SgIX645gZcnb0KTUevQbPR69Jy+XY1aufc4GDJiRWV8xsPXG06hxrDV2H789jNy8SMKJC+wY8cOREZGQgIrHTt2VHclDA8Px48//vjUyuXKlcPYsWNVXhnl8u6776Jw4cLYt28f/P39n8rPBbYt4OnpjNy5PZEjhztGj26AL79siXr1CuoBOmcVXLbt1qe7dSyAAhSggE0LOJirddLhkAltO3TogKRSqVKlzLV5lmsFAg6OjnDzyAJPn+zwypZTBVQ8vLLCSe4KlURgRZqlaRpc9ACLZ9bscNbzyjImClAgcwQCQyNwRw+O3PINQsJ051EwAkNiLv+MMkQjQH993y8Et/Xl8pmvfyhCI6IQncKqy/qynoyCSeEqzEaBpwSioqJw8eJF5M2bF0WKFIGLiwt8fHzU6Nrdu3c/ld/Z2Vl9LnculNeSX/o38uzg4PBUfi6wdoGn6x8eHom//roGg/475uTkgJdeKo3Nm3tjxIi6yJ/fC46O/B48rcYlFKAABexPwKxHAzkrJJ2YpJIhkWub7W8XsMUUoAAFKEABCmSUgFyyLPOleHt7qzsbGrcrwZbkJuCXoMrq1atx7do1yGVCWbNmNa4e+yx5pPyHDx/CmGSuOVku/Z6k+kSpWq4HiCR/7Eb1F/KeKQqmNIiMjML16356MOVHdOu2CmvWXNQDLAb9e+OIHDncILE1U26PZUUpX/lvhRam/S4n9JTforgp4ed8b1p/saapaU0T85TfDlNbS3mS9MNsiv5v1uBK7dq1IaNTkkqLFi1KUSWZiQIUoAAFKEAB6xKw1NpqmgZN0yCdsLh1lM6To6Nj3EXxXkdERGDTpk1YtmyZ/od2NzV/nIP8dR0vFxAQEICJEyeiYsWKKlWtWlVN7C9BHV9fX5gyRUVGqq1H6s+mLNfey3r40BdXr97BggV7UbXqN9i58xpy5nRHZGSoSfefvTsn1v5Hjx7Bz8+Pzib+rUho/VAP/sqNRiTJ64Sf871pf6vlOy3WdDWta0JPcZbfkITL0/tershRB9sUPJg1uDJp0iTMmjUrydSkSZMUVJFZKEABClCAAmYRYKF2KODh4QEZcSKdMAl4GAlu3LiBggULGt/Gew4LC4PM0yJ3DWrevDl69OiBLFmyxMtjfOPl5aXmcJFLjyTJZLjDhg2DbDdnzpz6H+mmS45OTmqzTvqzqcu21/K8vbPpf9gDkycfwrBhOyEBt44dy+L337uic+eKJt1/9mr8rHbnyJFDXYb3rDz8LP2/Ibly5UL27NmRLVs2fqdN/Luc2PdTnMU7sc+4LP3fZ6Ohj48P5DfE+N5Uz9JnUAfbFDyYNbjSunVrtG/fPslUsmTJFFSRWShAAQrYswDbTgEKmFJARpuULVtW3RlIAh9yCc+1a9fUBLVy0kdGtEhQ5PbtmImTQ0NDVWBl/vz5qFq1Knr27Am5u5CMFpG8CeumaRpcXV1V8EUCMJLkvaZpasSMbN9UKe62TVWmvZdz5Yof3nhjPX7++TRKl86hB8qaYNmyDihRIrvJ95+9WyfWfk0z/X8niW3H3pdpGp0z8jugaRoycnv2ui1NM/33WtNiykQK/zmkMF+qs2malup1uAIFKGClAqw2BShAASsSaNSoEeTM7U8//QS5RFlG2hYoUADt9RNCEjQZM2YMli9frlp04cIFyJ0Pb926BRmVsmXLFsh6cregkJAQlYcP1i0QFWWAwRAztXbWrG4oVCir/l0oo4IqAwfWhLNz0peLWXfLWXsKUIACFDClgNmCK126dIGbm5sp68qyKJAuAa5MAQpQgAIUEIHixYtj6NChkBG0J06cj0iikAAAEABJREFUQJ48efDZZ58hd+7c6uxi1apVIXkkr5wBLF26NCQdOXIEElyRJOvJqBbJw2SdAtF6POXBgyBs2nQJR47cQXh4lLr7z4QJjfHNN21RrVo+62wYa00BClCAApkiYLbgyjfffAOZiT9TWmW9G2XNKUABClCAAhTIAIEKFSrgww8/xMKFCzFlyhRUqlRJXfYhc2zIcjlJJNWQfHPnzoVMZBs3DRo0SM1ZIHmYrE8gIiIKp07dx+zZBzB8+Cb9e3AY9+4FqYbI5UBeXq7690G95QMFKEABClAgRQJpCK6kqFxmogAFKEABClCAAhSggMUJ+PuHYf36Cxg7dgfmzj0IV1cnlC2bEy4u7BZb3M5ihShAAQsQYBVSKsCjSEqlmI8CFKAABShAAQpQwGoFZF6Vq1f98OWX+zBu3E7s3HkVjRoVxcSJTdCnT1XkyZPFatvGilPA7gUIQAELEGBwxQJ2AqtAAQpQgAIUoAAFKGBegdDQSKxffx5z5hxAYGAY3n67th5YaYzWrUsiWzbOE2hefZYuAkwUoIBtCzC4Ytv7l62jAAUoQAEKUIACFNAFXFwcUalSHrRqVQozZryIIUOeQ4UKuXk3IN0mzv/5kgIUoAAF0ijA4Eoa4bgaBShAAQpQgAIUoEBmCKR8m3IXoGHDNiIsLBJOTg6oU6cgpkxpitatSyFXLo+UF8ScFKAABShAgWQEGFxJBogfU4ACFKAABShAgVQLcIVMFQgLi1KT1XbvvgrffnsES5YcU/VxdXVEwYLekGe1gA8UoAAFKEABEwkwuGIiSBZDAQpQgAIUsDYB1pcCtihw6dJj9O+/Bh9/vAPnz/uiS5dy6NSpHPiPAhSgAAUoYE4BBlfMqcuyKUABClAgvQJcnwIUoECKBKKiDFi16jTat/8RK1eeVJcB/fBDJyxY8BJy5uQlQClCZCYKUIACFEizAIMraabjihSgAAWMAnymAAUoQIHMFli37jzGjt2Jc+ceoXXr0ti9ux+6dq3ACWsze8dw+xSgAAXsRIDBFTvZ0WwmBUACClCAAhSggA0JREcD4eFRkPlVpFnNmhVDu3Zl8NlnzbF0aXuUKpUDmqbJR0wUoAAFKEABswswuGJ2Ym4gNQLMSwEKUIACFKAABZITiIw04No1P/z88yls2HBeBVi8vFzVnYDeeacOsmVzS64Ifk4BClCAAhQwqQCDK6nn5BoUoAAFKEABClCAApkkEBQUjt27r2PUqG0YNGgDVq06g9u3/VVtHBw0cLCKouADBShAAQqYRiDFpTC4kmIqZqQABShAAQpQgAIUyCwBuQzo+vUnWLbsOIYO/RMbNlxA3boF0bZtaeTK5ZlZ1eJ2KUABCliAAKtgCQIMrljCXmAdKEABClCAAhSgAAWeKXDw4C1MmfI3Ro3aisDAMPTrVxXTpjVHt24VkCWLyzPX5YcUoIAFCLAKFLBxAQZXbHwHs3kUoAAFKEABClDAFgR27bqGJUuOolq1fBgzpiHGjm2oXmuaZgvNYxssRIDVoAAFKJBWAQZX0irH9ShAAQpQgAIUoAAFzCYQFWXAgwdBMBii1TZaty6FYcPqYMqUpujXrxpy5PBQy+3wgU2mAAUoQAELFGBwxQJ3CqtEAQpQgAIUoAAFrFsgfbV/9CgEixYdxdixO3DrVsxkteXK5cJHH9VHvXqF4OjI0SrpE+baFKAABShgagEGV0wtyvIoQAEKUIACFLAOAdbS4gSio6Nx9OhdjB+/E1Om7MIvv5zG+fOPIMvl6p+sWd0srs6sEAUoQAEKUEAEGFwRBSYKUIACFKCAhQqwWhSwF4HAwHD89NMpjBy5Rc2t4unpogdYmqJChVw6AUeq6Aj8PwUoQAEKWLAAgysWvHNYNQpQgAJWIsBqUoACFEiXwJUrfpg8eRdGj96GfftuoE2b0pg3rw169aqMPHmyQEatpGsDXJkCFKAABShgZgEGV8wMzOIpQAFLEWA9KEABClDAUgVkXpXdu68jKioa48Y1xrRpzdXcKjJ6hYEVS91rrBcFKEABCsQVYHAlrgZfUyCzBbh9ClCAAhSggJ0IyF2AwsOjVGtr1MinB1UaYfnyDhg6tBYKFcoKJyd2UxUOHyhAAQpQwCoEeNSyit1kWZVkbShAAQpQgAIUoEBaBWRy2gsXfNGr12o9oLJTTVbr7u6M5s1LoEGDIpDXHK2SVl2uRwEKUIACmSVgq8GVzPLkdilAAQpQgAIUoAAFkhAIDY3EypWn0LDhYnUnoP37b+LixccqtwRUJKk3fKAABShAAQqkXMAicjK4YhG7gZWgAAUoQAEKUIACtisQERGFq1f9MGjQBvTosQoREdHo2rUC5s9/CaVKZbfdhrNlFKAABWIF+MLWBRhcsfU9zPZRgAIUoAAFKECBTBbYvv0KWrdegRUrjqNcuVyYOLExvv22HQMrmbxfuHkKPCXABRSgQJoFGFxJMx1XpAAFKEABClCAAhRITkDmWFm//gKePAlTt1iWSWsHD64FNzen5Fbl5xRIVIALKUABCliiAIMrlrhXWCcKUIACFKAABShgxQIPHgTh4sVHCAmJgKZpeP/9ehg1qj6WLWuP6tXzWXHLUlx1ZqQABShAATsTYHDFznY4m0sBClCAAhSgAAViBEz/KHOrnDhxH3PmHMDYsTsgr6OiolGoUFYMHfocvLxcTb9RlkgBClCAAhSwAAEGVyxgJ7AKFKAABShAAQokIcDFViPg5xeKDRsuqKDK7NkHcObMQwQHR0AuC7KaRrCiFKAABShAgTQKMLiSRjiuRgEKUIACFDAK8JkC9iwgI1PkEqCvvz6AceN2Yteua2jcuKj+upG6BMjJid1Ne/5+sO0UoAAF7EWARzt72dNsJwUoYO8CbD8FKEABkwtERwMXL/rqgZSd+OqrA2qkytChtTBxYhO0aVMK3t68DMjk6CyQAhSgAAUsUoDBFYvcLawUBexVgO2mAAUoQAFrEtA0wGCIRmBgOKpWzYtPPmmm5lapUCE3nJ0drakprCsFKEABClAgXQIMrqSLjyvbpQAbTQEKUIACFLBzAZlP5coVP6VQtGg2TJnSFNOnt0DbtqWRK5cnJOiiPuQDBShAAQpQwE4EGFyx0R3NZlGAAhSgAAUoQAFTC0RGGvDNN4fQtesvGD9+B8LCIuHu7gQZqVKxYm64uTmZepMsjwIUoAAFKGAVApkZXLEKIFaSAhSgAAUoQAEKUAC4etUPvXqtxkcfbcO5c77w9HSBBFvERkaqaJomL5koQAEKUIACiQnY/DIGV2x+F7OBFKAABShAAQpQIO0C0dHR+PXX02jZ8nusXn1GFbRo0cuYPv0FeHi4qPd8oAAFKGAbAmwFBdIuwOBK2u24JgUoQAEKUIACFLBpgZCQCIwcuQUDBqxVo1UaNSqKkycHoWfPSnpgxZlzq9j03mfjLFaAFaMABSxSgMEVi9wtrBQFKEABClCAAhTIHIHoaEBGq8jWZQ4VHx9X5M7tqUaqrFvXHfnze8tHTBR4pgA/pAAFKGBvAgyu2NseZ3spQAEKUIACFKBAEgIyh8qtW/44e/Yh/P3DoGka3nqrNrZvfxXvvFPb1iasTUKBiylAAQpQgAKpF2BwJfVmXIMCFKAABShAAQpkkEDGbEZGqwQGhmPPnusYMWIT+vb9Hf/8cwOy3MfHDYUKZYWTE7uNGbM3uBUKUMBSBWRUn8FgQGpSWtZJTfnMG7M/xFlSWjxkPVN853iUNIUiy6AABShAAQrYswDbbtUCUVEG3LjxBMuXH8PQoX9i48ZLyJLFVY1akU6qVTeOlacABShgAoHIyEgEBQXhyZMnqU6yXkBAQKrXS8u27Hmd4OBg+Pv7p8k5MDAQUVFR6f6mMLiSbkIWQAEKUIAC1iDAOlKAAk8LhIZGYu/eG5g8eRfGjNkBGb3St28VzJz5Ipo3Lw5HR3YVn1bjEgpQwJ4EIiIi8OjRI9y/f1/94S6BkpQm+aNd1g8JCUFK12G+gDRZSXBEAixp8bt3757at+kdwcIjpj39MrCtFKCApQuwfhSgAAUyTEAu+bl3LxBjx+7EihUnULlyHj3A0gAff9xIvXZw0DKsLtwQBShAAUsUkD+25Y91+aM9a9asyJs3L/Lly8dkYQb58+dP876Rferl5QU/Pz/ICKX0fA8ZXEmPHtelgF0KsNEUoAAFKGDNAhJUkfpreuxE5lEpUiQr+vSpgsmTm+jPVZEzp4d8zEQBClDA7gXk0siwsDC4ubnB29sbrq6ucHZ2TnFycnKCpNSsw7wp9zVaGY2Nz8blKXl2cXGBBFdk5AuDK+A/CiQiwEUUoAAFKEABCjwl4OcXikWLjuDo0bvqszx5smDs2EYYPboBnn++sP5HgINazgcKUIACFABk5IokR0dHNQ8VTWxTwLh/JZiWnhbyCJoevXSuy9UpQAEKUIACFKBARgkcOXIXH3+8AxMm7MSUKX/DYIhWwZTixbOhQAHvjKoGt0MBClDA6gQ0TWNwxer2WsorrGlayjM/I2dywZVnrMqPKEABClCAAhSgAAUsXSAoKBwrVhzHBx9sweLFR+Dp6YLWrUvqfyhYes1ZPwpQgAIUyGABbi4dAgyupAOPq1KAAhSgAAUoQAFLFrh48REmTPgL48btxN9/X0e7dmWwcOFL6Natoh5cMc2ZOktuP+tGAQrYogDb9CwBufPNxx9/jMGDB+PKlSvxsv7777/o3LkzZILeuB9s3LgRkydPxsWLF2MXX7hwAZ988gm6dOmCNm3a4PXXX8fSpUvVxK+xmUz0QuY6WbduHfr374+XXnoJH330EaQdSRUv8+Bs27YNb731Fl5++WUMGTIEBw8ejDchrcFgwKFDh1Setm3b6se9bvqJhhXx8iRVflqXM7iSVjmuRwEKUIACFKAABSxYwNc3BHPnHsT8+f8iPDwKU6c21TvKzVCvXiG4uztbcM1ZNQrYgACbQIFMEpCAggQmdu/ejbNnz8YLJjx+/FgPtP8Nmbw1bvXu3LmDkydPIjAwUC3es2ePCs4cPnwYzZs3V8GLBg0a4MCBA1i9erXKY8qHTZs26ceruShSpAi6d++Oo0ePYvjw4UluYufOnZg9ezZ8fHzQp08fyJ2cJk6cqIJJMkeOrCh1f/vtt5EnTx4MGDAAHTp0QO7cueUjsyUGV8xGy4IpQAEKUIACFKBA5gn4+LihevV86NGjon62sT3eeKMGChf2AW+xnHn7xNK2zPpQgAK2JRAREYG9e/eiWLFiaNmypQqG+Pn5paqRkn/WrFnqDjoTJkzAq6++ihdeeAGvvPIKxo8fr8pNVYHJZJZRKBs2bEDp0qVVoKRTp05qO3/++acKsiRcXQJAEuTJmTMnXnvtNciolPfff19l++OPPxAaGqpejxs3Ds2aNcM777yj8rRv3x4NGzaE3FFIZTDDA4MrZkBlkRSgAAUoQAEKUCCjBQyGaJw4cU8PpBzD48chcHTU0NHy4PIAABAASURBVLVrBcyc2VLvUBZVc62YaM6+jGwat0UBClCAAikUkJEq9+/fR7ly5dRIjf3798PX1zeFa8dkk8trTp8+jV69eqFUqVJwd3dXAQk3NzfkypUL+fLli8mY4HHBggWoXLky8ufP/1QqWLAgOnbsmGCNmLe3bt3C9evX9ZMB1VGgQAG4urqiZs2aasSJjL6JyfX/R7mEKCQkBB4eHmrEiouLixrBIvWU9oaHh+Phw4fYsWOHChDJZUY1atTAhx9+iJs3b/6/IDO8cjBDmSySAhSgAAUoQAEKWLSAXKvdokUL1TGrUqUKZEiywWBItM5Xr17Fu+++qzqUhQsXVtelS+f1/5kz/1VISAR+/PEEWrVaoXcgt+L770+oSjk7O8LNzUkFWtQCPlCAAhSgQPoE1ncFFhQG5hdMPi0oBMdvi0JbmML8iZW5tBLw6EyK6iyXwkiwQUaBPPfccyoosm/fPsjokBQVoGeSYIccDyXQ4ezsrC+J/39N0+Iv+O+djGxZs2YNdu3a9VT666+/1GU8/2WN9/TkyRNVP7m0x7g9BwcHFVy5fft2vLzyxtvbGyVLloTMH7NlyxZ1KdPPP/+MI0eOqOCJXPJ0+fJlNYJl/vz5GDhwID7//HPIsVzmcnnw4IEUY5bE4IpZWFkoBShAAQpQwMIEWJ1YATkrN23aNHWWbPv27WqyPrkeO+5EfsbMcvZr4cKFOHXqFBYtWoQZM2ZAJt2TjpwMTTbmy6znSIOGa/c0vPXWn+jb93cEB0fgxRdLoGXLEplVJW6XAhSggG0LhDwCgu7q6U6ySQu6Ay1YT/oz0pqC7wOGyGRNZYSKBFck+CCBCplfpXbt2pDJagMCAtT6mhYTGDHOS6IW6g9x30tgQ1+EuMvkfXJJRrb4+PggW7ZsTyUffbmXl1eiRWiapiZYT7g9eW+sS9wVZVm7du0gacyYMeoSKBk1U758eXXCxJhXLv8ZqAdWunXrph8XX4TMvxIUFAQZ3WLMY+pnBldMLcryKEABClAgzQJckQIZISBn0GRos1xHLkOFR48ejaJFi2LZsmVPbV7utCDDo3v06IFWrVqpQIzcmeDvv//G3bt65/qpNaA6pHLWz5ikg5hItnQvCo1wxJbzJdD6i8ZYvvw4ypbNicmTm2Lu3DYoVSpHustnAfEFZD9Kir+U70wlQFtTSaa8HJqnzEqcjEmtkbM8kL+unuolm6Lz10N0vrp6Sj4v9LyJpry1ACcPtelnPciEtMeOHdOPB8shk8/KyJVvv/0WEly5du2aOjZJ4EPa8uiRHiD6rzA5VsndgzRNU5cAyQhNGUEioz8SG/Ei+f9bNd7TypUr1Z1+ZNsJU6NGjTB06NB4+Y1vJPAigRmpk3F7MneMTLJbqFAhY7Z4zzLfygcffIDjx49D7mokJz1y5MihJsSVoIpcmiRtkLYYV/Tw8ICnpyeMgSbjclM+O5iyMJZFAQpQwA4E2EQKUMCKBaTDduPGDTXcWDpn0hRN01CnTh01pFjex01y5k86nTIE2bhczo7JGcLERq7IteDS0ZMAjqRdu3ZBAjQyTFmuA5eOo6nSubve6PF9R9wL8kKLFkUxb14rDBhQGY6OBjXE2lTbYTlhkH0n+1ae6RFmlu+X2EqS/0ZpbB5jo6s4SxJreTYu5/PT7uIjv98SkJAkgQVDo5kwdNkBwyt/JZui9TyRnSXvzmTzJlney2th8C4GtW2DIdFnmYNEAit58+ZVtxuWS10lbd68GU2bNsWqVavU75hMdCsjSGQ+Ej8/P8hIDjlGyXFLTjpI8KVq1aqQy2V//PFHdVyU46CUL5fvXLp0CRJ0Sawucjeen376SQVzJKATN8lEs3JpTmLrSZ2lXnKXI6mLBD/kBIZst169eqq9sn2ZT8bf3z/2vXwu32FN0yAjdqQNEsSROVtkXhg5VsvEtxK0kfWuXr2qLhWS7SVWD1km5cX970D2vywzHv+Te2ZwJTkhfk4BqxRgpSlAAQpQIDEBuYuAJDmDJWe1jHmkQykdMON747N0qiRJfuOyLFmyqA6a/LFtXGZ8lk6Z3OFg6tSpkPTpp5+qa8+lgyadWFOmMvkC0aHqZQxrcwuzZzdH+fJZVUfZlNtgWUGxptK5p8f/PcxhIYFMOpvXWPabBIbFWbzltSxjStpdjgHyh3d6kgRo0rN+cutK4EACDBJQkBErEqwwJpnQVY5LcoyTkRtyGayMMpFLXSWAIvOSyNwmMg9Z9uzZIce4QYMGQY6R06dPh3wu+ZcvXw65i5BcVpNYfeQ4KYELGTWSWJKRJYmtJyNN2rRpo0aDfvfdd1i8eDFku3LXIJmYV9aRCW+l3tJGeS8BHmOdZB3JX6tWLcjdgBwdHdUonREjRqg7J33zzTeqzLVr16JSpUoqcCRlJEwSPJP/LhL+tyB9BuMxPrlnBleSE+Ln5hNgyRSgAAUoQIEMFpBOnCRjZ9m4eek8ybBk43vjs1zbLUnyG5fJa+m8yXLjMuOzdC4HDx4M6cRJWr16NXr27AkpW4Y+SxDHVMmtQmdMHZ4No98ugaJF8zx1jbuptsNysqk7UcjZXlPvQ9pmi/3eiq3ME0Hn/5uY8/thnJfDnNuwhbLleym/3/Kbn54kx530rJ/cunIMqlChAho3bqyON3Hzy8gVmXtFggYSMHnrrbfUcUkuFZLJbuUuO3LJjtxu2biejOaUkSZSngRuZKSLBDhkZIgEa4z5TPUsdRwyZIgalSIT08p2Jk2aBGP5EvCRoJEEaGSZvJeTFjLa5dy5c2pOFbkdc548eWLX6dy5s5qMXu4QdObMGWUj25DvpZSRMMkxXX5/5HNjkv0v2xLflCQGV5JR4scUoAAFKEABCtiOgAwXls6ZDCeWYcLSMjlbdf78eXX3AXkfN0mnSjqecedXkY6adLhkedy88lrTNHW2Tz6TJMEW6cxqWsyEfZpmuufoumOhNZwI1P5QTQaoaaYrW9NYlqY9bSCdb017ermmcZmmpc8grm3c15qWvnI1jetrGg00LXMM5LhgTJpmvjrICI/33ntPjdzQtPjbkXlHZPSGXN6qaZq6PXHv3r3VKBSZk2XChAmQYIYcHzXt/+uWKFFCzZMi6y5duhSfffYZZDSJBOY07f/5NC39ryX41Lx5czVpvIxckflU5DIlTYspW+5cNHPmTDXyRNM0NbeKTFAro1ZkZM3AgQMho2bEWtNi1pEy5Q5Gc+fOhbTh9ddfV3f907SYzzUt8WdNe3q5lJuS5JCSTMxDAQpQgAIUoAAFbEFA/mirVq0a7t27hz179kCGQu/cuRNHjx5F27Zt1VkzmRhPhj1Le2Vos3Tq5K5Ccj23TBgo+WXotQRpJA8TBShAAQpQIAMFuCkLFWBwxUJ3DKtFAQpQgAIUoIB5BJ5//nk1ge2GDRsgt3H86quvINd7y/BnuS5ezoRt2bJFbVwCKxJ0kVsyT5w4Uc2jImfDZFi0XJuuMvGBAhSgAAUSCPAtBexPgMEV+9vnbDEFKEABClDArgVy586NPn36oG/fvmjSpIl6LRPfyVBnuQZbhhfLbZcFyc3NTV2nLcOPW7duDbkN8/Dhw1G9enVIkEXyMFGAAlYqwGpTgAIUMKEAgysmxGRRFKAABShAAQpYh4Bc7tOyZUvIdeft27eHjFDRNA1y2ZAsr1GjBoz/ZN4VmQywe/fu6Nq1q7rTgARdjJ/zmQLmFGDZFKBA5gvI3FySMr8mrIE5BEy1bxlcMcfeYZkUoAAFKEABClDAfgTYUgpQgAI2KSABd03TIHeJMxgMNtlGNgqIjIyEBFhk9Gp6PBhcSY8e16UABShAAQpQwEoEWE0KUIACFKBA6gQkuCJ3fgsNDf0fe2cCb1PV/vFniRLFJRUSbkloQiX1f8slaSBDylSkGRGKXpXXUFE0DyLj1YzMlCZDA5XmUVKm5lEkUfT3XdrXOce5173uOZxzz8/Huvvsvddee63v3nutZz3Ps9YyVpnbsGGDbdy4Mddh06ZNRsjLNYqbe74Bq4BxsA2O52bLs12zZo0f6pvf4b5SruTt+1JsERABERABERABERABERABEUhAAspSPAgwH1daWpqtW7fOVq9ebatWrcp1WLlyZa7j5iVdxQ1/BnDm2bDNKxuuW79+vZUpU8bkuRKPL0hpioAIiIAIiIAIiIAIiIAIxJ6AUhSBJCOA90qpUqWsUqVKVrFiRatQoUKuA/N5cS0TqfM7L9cqbt44lyxZ0sqVK+fnUMsru/T0dGN+Nedcvt5Oea7kC58uFgEREAEREAEREAERKGgEVB4REAERCCXgnPPDRpjMnGFCuQ3FihWzffbZx4jPb7YK+3oeseQA27333tt4PvzOa9pFihQx5/KnWOF9KcQfBREQAREQAREQAREQgaQioMyKgAiIgAiIgAgkEAEpVxLoYSgrIiACIiACIlCwCKg0IiACIiACIiACIpAaBKRcSY3nrFKKgAiIgAhkR0DHRSCOBFjakeS3bNlimzdvVkhyBizXqecYn/dYbOPDNaf3Vcx3L3Pxjh/veLKl/aYdD9pzfmcXkkq5UrzIXnZo2r4KKcLgkBL72N+/fmdlixfRM0+RZ16jfEk76/hDFaIwKIhczqx1iNUos8UaHH2wnnmKPPOTjjwoO3mkwB5HGKNzs2TJEps2bZpNmTIlZmHq1Kk2e/ZsYxvLdJXWjs+IZzdr1iyxjuH7G/me8R5Pnz7dxHnH9y+SVX73YT1jxgybOXOm3uk4vtM8J1jDmXeb3xxTiP07DlvaQzjHki/pLly40FCwEHYmrCSVcqVciaJ2xhEHKqQIg3qVSto7U8ZanYOK6JknxzPP93O6IqOKTb2pkUKKMJhwfX2rt9+nNvzyY23KjWfouafAc7+1/Yk7k0sK5PmqVav6ctFBnzx5ssUqTJgwwTp16mRsY5Wm0tnx+Tz99NM2btw469Wrl02cODFmz0+sw1nDefjw4da3b19xjmE9Ee09mzRpkg0dOtSGDBli/I4WR8fC389d5UGd0a9fPxs2bJjxju9qOrou5+cB5969e9uYMWNiyhnlyvLly+2kk07y7fjO/iSVcmVnhdH5gkUAS9+cOXNsw4YNMSyYkhIBEUgUAnzjc+fOtbVr1yZKlpQPEYg5AVaJaNGihe+cjx8/3jIzM2MWRowYYXvttZexzYxhukorc4dnNHDgQKtcubKNHDlyh3OZYh8TJmPHjrXu3btb7dq1bdSoUTFJU88mMypHOqAtW7a0Zs2a2ejRo6PGydR7HRMuvMt16tSxrl27Gu+4uGbGhGtmxPtJ3VylShXr379/XNKnbmIVItvJPylXdgJoj5zWTUVABERABERABAoMAZaG3G+//fwSkfyOZXDOxSXdWOaxIKSFkqxQoUJiXbRoXBmwlCoKw4LwziR6GQoXLpy1tHCi5zXZ88c7zVK/yV6ORM+/c86oQ2KdT5QqxYsXz9VSzYV2VXLRdSIgAiIgAiIsamDbAAAQAElEQVQgAiIgAiIgAiIgAiIgAgWfgEq4cwJSruyckWLsIQJoeRs1amT77rvvHsqBbisCIhBPAnzj9evXtxIlSsTzNkpbBAosASzPTZs29dbnAlvIBClYyZIlLSMjww/DSpAsFbhsOOesbNmyfm4DvIQKXAETqEDOOTvyyCOtevXqVsBYJxDlbVmB74knnmiHHHJIrjwftl2lv3klgExZr149K1WqVF4vjWl8KVdiilOJxZIAbl19+vSxtLS0WCartERABBKEAC6yPXr0sIMPPlgCR4I8E2UjuQgwVGXQoEHGNrlynly5dc75jlG3bt2Meiu5cp88uaUTWqNGDevQoUMB57znnwkd0QYNGtgZZ5whhWGcHwd1Rrt27ezoo4+WIiuOrOk3dunSxQ499NA9KlNKuRLHh6yk80eARvawww6TRS5/GHW1CCQsAb7xSpUqqWOYsE9IGUt0AnxDrETENtHzmuz5Q4FFfZUyrPfQA2NuovLly+/RztEeKvpuva1zzg444AAfnHO79d6pdjPnnPFO77///qlW9N1aXuecVaxY0c8JtVtvHHEzKVcigGhXBERABERABERABEQg8QkohyIgAiIgAiKQSASkXEmkp6G8iIAIiIAIiIAIFCQCKosIiIAIiIAIiECKEJByJUUedCoUc+nSpdawYUObM2eObd68ORWKrDKKQNITGD16tGVkZNjvv/+e9GVJ3gIo5yIgAiIgAiIgAiIgAvklIOVKfgnqek/gtddeszp16njlxuLFi/0x/ixYsMAqVKhgP/74I7t5CldffbWf8ZnVgooWLerH37Jln7GLgwcPDkuP+VkmTpxoTNDFRF1hJ7UjAiKwWwgwXp5vlMAkbnyL/CbwbS5cuDAsHxdeeKFNnTrVihcvHnZ8hx0dEIEUJPDPP//YG2+8YRdccIGf+JkJEcePH5+tMvKHH36wgQMHWnp6up/Ujwmjly1bZqSTgvjyVOQtW7bYrFmzjBXMmIvi+OOPtxdeeCEqO5j26tXLjjnmGGN1mxNOOMFQFK9ZsyZP90zFyHB+8sknDWas6lG3bl1btGhRVM4BH97fBQsW+AlBeT67IlMGaaXSFkPj/fffb4cffriVKVPGzjvvPPvggw+yZc37e+utt/oVhNLS0uyoo46yF198MZWQ7VJZN23aZEwsTr1brlw5u+yyywyDb7TEeP/HjBlj1C+8/6zY1K9fP/vjjz+iRdexEAIweuqpp3wdzfvcpEkTW7JkSUiM8J/UG9TpNWvW9HMLYYB/7rnnjGcQHjO2e1KuxJZnSqfGZG/vvPOOzZ8/P8dKgo8DAfDbb7+1n3/+2TZu3BiV2+233+4rp5UrV9qrr77ql2t96aWXjH0UOHTK1q5d6xU3NLSkwwdDIMENGzbYd999Z3/++ad9//33/vdvv/0W94+KeyukJgGV2mz58uX+G/3kk0+MzkejRo38PsfHjh1rRxxxhPEd8m3y/SL8EQJ2a9assV9//TUrDt8233JwXlsRSCUCn332mdE5KlmypE2bNs06d+5sQ4cONZSUf//9dxiK9evX24QJE2zmzJl2zz332KhRo+zzzz/3W9rasMja2YEAHfw777zTMjIybO7cudasWTNr3769r78iI1NPlShRwu666y6j03/FFVf454Qyho5WZHztbycAI+S7iy++2L/Hp512mrVp08a+/vrr7ZEifq1evdrGjRtnfAco8CNOazcbAtQHN998s8Eb7nTmaZdpVyMvof7473//a++995498MADXgmDwpCVVyLjaj+cAO8mrO69915fB+OJi5Lql19+CY+4de/ZZ5+12267zbp3727vv/++3XfffTZlyhRff2w9rf87IYAhrlWrVnbppZfuJKbZp59+atQz9Bep01HkYph/9913d3ptfiJIuZIfero2jADrt7OOO1Y2Xlw0hmERtu7QmULoO/fcc+3MM8/0y+1NnjzZonWemFX7wAMPtIMOOshrHJ1zVrp0ab//0UcfGRrLAQMGGB/NjTfeaGgjW7RoYShg6KwhYGJVGj9+vPEh0snr2bOnIaxuzUqq/le5RSCuBIJvli2NIEvj8Q2j9ESgwCPtpptuMuoAvv2RI0da06ZNDcGOONdcc43v0PBNN27c2Jo3b25Yeag74ppxJS4CCUgA4RuDRIcOHezkk082lpmsXbu297DgmwnNMkpJ2j+8XPhuzjrrLGvdurXhZaF2L5TUjr+RV2DHakDIFMcdd5z973//8563dJwir8DrAmszcgWW58svv9xq1KhhH3/8cY7Gpch0Um0fzngq8i63bdvWe0jQ8UfemzRpUlQc69at84oV+HIdbUrUiDoYRgDWKFjphFIn1KpVyxs8kLfpaIZF3rrD+48RBAUuChUMllWqVDHe762n9T8bAnAeMWKEoWBFIYuy8Morr/RGXfpDkZfBmHqGJbBZ2eaUU06xk046yVAgRsbVfjiBYsWKedmRd/TYY48NPxllD4UX/cDevXsbdTrtKJ5FKBqjRI/ZISlXYoZSCTnn7PTTTzde/gULFhiWnUgqaGwRVK6//npjCM9//vMfe+yxx7z1Ynvc3P2iIqLRpcN2yy23GMOCIq9EKH355ZftoYcesuHDh/s8oSXGmyUyrvZFQATiTwDFKI0drp3NtypOihYtGnZTrPEffvihVatWzR5//HFDAEdRKtfkMEzaSQECfAt4XeIVyvBaiuycM4TKFStWWKSHBO0a1n+GDhGXULlyZe+t+dNPP7GrkA2Bv/76y3duMBIxHIJozjmj4/PWW2+xm2PAExdrddmyZY3hkDlGTuGTvLNffvmlUb8zVBQUhQoV8p1LhquwHxro4OPWj+Lw7LPPNpT2oef1O3sC1AcMmUDODmLh9ZOenu4VrsGxYIvHCr8feeQRw8hBwIC5atUqDitkQwBlFZxRkARRGLLC0EL6KcGxYMsUCs45Q5mIV/706dMNxrzfQRxtY0Pg7bfftv/7v//LSoy6HcUhCi6UYlknYvxDypVdBarrohJAG4tHyptvvuldCrFEh0Z84oknDGtay5YtfePK+E8aS+KHxsvNbz4QOmeMWyy7VaCJ7KSRBvfv37+/HzdKxYd7GJ07GnfOK4iACOxeAlh18FRhDDguyszJEpoD55yfL6JTp06GAE5c6hWGHNIBCo2r3yJQkAnwvmMgQLkS2r5h5cdrhfYttPx4bHKcDlRwnA4sx+mkBse03ZEAHVEC3nahyhHqqGiu/aEpoLjKzMw0WCPIY2AKPa/f2wnwPvNe8w6H1v0M94k0yPF+47nFnH4M1aI92J6Sfu2MAMZHvn3e4SBu4cKFjbqEcxbxDwUWXudlt8rTd9xxh/Xt29fonDIMMSKqdkMIMMyZd5WOe3CYOoTA+x4cC7Z4AqHwoj80YMAAGzZsmOHBgtEpiKNtbAhQd0d7/1GIYbzYpbvk4iIpV3IBSVHyRgBXN15mXAx5sUOvxrqDm2FwjAaWRpXKKa9aRMY70wgEaUXb0ngH96NRCeJH5ivatTomAiIQewIoU0OFkMg78M2iOEUw4Rx1BFYg6ggaRI4piEAqEOBb4DuggxQqCGL957hzLgyDc857TXA+OMF1zjmj/QuOabsjAfgQ6PjTUQpioHChMxrsR26Zu4JOEsOBmMSyatWqfvL9yHja30aA9xZPFd7RUJkP5V8kZ+r7559/3ntZYGmGM0p2rPzMJSI5bhvT7P4yfMo55+cdDOLwblMncC44Fmx5NsjIF110kfeOQ1HIUBc8h7guiKdtOAGU386Fc6bOhhlMw2Ob4cH/+uuvG8MK8eRnqgTe5QcffNBCv4nI6/Kyr7jbCKDwph7Ztmfei5P3n+dCPRQcj/VWypVYE1V6fk4U5j7BGwX3fl7kAAudKtycg30EFzS7u2Lp4cNAGArSiralcmPyXM5R2dFB4zfWKbYKIiACu5cA3yydxuzuyjeLoMH3ShzqCNztaSSjCYTEURCBgkgAARDXcr4BvCMoI8I3HU3GjXOeY0FAyGd+o5UrVwaH/Lh/vjmMEVkH9WMHAnTsUeKiLKG+IQKsmZg7O48JZAtWvUHWYfhivXr1jGfAtQrRCSDr8Y6iIEGhQiw4MycQ3ozsB4HjDGs7+OCD/cSf8+bNsy+++MIvYsBwiuA5BfG1DSeAYQJlCYq/4AwdTWTwYJhhcJwtxzCMhrbPtLvI8DwL4sQwFJikMBDzTvMOB4Vijji8gzgeHAu2DHFmYn/qCwxJzN/UoEEDe+WVV6RcCSDFaIuymzo8SA7PTtpS6pTQ9zw4H6utlCuxIql0wgjgwokrP5UIlUxwkjGFTKTFJE+MDacyQZhhuTfnwq1wwTX53TJh5ldffeVXHpo9e7ZfnpIGO7/p6noREIHYE0C5wgonTFD9zTffGC7hdBbp4NABiv0dlaIIJCYB55xfXQshkHaT74DvgTlAmAuEjs+MGTP8JO6UgM4Uw2Sx9mPYYB4AOqR4i6nNg1D2AWMNE/IHjKl7Ao4Yi/C0YLUmFCmkgtyCJwXzyzGpLcOOUQijCFNHFELRA5yRD3mHYUlHnzm1UJrAkaFBzEHB/CsoYhj6zRAVhqYQzjnnHL8cM8O9y5cvH/0mMTua3AlRbzDBKnN7MLwKmZt2FaUU7yvzNuGVgrKWkjJZMNdQ1xCXdphJ53leHCeOwo4EYEMdAWemHeBdxnOf4wz1oXP/zDPPGCskcjXvLXUz7zhDseC8ePFio452Lj79IO5bEAJ1KwZ5WGIsp76lLmY1POpo5g2i/gj6nUw9QX+TdpA6nT4n8+Dw/seTh5Qr8aSbwmljJWPGfSoOXv4ABTOWM9kejWSfPn0MZQdC4qmnnhpEiemWzhjWEZZEY2wjH1fHjh0N7XxMb6TEREAEYkIAgQRrD66zrCr06KOP+jmTmCw7JjdQIiKQRARoL+l0InyzghZL/7JaEMNv8ZLg+0CYpEi0uwiTKF2CNo82mJW5sJASRyF7AhkZGVa3bl1jNRuWpGUuhDZt2hjzIyBHsPLg/PnzfQIs8cnS8nSQkGNuuOEGPwkoChcs1j7S7viThPdo0qSJX7mDlTxYxePhhx82VrRhok86SSxygOIFRQzzB9EeBAGvY957vIzwyErC4u/WLF9yySW+0z5o0CBD5qaTiWxevXp1o1PP+7p06VKfJxQB7dq18x4UvM+DBw/2wwmvvfZaf15/sifAHHF45rO4BquMoTxp1aqV4Y3FPDZM4E+nnhQ4zhwrDAPq1auXDRkyxBiOeNVVV2lIIYByCChQ8Frr0aOHXwyFepjVxu6++25DSbho0SKjTUTxQjK0kyhoWciEOh1jBB5D1Omcj1eQciVeZFMsXVyvunbt6gWToOg0lAiCNJQIfRxHY4uAyMSyNLBUJiyNRcPJ+ewCljeWlON64rBaAuMVqaDYJ3COYzVr1jQaZY7R+HIPPGbOP/98oyHnw+KcggiIQPwIoNikUQsEMxSazElA54/vTa5FPAAAEABJREFUMrgz7rADBgzwk+xxjG+XCd/at29vWClZ0pBx36HfOvEURCAVCOByjlWU9rV58+a+E4pgiQu/c84vzUyHCBZ8Vyw3STuHUgBjRvfu3Q2lAR1S4uyJkCz3RA6hk3/55Zcb8gkdpp49exoeFNRnPANkCcrD6oTIG9RdTLqN8pdAp1XDFyGUfWBFJlai6dixo6/ju3XrZldffbVvA3gGXbp0MSY+j5YCikLef7y0op3XsXACrAyElw91BO803Fu3bu2Hr+ExjnyMApereMfp+POeE5f6hne8Vq1anFbIgUC1atX8BMDUu8g4cG7cuLGfAwuFLXVKenq6TwHudPR5JnT+iY/iK94dfn/zJP+D8a1y5cpGPcB7iqEejhjoS5cubfXr1/dtIr8pKvUE7SEyJO808iR1PMNtOR+vIOVKvMimWLooP5j8iqFAQdGpqFkZiBc/EOzoOKHJRRihgkcYYex4cE12W6wXCIoImsThGiolOmzsE1DgcIyG27ntrnV0ynCN5HoUPuSL+AoiIALxI0BHD6EtUGZiTef7wzpGPRDcmbHHWOaJHxyjc0JcvlkEFIQS57Z/00E8bUUgRgQSOhkERYRHvgeESr6H4HtBmER4DwpAW8t3h0KGVfkYJoS1Pzivbc4EMNIgRyCfoNxlbD5XML8N8gr1F/sotzDY4AUQGhhaIRkDQjkH5DL40hlFTuQd5wo6Q7zTGOzYjww1atQwvgUxjiST/T4sUZTwTqO0CuRo3nXaZ2Tm4GrOwRclC3IzigDn1PYGfLLbOue8hy31LvUCdTL9FuLT54E73lbsO+eMZ4Jsw/sPZ5Ti1DGcV8ieAO0e7ELrXH5Th9APRcmFwS60zaO/CGve/4YNG1pQp2d/l/yfkXIl/wyVggiIgAiIgAjEmYCSFwEREAEREAEREAERSGQCUq4k8tNR3vJFAPfdhQsX5isNXSwCIpAHAvmMikcL42dxtc9nUrpcBERABERABERABERABHYrASlXditu3Wx3EsC9tEqVKrvzlrpXEhBQFhObAC6cu8NtM7EpKHciIAIiIAIiIAIiIALJRkDKlWR7YspvKhBQGUVABERABERABERABERABERABJKIgJQrSfSwEiuryo0IiIAIiIAIiIAIiIAIiIAIiIAIiAAECrZyhRIqiIAIJCyBn3/+2Qhk8K+//rIff/zR1q9fz27cwz///GO///67/fDDD8bvuN9QNxABERABERABEciRwObNm+3XX3/1IceICXTyjz/+8LIEckx22frll1/sp59+yu60jouACMSKwB5OR8qVPfwAdHsRSFQCCAvLli2z999/3z744AP7+OOPbfXq1bZx48aYZfnaa6+1Xr16+fSWL19uAwcOtPnz5/v9nP6gFPnwww8NISyneDmd+/PPP+2xxx6ztm3bGmXNKa7OiYAIiIAIiIAI5J7Ahg0bLJAhkCOCgJIhJ4PG999/72WBm2++Ofc3y2XM3377zT766KMsuebTTz+1b7/9Nl+yBLd+9dVX7aabbrKVK1f6tFatWuWNRVu2bOG0D8OGDbNbbrnF/471H2Sizz//3JcLzshr5GHTpk25vhWGrhUrVsRUxsv1zVMwoopccAlIuVJwn61KJgL5IkDjfMUVV9gFF1xgXbp08QFFyGuvvWaRDXZOglJuM3H44YcbK8WcccYZO73k7bfftlNOOWW3ebnsNEOKIAIiIAIiIAIikEUAxcVVV11l559/vpcfAjli0aJFlpOHR1YCcfgxb948y8jIsE6dOlnnzp2tW7duXimCsSY/tyPNu+++29LT023t2rV2ww03WGZmZpiMgjFp0KBB+blNttcuXrzYLrvsMm8sgvM111xjPXr0MJQ+uZXPJkyY4I1dGNH+vZE2IiACu0BAypVdgKZLRCBVCLBqCwLB9OnTDcEBD4+HH37YFixYYK+//rotWbLEnnnmGXvhhRf80BosH6+88orNnDnTXnzxRfvyyy+zhCga+C+++MKee+45mzVrlkUKMwwH4hhWK/gS/5tvvrGXX37ZZsyYYc8++6wtXbrUD+VBYPj777/9fUiL41yzZs0ae/PNN2327Nk2Z84cn79QTxuGAD3//PM+PeLhvcJ1CiIgAiIgAiIgArElcOCBB/pOPm1yEDCg0M4jRwRtO21/dp6otNMYe2jTiY9swfXICGZm/EZpwjm2eI+EeoxElqhYsWI2depULwfgbYIcc//99xvXIEO88cYbXkbhfp999lmWJwfn8XpB5kEmIh/ci/QZ0ozHCHIM8ggKCuIiC82dO9coA54lHCMd0l24cCGXZoWvv/7aUJIgR3GQLcYsyoXcRD6DMnM+MhxwwAE2YMAALxfhJUNcvH8CrshCyD3IUshNyHDcg3S+++47L68hcyEjTZkyxXv0cA6vGPJKWcgHSrNIAxvxFERABLYRkHJlGwf9FQERiEKgUKFChiBCo3388cdb3bp1DQFgzJgxdt1119nIkSPt6aef9ooMhJLx48fbiBEjDAvI2LFjbfjw4fbJJ594xcuKFSvs3nvvtQcffNCfHzVqlHehDW6LkILnCsoUjqGYIf0HHnjAnnzySR8QUnDrJQ7KFQQcBA+EDu6P8IZQQfxHH33U7rnnHsPLBSsZiqH77rvPhg4dak899ZRPD8GFeymIgAiIgAiIQFwIpHCigQyRlpZmaf+Gvffe23tUTJw40csPDM+99dZbvWEkGqq33nrLUH4gU0yaNMkef/xxbzhBSYE8QLvOOeQOZBPkBhQZ0dLimHPO5wW55sQTT7STTz7ZG25QNKB0uOOOOwxZBkPSnXfe6YdEo6BAIUI+uT/54H544ZAmWxQZKFWIx5AcFEbTpk2zl156yStXyNeQIUP8sCGUHHi3BHOwkH4gv3z11VeGPPPII4/Y6NGjvbwEo9tuu80P0eZ+0YJzzooXL26lS5e2ihUrWqVKlXy5ULIQf926dUaacH/iiSc8U8rBvRgahfGLe6NUQq7jGIyRpZCrKC/XI8OhmAnSJW0FERCB7QQKbf+pXyIgAiKQPQEEDxre/fbbz4oUKeIVIzVq1LDBgwdb7969vcUFi0jHjh0NgQSPF6w5CAxYPmismVcFd1UUHKeeeqphAYl2R6w8KE7effdda9Omjd11111+DDZDgQJLWNGiRb2yBo+aM88804+jxqLUoEEDP7yoX79+3hKF8oXJ8RAGULp0797dK11atmzpyxDt/jomAiIgAqlEQGUVgXgQoEOPZysKEAJtMHJB9erVDVkAA8jAgQO9UoBOe7Q8YExBAdCjRw/vQXv99dcbw4hR3KAMQbHRtWtXf46hzCg4kB9QDERLLziGcgC5ZuXKlV4hgUEHj41jjz3WUILg1cJ5ZAjuTzlQQAwYMMArJvr06WO1atUKksvaIo/UqVPHzjvvPKPMpFOyZMms84ULFzbOcwCPELYoWTBEVa5c2Q8twpBEuZBTYIQ8gwIGJRPxowW8ZsgrRixkLJQkxx13nMGJ+BjKGObN0CTOI0/BFm+aY445xjIyMqx27dp+XhgUS3AgTxjCWrdu7eW6vn37eoMbzxG5inQVREAEwglIuRLOQ3siIAIhBBAocJ/t37+/0ahikWnatKmVKVPGypcv7+djKVu2rLcCzZ8/37uR4g2C9woupAg5uMhiAcHdFYGCUK5cOUNoOOyww0Lutv0nggaT6CK4IKhwr/T0dKOxx+qFkEBsFD0EfpO39957z0/ohrWHxh9XVyxEWLcQjKpVq2bnnnuuMdyJfNSvX59LFURABBKfgHIoAiKQZARQCND+0hYTaNvxJEWGwKsUTxM8QZA13nnnHcMjNbKIyBh4nqJw4JoSJUp4+cM5Z3hgMEQFww6esmyRO/BmRdkQmRb7DI/BAwW5hglmmWAX5QH5wxDUuHFjQzY54YQTvMKBIUnEqVChgqGQQXGDsWavvfayI488kiTDAjIKBqh99tnHkE+QV5xzWXGcc16GQr5haBFKIOQXhi2j5KB8yFMMd0L58dBDD3lvHcrD8WiMSBzWKDzwLkbeQqnSs2fPLOUKSh3uhbfKuHHj7L2t8hKsCJwjz2zxftl///2N3/AkXzwb5Dq8V1asWGEYyjC2cV8FERCBcAJSroTz0J4IiEAIAeec91LBSwTFBF4fWD5oeBF4aHyJToONIIAggUBB4Bq8SBBU9t13Xz+xW6lSpXyDzTU0/KTB78iA8IP3Cu6tCCaR5yP3Ea4QfshPaB4YxsRketwXoQOlSnAtcQ866KBgV1sRiAEBJSECIiACIhAQQFGADICXB+GSSy7xng94Y+BpijKDTj0yAqsL0fYH1wbbRo0aeS8QJoqdPHmy3XjjjX5YEcoEFAPcA5mDgIdIw4YNvREF5UeQRuQWBQj3xFOD4TlNmjTxQ3e4Ji0tLSs6MgjyBQqh+luNMUwWixIGDxG8SfB0yYqchx/IUKeddpofNs0QJhQ4cDj66KN9Kiih2EeOolwElD3c30eI8oc0kc/gg0cx8ZGLUAgho6GoYcgTQ5acc0aaKGrgHiU5fwi+pEvcINSsWdN7FDOsykfSHxEQgTAChcL2tCMCIiACIQRoVJl8DvddGvVmzZoZw3Kcc15J4tw2awyKEhQXCCJXXnmln4GfWfhRxuApghIFAQgFDIIKt0AwWrHVAsLvyEBcBByEGASqyPMoRjiGwMAWQQkFCvdp3rx52P0vvvhi7/LLudD7ISwhZHB9SgUVVgREQAREQAR2AwFkA5QYKD0IGD8YhsOkqSgCGM6DrMAwIbITtOn8DgIeI23btjXiXnrppYYyAM9U2nDOIXuQRhCQO84++2zjvkEaoVvkBeQZ5BpWM0LGQebAYwNlA54aQXy8bkmHa5AxOnTo4IczIVcgCzF8hvwE8dlSZuec93JhP1ogPQxWyFgMmWaINN4yzJNCfBQXhxxyiHGf0HJ16tTJUAARJzI457ziinwyHAgvY+asY2gT5cJLBoVNkB6MUN6gfCGtaOnCl+MMtwqugy+ePshUXKcgAiIQTkDKlXAe2hMBEQghgJCAtQKhg0Y55FTYTwQFhu+gDGEiOAQSxlUvWLDAcCdFkVKvXj1jyBCuvSg5cHXFKhKW0L87CAcM2+FaJl9jLDTCB6sEIVDRqCOE4SIcKF+w+CAo4LZKfCw/TITHNVjHUPIsW7bMTxCHcMcwIQS8f2+pjQiIgAiIgAiIQJwJIC/QoWf4Cp4qDN1lqE202yI7sAIhXhecZzgRigIC+3T6aeNRUCBzYMBB7iBN57YZf4gXGpxzfrgOcg2KA84556xy5cqGUgMZgsloAxkBDxAUKcgL5MM5Z8gg5AEP28DYQzoEvG1Jm6EzlBH5g/JyLjTgOcswIIZFsUoPw4SKFi3qo5xzzjnG/C7Tpk0zzuGBgjzDHHbORS+XvzDkDzKZc85Pzsth8okHL/PgICNRHvLHOQJyF/fB6MQwLcrH8G0MYihpGAbEedjCgVaMTwwAAAZ8SURBVLJznYIIiEA4ASlXwnloTwRyS0DxQgggoCCA4PZLo3vRRRcZITMz07CaoKTBSsUktrilYoXCFZYJ1UKSyfqJEIDVBVdd3ICxkmBpYoJbhK1DDz3ULrzwQuN+eNMw7hpLDXFQ7GCNYiJcJrtln4SZrwV3WWbsJy/MJYPCh3MKIiACIiACIiAC8SeAhwYeKLTbdN5Z6QdlQnZ3prPPxLCtWrUyhhWhnOncubOxZcgQcgBGGOQEPD1YDRCFRnbpZXe8SpUq1rFjR0OJQP4Y9sMQGGQMPExQLDChLEONkT+QLZisNtLwxD5DoTAeEQ95BDko8r4oMzAiYZSiLKzIGMRBNsFDBEUGshRlZ6Ja5l0J4uxsS57hgWIEpQp8OEbZmEMP5UnVqlWzkkEeY58yMaQbYxhz3XE9w5ZgQxowQOGDXJd1sX6IgAhkEZByJQtFQfyhMonArhNAGcG46BYtWuyQCI0+nie4ywYnsdagEOE4LrssHYhARCONsIFF6LrrrjMEHyw1CC7MQs+s/KTBxHBMmEYa7BOfxpwJ77AkMQFb+/bt/ThhBJHbb7/dEKgQzBgKRF4YE81KRQhtBPKC8IYrMnlA0GAyN/LACkSMS2ZpQfLOPRVEQAREQAREQATyT+Coo47KWpkvNDW8YfE4oY2mLcbgwuqC8+fP96sG4dFB559OPoYbZAJkA+KzLDByBcYUOvd4iKDAQJYgLc6zEk5GRkboLbN+MwQIzxbykHXw3x94jSBDsGoRMgdyDAYZlEHcC2MP5ziODIOSIbjPWWedZRiTjjjiCJ8aSh8MOcgoyCooUgYOHGjIJD7C1j+U7fTTTzc8UpC1mOh/62H/H5kEb1sUKpSLsnNvFDs+QsQf5pcj7SA/wel27drZvHnzvEcOqzsG8hST/7J0NJP/Y2wiPgsHMNEv9yLfGMwoNzIc9w7KzW/kKnhxnYIIiEA4gT2vXAnPj/ZEQAQShADCB2OZsXREZom5VXCLdW67e6pzzmhsaaARRrB48Bvhx7lt8RhzXblyZT8TP+69pI8gRfooTBAugvs5t811lzG/pMd1aWlp5ty2tMgD9yAguARpkB7HuIZrSQ8BgfMILIxp5hz3Ig3GNTu3LU3iKIiACIiACIiACOSPQCBDMJ9JZEq0yxUrVvSyAHJCIBvQVuO5inxA4Dri4q1Ku03bjtyAYoJzBAwrtOPBedp22nrORQbkEWQJ56K3+eQZ2Ya0iIdsEdwLIw0yBefIB/GQW7gH5yhHsB/IQiwZTd5Jg6FF5I34QSDvpEeZKHtwnC1pEJ/zBO4NC85FBtIhP5Qv9Bz7XAtT8kAc9mEPX/aD58P9OUbZ8OLhWtLCMEU8jnMt+eAa56Iz5BoFEdgpgQIcQcqVAvxwVTQREAEREAEREAEREAEREAEREIG8EVBsEdgVAlKu7Ao1XSMCIiACIiACIiACIiACIiACe46A7iwCIpBgBKRcSbAHouyIgAiIgAiIgAiIgAiIQMEgoFKIgAiIQOoQkHIldZ61SioCIiACIiACIiACIhBJQPsiIAIiIAIiEAMCUq7EAKKSEAEREAEREAEREIF4ElDaIiACIiACIiACiU1AypXEfj7KnQiIgAiIgAgkCwHlUwREQAREQAREQARSloCUKyn76FVwERABEUhFAiqzCIiACIiACIiACIiACMSegJQrsWeqFEVABEQgfwR0tQiIgAiIgAiIgAiIgAiIQFIRkHIlqR6XMisCiUNAOREBERABERABERABERABERABEdhGQMqVbRz0t2ASUKlEQAREQAREQAREQAREQAREQAREIO4EpFyJO+Kd3UDnRUAEREAEREAEREAEREAEREAEREAEkplA7pQryVxC5V0EREAEREAEREAEREAEREAEREAERCB3BBRrlwhIubJL2HSRCIiACIiACIiACIiACIiACIjAniKg+4pAohGQciXRnojyIwIiIAIiIAIiIAIiIAIiUBAIqAwiIAIpREDKlRR62CqqCIiACIiACIiACIiACIQT0J4IiIAIiEAsCEi5EguKSkMEREAEREAEREAERCB+BJSyCIiACIiACCQ4ASlXEvwBKXsiIAIiIAIiIALJQUC5FAEREAEREAERSF0CUq6k7rNXyUVABERABFKPgEosAiIgAiIgAiIgAiIQBwJSrsQBqpIUAREQARHIDwFdKwIiIAIiIAIiIAIiIALJReD/AQAA//+sNRoCAAAABklEQVQDAPrgyKQkw3e6AAAAAElFTkSuQmCC"/>
          <p:cNvSpPr>
            <a:spLocks noChangeAspect="1" noChangeArrowheads="1"/>
          </p:cNvSpPr>
          <p:nvPr/>
        </p:nvSpPr>
        <p:spPr bwMode="auto">
          <a:xfrm>
            <a:off x="434975" y="-579438"/>
            <a:ext cx="5943600" cy="232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373" y="3825125"/>
            <a:ext cx="4007415" cy="283124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84" y="3445612"/>
            <a:ext cx="3823306" cy="266372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Limitations &amp; Stress Test Outcomes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8620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6240" y="1005846"/>
            <a:ext cx="3648075" cy="838200"/>
          </a:xfrm>
          <a:custGeom>
            <a:avLst/>
            <a:gdLst/>
            <a:ahLst/>
            <a:cxnLst/>
            <a:rect l="l" t="t" r="r" b="b"/>
            <a:pathLst>
              <a:path w="3648075" h="838200">
                <a:moveTo>
                  <a:pt x="0" y="0"/>
                </a:moveTo>
                <a:lnTo>
                  <a:pt x="3648075" y="0"/>
                </a:lnTo>
                <a:lnTo>
                  <a:pt x="3648075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05778" y="1158246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45 Ohm Breaking Point (Dependability)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964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26314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Impedance Faults (HIF) ranging from 50 to 100 Ohms.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727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13944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drops to </a:t>
            </a:r>
            <a:r>
              <a:rPr lang="en-US" sz="1200" b="1" dirty="0">
                <a:solidFill>
                  <a:srgbClr val="FFFFFF"/>
                </a:solidFill>
                <a:highlight>
                  <a:srgbClr val="8B4513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69.8% 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E_detail wavelet energy signature becomes too small.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01574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Relay defaults conservatively to adaptive Springer logic.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2080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9700" y="1005846"/>
            <a:ext cx="3648075" cy="571500"/>
          </a:xfrm>
          <a:custGeom>
            <a:avLst/>
            <a:gdLst/>
            <a:ahLst/>
            <a:cxnLst/>
            <a:rect l="l" t="t" r="r" b="b"/>
            <a:pathLst>
              <a:path w="3648075" h="571500">
                <a:moveTo>
                  <a:pt x="0" y="0"/>
                </a:moveTo>
                <a:lnTo>
                  <a:pt x="3648075" y="0"/>
                </a:lnTo>
                <a:lnTo>
                  <a:pt x="36480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379238" y="1158246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Extreme Noise Immunity (Security)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22100" y="17297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22100" y="199644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dB AWGN injection (simulating severe substation EMI).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22100" y="26060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22100" y="287274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remains </a:t>
            </a:r>
            <a:r>
              <a:rPr lang="en-US" sz="1200" b="1" dirty="0">
                <a:solidFill>
                  <a:srgbClr val="FFFFFF"/>
                </a:solidFill>
                <a:highlight>
                  <a:srgbClr val="1E3A5F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AI correctly ignores high-frequency jitter.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22100" y="34823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Proof: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22100" y="374904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Proves the robustness of the DWT refinery against false trips.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35541" y="998220"/>
            <a:ext cx="3663315" cy="5320665"/>
          </a:xfrm>
          <a:custGeom>
            <a:avLst/>
            <a:gdLst/>
            <a:ahLst/>
            <a:cxnLst/>
            <a:rect l="l" t="t" r="r" b="b"/>
            <a:pathLst>
              <a:path w="3663315" h="5320665">
                <a:moveTo>
                  <a:pt x="0" y="0"/>
                </a:moveTo>
                <a:lnTo>
                  <a:pt x="3663315" y="0"/>
                </a:lnTo>
                <a:lnTo>
                  <a:pt x="3663315" y="5320665"/>
                </a:lnTo>
                <a:lnTo>
                  <a:pt x="0" y="5320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3161" y="1005846"/>
            <a:ext cx="3648075" cy="571500"/>
          </a:xfrm>
          <a:custGeom>
            <a:avLst/>
            <a:gdLst/>
            <a:ahLst/>
            <a:cxnLst/>
            <a:rect l="l" t="t" r="r" b="b"/>
            <a:pathLst>
              <a:path w="3648075" h="571500">
                <a:moveTo>
                  <a:pt x="0" y="0"/>
                </a:moveTo>
                <a:lnTo>
                  <a:pt x="3648075" y="0"/>
                </a:lnTo>
                <a:lnTo>
                  <a:pt x="36480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252698" y="1158246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CT Saturation (Security)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5561" y="17297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5561" y="199644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Remanent Flux (0.8 p.u.) during external through-faults.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5561" y="26060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95561" y="2872746"/>
            <a:ext cx="3419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remains </a:t>
            </a:r>
            <a:r>
              <a:rPr lang="en-US" sz="1200" b="1" dirty="0">
                <a:solidFill>
                  <a:srgbClr val="FFFFFF"/>
                </a:solidFill>
                <a:highlight>
                  <a:srgbClr val="1E3A5F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AI identifies morphological "flat spots."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95561" y="34823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95561" y="3749046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issuing the </a:t>
            </a:r>
            <a:r>
              <a:rPr lang="en-US" sz="1200" b="1" dirty="0">
                <a:solidFill>
                  <a:srgbClr val="FFFFFF"/>
                </a:solidFill>
                <a:highlight>
                  <a:srgbClr val="8B4513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</a:t>
            </a: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veto.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8C8C8">
                  <a:alpha val="30000"/>
                </a:srgbClr>
              </a:gs>
              <a:gs pos="20000">
                <a:srgbClr val="C8C8C8">
                  <a:alpha val="3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266700" y="72164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 smtClean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8364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7700" y="1483640"/>
            <a:ext cx="1127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Mathematical Rigor Meets Cognitive Awareness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7700" y="1864519"/>
            <a:ext cx="11258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Transitions transformer protection from fixed-threshold harmonic math to adaptive, time-domain morphological analysis.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2402681"/>
            <a:ext cx="38100" cy="1000125"/>
          </a:xfrm>
          <a:custGeom>
            <a:avLst/>
            <a:gdLst/>
            <a:ahLst/>
            <a:cxnLst/>
            <a:rect l="l" t="t" r="r" b="b"/>
            <a:pathLst>
              <a:path w="38100" h="1000125">
                <a:moveTo>
                  <a:pt x="0" y="0"/>
                </a:moveTo>
                <a:lnTo>
                  <a:pt x="38100" y="0"/>
                </a:lnTo>
                <a:lnTo>
                  <a:pt x="3810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" y="2402681"/>
            <a:ext cx="1127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'AND-Gate' Paradigm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783560"/>
            <a:ext cx="11258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Proves that AI does not need to replace deterministic physics. As a supervisory veto, it achieves 100% precision without sacrificing the safety of Kirchhoff's laws.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3631285"/>
            <a:ext cx="38100" cy="1000125"/>
          </a:xfrm>
          <a:custGeom>
            <a:avLst/>
            <a:gdLst/>
            <a:ahLst/>
            <a:cxnLst/>
            <a:rect l="l" t="t" r="r" b="b"/>
            <a:pathLst>
              <a:path w="38100" h="1000125">
                <a:moveTo>
                  <a:pt x="0" y="0"/>
                </a:moveTo>
                <a:lnTo>
                  <a:pt x="38100" y="0"/>
                </a:lnTo>
                <a:lnTo>
                  <a:pt x="3810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" y="3631285"/>
            <a:ext cx="1127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Real-Time Viability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4012174"/>
            <a:ext cx="112585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2ms stateless ONNX inference speed confirms that deep learning can operate well within the 40-60ms mechanical limits of modern SF6 circuit breakers.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4936099"/>
            <a:ext cx="11430000" cy="1200150"/>
          </a:xfrm>
          <a:custGeom>
            <a:avLst/>
            <a:gdLst/>
            <a:ahLst/>
            <a:cxnLst/>
            <a:rect l="l" t="t" r="r" b="b"/>
            <a:pathLst>
              <a:path w="11430000" h="1200150">
                <a:moveTo>
                  <a:pt x="0" y="0"/>
                </a:moveTo>
                <a:lnTo>
                  <a:pt x="11430000" y="0"/>
                </a:lnTo>
                <a:lnTo>
                  <a:pt x="114300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52450" y="5164699"/>
            <a:ext cx="11087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integration of Hybrid AI into the relay chassis marks a definitive step toward a resilient, self-aware, and autonomous Smart Grid.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1715</Words>
  <Application>Microsoft Office PowerPoint</Application>
  <PresentationFormat>Widescreen</PresentationFormat>
  <Paragraphs>239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微软雅黑</vt:lpstr>
      <vt:lpstr>Arial</vt:lpstr>
      <vt:lpstr>Noto Sans SC</vt:lpstr>
      <vt:lpstr>Quattrocento Sans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Adaptive Transformer Differential Protection</dc:title>
  <dc:subject>Hybrid Adaptive Transformer Differential Protection</dc:subject>
  <dc:creator>Kimi;Abeer</dc:creator>
  <cp:lastModifiedBy>Abeer</cp:lastModifiedBy>
  <cp:revision>5</cp:revision>
  <dcterms:created xsi:type="dcterms:W3CDTF">2026-03-30T17:26:18Z</dcterms:created>
  <dcterms:modified xsi:type="dcterms:W3CDTF">2026-03-30T18:02:58Z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{"Label":"Hybrid Adaptive Transformer Differential Protection","ContentProducer":"001191110108MACG2KBH8F10000","ProduceID":"19d3fc64-cba2-8c2a-8000-00008ab1b4de","ReservedCode1":"","ContentPropagator":"001191110108MACG2KBH8F20000","PropagateID":"19d3fc64-</vt:lpwstr>
  </property>
</Properties>
</file>