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0" roundtripDataSignature="AMtx7mgpVcVxr+ZRv4oB1OPrs28YXTtQj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CB3DED2-E355-457A-8DC3-35DA42202A1A}">
  <a:tblStyle styleId="{4CB3DED2-E355-457A-8DC3-35DA42202A1A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fill>
          <a:solidFill>
            <a:srgbClr val="CDD4EA"/>
          </a:solidFill>
        </a:fill>
      </a:tcStyle>
    </a:band1H>
    <a:band2H>
      <a:tcTxStyle/>
    </a:band2H>
    <a:band1V>
      <a:tcTxStyle/>
      <a:tcStyle>
        <a:fill>
          <a:solidFill>
            <a:srgbClr val="CDD4EA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e5bef04639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g3e5bef04639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e5bef04639_0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3e5bef04639_0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imes New Roman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4"/>
          <p:cNvSpPr txBox="1"/>
          <p:nvPr>
            <p:ph idx="10" type="dt"/>
          </p:nvPr>
        </p:nvSpPr>
        <p:spPr>
          <a:xfrm>
            <a:off x="1476375" y="6477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4"/>
          <p:cNvSpPr txBox="1"/>
          <p:nvPr>
            <p:ph idx="11" type="ftr"/>
          </p:nvPr>
        </p:nvSpPr>
        <p:spPr>
          <a:xfrm>
            <a:off x="4038600" y="648970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4"/>
          <p:cNvSpPr txBox="1"/>
          <p:nvPr>
            <p:ph idx="12" type="sldNum"/>
          </p:nvPr>
        </p:nvSpPr>
        <p:spPr>
          <a:xfrm>
            <a:off x="9448800" y="647699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showMasterSp="0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5"/>
          <p:cNvSpPr txBox="1"/>
          <p:nvPr>
            <p:ph idx="10" type="dt"/>
          </p:nvPr>
        </p:nvSpPr>
        <p:spPr>
          <a:xfrm>
            <a:off x="1476375" y="6477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5"/>
          <p:cNvSpPr txBox="1"/>
          <p:nvPr>
            <p:ph idx="11" type="ftr"/>
          </p:nvPr>
        </p:nvSpPr>
        <p:spPr>
          <a:xfrm>
            <a:off x="4038600" y="648970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5"/>
          <p:cNvSpPr txBox="1"/>
          <p:nvPr>
            <p:ph idx="12" type="sldNum"/>
          </p:nvPr>
        </p:nvSpPr>
        <p:spPr>
          <a:xfrm>
            <a:off x="9448800" y="647699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showMasterSp="0" type="twoObj">
  <p:cSld name="TWO_OBJECT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2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26"/>
          <p:cNvSpPr txBox="1"/>
          <p:nvPr>
            <p:ph idx="10" type="dt"/>
          </p:nvPr>
        </p:nvSpPr>
        <p:spPr>
          <a:xfrm>
            <a:off x="1476375" y="6477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6"/>
          <p:cNvSpPr txBox="1"/>
          <p:nvPr>
            <p:ph idx="11" type="ftr"/>
          </p:nvPr>
        </p:nvSpPr>
        <p:spPr>
          <a:xfrm>
            <a:off x="4038600" y="648970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6"/>
          <p:cNvSpPr txBox="1"/>
          <p:nvPr>
            <p:ph idx="12" type="sldNum"/>
          </p:nvPr>
        </p:nvSpPr>
        <p:spPr>
          <a:xfrm>
            <a:off x="9448800" y="647699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imes New Roman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7" name="Google Shape;37;p27"/>
          <p:cNvSpPr txBox="1"/>
          <p:nvPr>
            <p:ph idx="10" type="dt"/>
          </p:nvPr>
        </p:nvSpPr>
        <p:spPr>
          <a:xfrm>
            <a:off x="1476375" y="6477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7"/>
          <p:cNvSpPr txBox="1"/>
          <p:nvPr>
            <p:ph idx="11" type="ftr"/>
          </p:nvPr>
        </p:nvSpPr>
        <p:spPr>
          <a:xfrm>
            <a:off x="4038600" y="648970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7"/>
          <p:cNvSpPr txBox="1"/>
          <p:nvPr>
            <p:ph idx="12" type="sldNum"/>
          </p:nvPr>
        </p:nvSpPr>
        <p:spPr>
          <a:xfrm>
            <a:off x="9448800" y="647699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showMasterSp="0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D60"/>
              </a:buClr>
              <a:buSzPts val="4400"/>
              <a:buFont typeface="Times New Roman"/>
              <a:buNone/>
              <a:defRPr>
                <a:solidFill>
                  <a:srgbClr val="0F1D6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8"/>
          <p:cNvSpPr txBox="1"/>
          <p:nvPr>
            <p:ph idx="10" type="dt"/>
          </p:nvPr>
        </p:nvSpPr>
        <p:spPr>
          <a:xfrm>
            <a:off x="1476375" y="6477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8"/>
          <p:cNvSpPr txBox="1"/>
          <p:nvPr>
            <p:ph idx="11" type="ftr"/>
          </p:nvPr>
        </p:nvSpPr>
        <p:spPr>
          <a:xfrm>
            <a:off x="4038600" y="648970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8"/>
          <p:cNvSpPr txBox="1"/>
          <p:nvPr>
            <p:ph idx="12" type="sldNum"/>
          </p:nvPr>
        </p:nvSpPr>
        <p:spPr>
          <a:xfrm>
            <a:off x="9448800" y="647699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9"/>
          <p:cNvSpPr txBox="1"/>
          <p:nvPr>
            <p:ph idx="10" type="dt"/>
          </p:nvPr>
        </p:nvSpPr>
        <p:spPr>
          <a:xfrm>
            <a:off x="1476375" y="6477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9"/>
          <p:cNvSpPr txBox="1"/>
          <p:nvPr>
            <p:ph idx="11" type="ftr"/>
          </p:nvPr>
        </p:nvSpPr>
        <p:spPr>
          <a:xfrm>
            <a:off x="4038600" y="648970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9"/>
          <p:cNvSpPr txBox="1"/>
          <p:nvPr>
            <p:ph idx="12" type="sldNum"/>
          </p:nvPr>
        </p:nvSpPr>
        <p:spPr>
          <a:xfrm>
            <a:off x="9448800" y="647699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0"/>
          <p:cNvSpPr txBox="1"/>
          <p:nvPr>
            <p:ph idx="10" type="dt"/>
          </p:nvPr>
        </p:nvSpPr>
        <p:spPr>
          <a:xfrm>
            <a:off x="1476375" y="6477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0"/>
          <p:cNvSpPr txBox="1"/>
          <p:nvPr>
            <p:ph idx="11" type="ftr"/>
          </p:nvPr>
        </p:nvSpPr>
        <p:spPr>
          <a:xfrm>
            <a:off x="4038600" y="648970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0"/>
          <p:cNvSpPr txBox="1"/>
          <p:nvPr>
            <p:ph idx="12" type="sldNum"/>
          </p:nvPr>
        </p:nvSpPr>
        <p:spPr>
          <a:xfrm>
            <a:off x="9448800" y="647699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3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31"/>
          <p:cNvSpPr txBox="1"/>
          <p:nvPr>
            <p:ph idx="10" type="dt"/>
          </p:nvPr>
        </p:nvSpPr>
        <p:spPr>
          <a:xfrm>
            <a:off x="1476375" y="6477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1"/>
          <p:cNvSpPr txBox="1"/>
          <p:nvPr>
            <p:ph idx="11" type="ftr"/>
          </p:nvPr>
        </p:nvSpPr>
        <p:spPr>
          <a:xfrm>
            <a:off x="4038600" y="648970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1"/>
          <p:cNvSpPr txBox="1"/>
          <p:nvPr>
            <p:ph idx="12" type="sldNum"/>
          </p:nvPr>
        </p:nvSpPr>
        <p:spPr>
          <a:xfrm>
            <a:off x="9448800" y="647699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32"/>
          <p:cNvSpPr txBox="1"/>
          <p:nvPr>
            <p:ph idx="10" type="dt"/>
          </p:nvPr>
        </p:nvSpPr>
        <p:spPr>
          <a:xfrm>
            <a:off x="1476375" y="6477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2"/>
          <p:cNvSpPr txBox="1"/>
          <p:nvPr>
            <p:ph idx="11" type="ftr"/>
          </p:nvPr>
        </p:nvSpPr>
        <p:spPr>
          <a:xfrm>
            <a:off x="4038600" y="648970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2"/>
          <p:cNvSpPr txBox="1"/>
          <p:nvPr>
            <p:ph idx="12" type="sldNum"/>
          </p:nvPr>
        </p:nvSpPr>
        <p:spPr>
          <a:xfrm>
            <a:off x="9448800" y="647699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showMasterSp="0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3"/>
          <p:cNvSpPr txBox="1"/>
          <p:nvPr>
            <p:ph idx="10" type="dt"/>
          </p:nvPr>
        </p:nvSpPr>
        <p:spPr>
          <a:xfrm>
            <a:off x="1476375" y="6477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3"/>
          <p:cNvSpPr txBox="1"/>
          <p:nvPr>
            <p:ph idx="11" type="ftr"/>
          </p:nvPr>
        </p:nvSpPr>
        <p:spPr>
          <a:xfrm>
            <a:off x="4038600" y="648970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3"/>
          <p:cNvSpPr txBox="1"/>
          <p:nvPr>
            <p:ph idx="12" type="sldNum"/>
          </p:nvPr>
        </p:nvSpPr>
        <p:spPr>
          <a:xfrm>
            <a:off x="9448800" y="647699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4"/>
          <p:cNvSpPr txBox="1"/>
          <p:nvPr>
            <p:ph idx="10" type="dt"/>
          </p:nvPr>
        </p:nvSpPr>
        <p:spPr>
          <a:xfrm>
            <a:off x="1476375" y="6477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4"/>
          <p:cNvSpPr txBox="1"/>
          <p:nvPr>
            <p:ph idx="11" type="ftr"/>
          </p:nvPr>
        </p:nvSpPr>
        <p:spPr>
          <a:xfrm>
            <a:off x="4038600" y="648970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4"/>
          <p:cNvSpPr txBox="1"/>
          <p:nvPr>
            <p:ph idx="12" type="sldNum"/>
          </p:nvPr>
        </p:nvSpPr>
        <p:spPr>
          <a:xfrm>
            <a:off x="9448800" y="647699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3"/>
          <p:cNvSpPr txBox="1"/>
          <p:nvPr>
            <p:ph idx="10" type="dt"/>
          </p:nvPr>
        </p:nvSpPr>
        <p:spPr>
          <a:xfrm>
            <a:off x="1476375" y="6477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3"/>
          <p:cNvSpPr txBox="1"/>
          <p:nvPr>
            <p:ph idx="11" type="ftr"/>
          </p:nvPr>
        </p:nvSpPr>
        <p:spPr>
          <a:xfrm>
            <a:off x="4038600" y="648970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3"/>
          <p:cNvSpPr txBox="1"/>
          <p:nvPr>
            <p:ph idx="12" type="sldNum"/>
          </p:nvPr>
        </p:nvSpPr>
        <p:spPr>
          <a:xfrm>
            <a:off x="9448800" y="647699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/>
        </p:nvSpPr>
        <p:spPr>
          <a:xfrm>
            <a:off x="609600" y="5575438"/>
            <a:ext cx="10972799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Electrical, Electronic and Communication Engineering (EECE)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Military Institute of Science and Technology (MIST)</a:t>
            </a:r>
            <a:endParaRPr/>
          </a:p>
        </p:txBody>
      </p:sp>
      <p:grpSp>
        <p:nvGrpSpPr>
          <p:cNvPr id="89" name="Google Shape;89;p1"/>
          <p:cNvGrpSpPr/>
          <p:nvPr/>
        </p:nvGrpSpPr>
        <p:grpSpPr>
          <a:xfrm>
            <a:off x="964656" y="3404399"/>
            <a:ext cx="10056939" cy="1986751"/>
            <a:chOff x="1040856" y="1820652"/>
            <a:chExt cx="10056939" cy="2630955"/>
          </a:xfrm>
        </p:grpSpPr>
        <p:sp>
          <p:nvSpPr>
            <p:cNvPr id="90" name="Google Shape;90;p1"/>
            <p:cNvSpPr txBox="1"/>
            <p:nvPr/>
          </p:nvSpPr>
          <p:spPr>
            <a:xfrm>
              <a:off x="1040856" y="1820652"/>
              <a:ext cx="5385665" cy="26309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52C33"/>
                </a:buClr>
                <a:buSzPts val="1200"/>
                <a:buFont typeface="Lato"/>
                <a:buNone/>
              </a:pPr>
              <a:r>
                <a:rPr b="1" i="0" lang="en-US" sz="2500" u="sng" cap="none" strike="noStrike">
                  <a:solidFill>
                    <a:srgbClr val="0F1D6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Presented by</a:t>
              </a:r>
              <a:endParaRPr b="0" i="0" sz="2500" u="sng" cap="none" strike="noStrike">
                <a:solidFill>
                  <a:srgbClr val="0F1D6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457200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52C33"/>
                </a:buClr>
                <a:buSzPts val="1200"/>
                <a:buFont typeface="Times New Roman"/>
                <a:buAutoNum type="arabicPeriod"/>
              </a:pPr>
              <a:r>
                <a:rPr b="1" i="0" lang="en-US" sz="2500" u="none" cap="none" strike="noStrike">
                  <a:solidFill>
                    <a:srgbClr val="152C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Student Name 1 [Student ID 1]</a:t>
              </a:r>
              <a:endParaRPr/>
            </a:p>
            <a:p>
              <a:pPr indent="-457200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52C33"/>
                </a:buClr>
                <a:buSzPts val="1200"/>
                <a:buFont typeface="Times New Roman"/>
                <a:buAutoNum type="arabicPeriod"/>
              </a:pPr>
              <a:r>
                <a:rPr b="1" i="0" lang="en-US" sz="2500" u="none" cap="none" strike="noStrike">
                  <a:solidFill>
                    <a:srgbClr val="152C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Student Name 2 [Student ID 2]</a:t>
              </a:r>
              <a:endParaRPr/>
            </a:p>
          </p:txBody>
        </p:sp>
        <p:sp>
          <p:nvSpPr>
            <p:cNvPr id="91" name="Google Shape;91;p1"/>
            <p:cNvSpPr txBox="1"/>
            <p:nvPr/>
          </p:nvSpPr>
          <p:spPr>
            <a:xfrm>
              <a:off x="6277256" y="1866833"/>
              <a:ext cx="4820539" cy="16506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sng" cap="none" strike="noStrike">
                  <a:solidFill>
                    <a:srgbClr val="0F1D6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Supervised by</a:t>
              </a:r>
              <a:endParaRPr b="1" i="0" sz="2500" u="sng" cap="none" strike="noStrike">
                <a:solidFill>
                  <a:srgbClr val="0F1D6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rgbClr val="152C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Name of the supervisor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rgbClr val="152C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Designation</a:t>
              </a:r>
              <a:endParaRPr/>
            </a:p>
          </p:txBody>
        </p:sp>
      </p:grpSp>
      <p:sp>
        <p:nvSpPr>
          <p:cNvPr id="92" name="Google Shape;92;p1"/>
          <p:cNvSpPr txBox="1"/>
          <p:nvPr>
            <p:ph idx="12" type="sldNum"/>
          </p:nvPr>
        </p:nvSpPr>
        <p:spPr>
          <a:xfrm>
            <a:off x="9292771" y="649287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1496291" y="177950"/>
            <a:ext cx="9282545" cy="1815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Hybrid Adaptive Transformer Differential Protection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600" u="none" cap="none" strike="noStrike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Intelligent DWT–LSTM Framework</a:t>
            </a:r>
            <a:endParaRPr/>
          </a:p>
        </p:txBody>
      </p:sp>
      <p:sp>
        <p:nvSpPr>
          <p:cNvPr id="94" name="Google Shape;94;p1"/>
          <p:cNvSpPr txBox="1"/>
          <p:nvPr/>
        </p:nvSpPr>
        <p:spPr>
          <a:xfrm>
            <a:off x="609599" y="2419759"/>
            <a:ext cx="10972799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 Thesis Defense — B.Sc. in EEE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Date:  ##th  Month,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3600"/>
              <a:buFont typeface="Times New Roman"/>
              <a:buNone/>
            </a:pPr>
            <a:r>
              <a:rPr b="1" i="0" lang="en-US" sz="36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Outline</a:t>
            </a:r>
            <a:endParaRPr/>
          </a:p>
        </p:txBody>
      </p:sp>
      <p:sp>
        <p:nvSpPr>
          <p:cNvPr id="100" name="Google Shape;100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  Research Motivation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  Comparative &amp; Associative Literature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  Research Objectives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  Proposed Method / Model Framework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  Implementation  (Simulink + ONNX deployment)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6.   Result Analysis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7.   Completion of Research Aims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8.   Justification of Course Outcome (CO) Achievement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9.   Conclusion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10.  Future Prospects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3600"/>
              <a:buFont typeface="Times New Roman"/>
              <a:buNone/>
            </a:pPr>
            <a:r>
              <a:rPr b="1" i="0" lang="en-US" sz="36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Motivation</a:t>
            </a:r>
            <a:endParaRPr/>
          </a:p>
        </p:txBody>
      </p:sp>
      <p:sp>
        <p:nvSpPr>
          <p:cNvPr id="106" name="Google Shape;106;p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this matters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101010"/>
              </a:buClr>
              <a:buSzPts val="1600"/>
              <a:buChar char="•"/>
            </a:pPr>
            <a:r>
              <a:rPr b="0" i="0" lang="en-US" sz="16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Power transformers are the costliest substation asset (USD 1–3 M per 132/11 kV unit).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101010"/>
              </a:buClr>
              <a:buSzPts val="1600"/>
              <a:buChar char="•"/>
            </a:pPr>
            <a:r>
              <a:rPr b="0" i="0" lang="en-US" sz="16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Differential protection (ANSI 87T) is the primary protection element — Kirchhoff’s current law inside the protected zone.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101010"/>
              </a:buClr>
              <a:buSzPts val="1600"/>
              <a:buChar char="•"/>
            </a:pPr>
            <a:r>
              <a:rPr b="0" i="0" lang="en-US" sz="16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Trip command must be issued in less than one power-system cycle  ( &lt; 20 ms at 50 Hz 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101010"/>
              </a:buClr>
              <a:buSzPts val="1600"/>
              <a:buChar char="•"/>
            </a:pPr>
            <a:r>
              <a:rPr b="0" i="0" lang="en-US" sz="16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Mis-operation impact: prolonged outage, oil-fire risk, cascading grid failure.</a:t>
            </a:r>
            <a:endParaRPr/>
          </a:p>
        </p:txBody>
      </p:sp>
      <p:sp>
        <p:nvSpPr>
          <p:cNvPr id="107" name="Google Shape;107;p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Where the conventional 87T fails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101010"/>
              </a:buClr>
              <a:buSzPts val="1600"/>
              <a:buChar char="•"/>
            </a:pPr>
            <a:r>
              <a:rPr b="0" i="0" lang="en-US" sz="16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Magnetizing inrush — 6–10× rated current pulled on one side ⇒ appears as differential ⇒ false trip.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101010"/>
              </a:buClr>
              <a:buSzPts val="1600"/>
              <a:buChar char="•"/>
            </a:pPr>
            <a:r>
              <a:rPr b="0" i="0" lang="en-US" sz="16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Modern grain-oriented cores: 2nd-harmonic content H₂ &lt; 15 %  ⇒ classical restraint criterion fails.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101010"/>
              </a:buClr>
              <a:buSzPts val="1600"/>
              <a:buChar char="•"/>
            </a:pPr>
            <a:r>
              <a:rPr b="0" i="0" lang="en-US" sz="16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CT saturation on external faults → clipped secondary ⇒ spurious I_diff.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101010"/>
              </a:buClr>
              <a:buSzPts val="1600"/>
              <a:buChar char="•"/>
            </a:pPr>
            <a:r>
              <a:rPr b="0" i="0" lang="en-US" sz="16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Slope-2 bias and fixed thresholds cannot resolve both vulnerabilities at once.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1F2557"/>
              </a:buClr>
              <a:buSzPts val="1600"/>
              <a:buChar char="•"/>
            </a:pPr>
            <a:r>
              <a:rPr b="1" i="1" lang="en-US" sz="16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⇒  Need an intelligent, data-driven supervisory layer.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3600"/>
              <a:buFont typeface="Times New Roman"/>
              <a:buNone/>
            </a:pPr>
            <a:r>
              <a:rPr b="1" i="0" lang="en-US" sz="36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Comparative &amp; Associative Literature</a:t>
            </a:r>
            <a:endParaRPr/>
          </a:p>
        </p:txBody>
      </p:sp>
      <p:sp>
        <p:nvSpPr>
          <p:cNvPr id="113" name="Google Shape;113;p4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Evolution of the field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101010"/>
              </a:buClr>
              <a:buSzPts val="1600"/>
              <a:buChar char="•"/>
            </a:pPr>
            <a:r>
              <a:rPr b="0" i="0" lang="en-US" sz="16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1960s — fixed harmonic restraint (2nd / 5th)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01010"/>
              </a:buClr>
              <a:buSzPts val="1600"/>
              <a:buChar char="•"/>
            </a:pPr>
            <a:r>
              <a:rPr b="0" i="0" lang="en-US" sz="16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1990s — adaptive pickup &amp; dual-slope bias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01010"/>
              </a:buClr>
              <a:buSzPts val="1600"/>
              <a:buChar char="•"/>
            </a:pPr>
            <a:r>
              <a:rPr b="0" i="0" lang="en-US" sz="16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2000s — wavelet-based time-frequency features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01010"/>
              </a:buClr>
              <a:buSzPts val="1600"/>
              <a:buChar char="•"/>
            </a:pPr>
            <a:r>
              <a:rPr b="0" i="0" lang="en-US" sz="16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2010s — wavelet + shallow ANN / SVM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01010"/>
              </a:buClr>
              <a:buSzPts val="1600"/>
              <a:buChar char="•"/>
            </a:pPr>
            <a:r>
              <a:rPr b="0" i="0" lang="en-US" sz="16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2020s — end-to-end deep learning (CNN, LSTM, DNN)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1F2557"/>
              </a:buClr>
              <a:buSzPts val="1600"/>
              <a:buChar char="•"/>
            </a:pPr>
            <a:r>
              <a:rPr b="1" i="0" lang="en-US" sz="16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work — Hybrid DWT–LSTM with adaptive 87T</a:t>
            </a:r>
            <a:endParaRPr/>
          </a:p>
        </p:txBody>
      </p:sp>
      <p:sp>
        <p:nvSpPr>
          <p:cNvPr id="114" name="Google Shape;114;p4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Representative recent work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101010"/>
              </a:buClr>
              <a:buSzPts val="1500"/>
              <a:buChar char="•"/>
            </a:pPr>
            <a:r>
              <a:rPr b="0" i="0" lang="en-US" sz="15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Afrasiabi et al. (2020, IEEE TII) — accelerated DNN; limited feature set.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101010"/>
              </a:buClr>
              <a:buSzPts val="1500"/>
              <a:buChar char="•"/>
            </a:pPr>
            <a:r>
              <a:rPr b="0" i="0" lang="en-US" sz="15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et al. (2025, IEEE Access) — dual-DNN time+freq fusion; no temporal context.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101010"/>
              </a:buClr>
              <a:buSzPts val="1500"/>
              <a:buChar char="•"/>
            </a:pPr>
            <a:r>
              <a:rPr b="0" i="0" lang="en-US" sz="15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Alhamd et al. (2024) — improved wavelet + LSTM; narrow operating range.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101010"/>
              </a:buClr>
              <a:buSzPts val="1500"/>
              <a:buChar char="•"/>
            </a:pPr>
            <a:r>
              <a:rPr b="0" i="0" lang="en-US" sz="15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Raichura et al. (2020) — adaptive 87T pickup; no AI veto layer.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1F2557"/>
              </a:buClr>
              <a:buSzPts val="1500"/>
              <a:buChar char="•"/>
            </a:pPr>
            <a:r>
              <a:rPr b="1" i="1" lang="en-US" sz="15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Gap addressed:  comprehensive feature set + temporal modelling + real-time feasibility study + adaptive hardware fallback.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3600"/>
              <a:buFont typeface="Times New Roman"/>
              <a:buNone/>
            </a:pPr>
            <a:r>
              <a:rPr b="1" i="0" lang="en-US" sz="36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Objectives</a:t>
            </a:r>
            <a:endParaRPr/>
          </a:p>
        </p:txBody>
      </p:sp>
      <p:sp>
        <p:nvSpPr>
          <p:cNvPr id="120" name="Google Shape;120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Primary objective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101010"/>
              </a:buClr>
              <a:buSzPts val="1600"/>
              <a:buChar char="•"/>
            </a:pPr>
            <a:r>
              <a:rPr b="0" i="1" lang="en-US" sz="16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Design, implement and validate a hybrid adaptive differential protection scheme combining DWT-based multi-resolution feature extraction with an LSTM classifier, supervised by a conventional 87T element with hardware fallback.</a:t>
            </a:r>
            <a:endParaRPr/>
          </a:p>
        </p:txBody>
      </p:sp>
      <p:sp>
        <p:nvSpPr>
          <p:cNvPr id="121" name="Google Shape;121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Specific objectives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101010"/>
              </a:buClr>
              <a:buSzPts val="1400"/>
              <a:buChar char="•"/>
            </a:pPr>
            <a:r>
              <a:rPr b="0" i="0" lang="en-US" sz="14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①  Build high-fidelity Simulink model (230/11 kV, 300 MVA, Yd1) with CT saturation, inrush, and fault injection.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rgbClr val="101010"/>
              </a:buClr>
              <a:buSzPts val="1400"/>
              <a:buChar char="•"/>
            </a:pPr>
            <a:r>
              <a:rPr b="0" i="0" lang="en-US" sz="14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②  Develop adaptive dual-slope 87T element with Yd1 + CT-ratio compensation.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rgbClr val="101010"/>
              </a:buClr>
              <a:buSzPts val="1400"/>
              <a:buChar char="•"/>
            </a:pPr>
            <a:r>
              <a:rPr b="0" i="0" lang="en-US" sz="14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③  Train DWT–LSTM classifier on {Normal, Inrush, External, Internal} events.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rgbClr val="101010"/>
              </a:buClr>
              <a:buSzPts val="1400"/>
              <a:buChar char="•"/>
            </a:pPr>
            <a:r>
              <a:rPr b="0" i="0" lang="en-US" sz="14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④  Integrate as hybrid relay with confidence threshold + temporal-consistency check.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rgbClr val="101010"/>
              </a:buClr>
              <a:buSzPts val="1400"/>
              <a:buChar char="•"/>
            </a:pPr>
            <a:r>
              <a:rPr b="0" i="0" lang="en-US" sz="14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⑤  Validate dependability, security, operating time and robustness under sweep tests.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rgbClr val="101010"/>
              </a:buClr>
              <a:buSzPts val="1400"/>
              <a:buChar char="•"/>
            </a:pPr>
            <a:r>
              <a:rPr b="0" i="0" lang="en-US" sz="14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⑥  Benchmark against four baselines  (CHR, wavelet-ANN, wavelet-SVM, dual-DNN).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555555"/>
              </a:buClr>
              <a:buSzPts val="1300"/>
              <a:buChar char="•"/>
            </a:pPr>
            <a:r>
              <a:rPr b="0" i="1" lang="en-US" sz="13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Scope:  simulation-only validation; HIL &amp; field testing → future work.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3600"/>
              <a:buFont typeface="Times New Roman"/>
              <a:buNone/>
            </a:pPr>
            <a:r>
              <a:rPr b="1" i="0" lang="en-US" sz="36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Method / Model Framework</a:t>
            </a:r>
            <a:endParaRPr/>
          </a:p>
        </p:txBody>
      </p:sp>
      <p:sp>
        <p:nvSpPr>
          <p:cNvPr id="127" name="Google Shape;127;p6"/>
          <p:cNvSpPr txBox="1"/>
          <p:nvPr>
            <p:ph idx="1" type="body"/>
          </p:nvPr>
        </p:nvSpPr>
        <p:spPr>
          <a:xfrm>
            <a:off x="502920" y="1737360"/>
            <a:ext cx="5577840" cy="448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Six-stage pipeline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101010"/>
              </a:buClr>
              <a:buSzPts val="1500"/>
              <a:buChar char="•"/>
            </a:pPr>
            <a:r>
              <a:rPr b="0" i="0" lang="en-US" sz="15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①  CT measurement acquisition (3-φ HV + LV)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01010"/>
              </a:buClr>
              <a:buSzPts val="1500"/>
              <a:buChar char="•"/>
            </a:pPr>
            <a:r>
              <a:rPr b="0" i="0" lang="en-US" sz="15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②  Yd1 vector-group + CT-ratio compensation → I_diff, I_rest (p.u.)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01010"/>
              </a:buClr>
              <a:buSzPts val="1500"/>
              <a:buChar char="•"/>
            </a:pPr>
            <a:r>
              <a:rPr b="0" i="0" lang="en-US" sz="15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③  5-level db4 DWT  (fs = 10 kHz, window = 20 ms)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01010"/>
              </a:buClr>
              <a:buSzPts val="1500"/>
              <a:buChar char="•"/>
            </a:pPr>
            <a:r>
              <a:rPr b="0" i="0" lang="en-US" sz="15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④  37-dim feature vector  (E, H, σ, M, MAD, K, Sk × 5 + 2)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01010"/>
              </a:buClr>
              <a:buSzPts val="1500"/>
              <a:buChar char="•"/>
            </a:pPr>
            <a:r>
              <a:rPr b="0" i="0" lang="en-US" sz="15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⑤  Two-layer LSTM (128 → 64) with softmax over 4 classes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01010"/>
              </a:buClr>
              <a:buSzPts val="1500"/>
              <a:buChar char="•"/>
            </a:pPr>
            <a:r>
              <a:rPr b="0" i="0" lang="en-US" sz="15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⑥  Hybrid decision logic: 87T pickup AND  P(internal) ≥ 0.85 ⇒ TRIP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1F2557"/>
              </a:buClr>
              <a:buSzPts val="1400"/>
              <a:buChar char="•"/>
            </a:pPr>
            <a:r>
              <a:rPr b="0" i="1" lang="en-US" sz="14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Hardware override:  I_diff &gt; I_high_set ⇒ immediate trip (bypasses AI veto).</a:t>
            </a:r>
            <a:endParaRPr/>
          </a:p>
        </p:txBody>
      </p:sp>
      <p:pic>
        <p:nvPicPr>
          <p:cNvPr descr="hybrid_protection_framework_flowchart.png" id="128" name="Google Shape;12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63640" y="1691640"/>
            <a:ext cx="5577840" cy="43891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e5bef04639_0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3600"/>
              <a:buFont typeface="Times New Roman"/>
              <a:buNone/>
            </a:pPr>
            <a:r>
              <a:rPr b="1" i="0" lang="en-US" sz="36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Implementation  —  Simulink Plant Model</a:t>
            </a:r>
            <a:endParaRPr/>
          </a:p>
        </p:txBody>
      </p:sp>
      <p:sp>
        <p:nvSpPr>
          <p:cNvPr id="134" name="Google Shape;134;g3e5bef04639_0_0"/>
          <p:cNvSpPr txBox="1"/>
          <p:nvPr>
            <p:ph idx="1" type="body"/>
          </p:nvPr>
        </p:nvSpPr>
        <p:spPr>
          <a:xfrm>
            <a:off x="502925" y="1737350"/>
            <a:ext cx="4159500" cy="44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Plant model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101010"/>
              </a:buClr>
              <a:buSzPts val="1600"/>
              <a:buChar char="•"/>
            </a:pPr>
            <a:r>
              <a:rPr b="0" i="0" lang="en-US" sz="16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230 kV / 11 kV  •  300 MVA  •  Yd1 vector group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01010"/>
              </a:buClr>
              <a:buSzPts val="1600"/>
              <a:buChar char="•"/>
            </a:pPr>
            <a:r>
              <a:rPr b="0" i="0" lang="en-US" sz="16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Three-phase source with realistic source impedance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01010"/>
              </a:buClr>
              <a:buSzPts val="1600"/>
              <a:buChar char="•"/>
            </a:pPr>
            <a:r>
              <a:rPr b="0" i="0" lang="en-US" sz="16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CTs:  HV-side 2000/5 A  •  LV-side 41822/5 A (matched secondaries)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01010"/>
              </a:buClr>
              <a:buSzPts val="1600"/>
              <a:buChar char="•"/>
            </a:pPr>
            <a:r>
              <a:rPr b="0" i="0" lang="en-US" sz="16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Internal &amp; External fault blocks  (AG, BG, CG, AB, BC, CA, ABC, …)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01010"/>
              </a:buClr>
              <a:buSzPts val="1600"/>
              <a:buChar char="•"/>
            </a:pPr>
            <a:r>
              <a:rPr b="0" i="0" lang="en-US" sz="16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Fault resistance sweep  0.01 – 20 Ω</a:t>
            </a:r>
            <a:endParaRPr/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Main Panel.png" id="135" name="Google Shape;135;g3e5bef04639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70050" y="1690825"/>
            <a:ext cx="7938449" cy="438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3600"/>
              <a:buFont typeface="Times New Roman"/>
              <a:buNone/>
            </a:pPr>
            <a:r>
              <a:rPr b="1" i="0" lang="en-US" sz="36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Implementation  —  Test Console &amp; Logging</a:t>
            </a:r>
            <a:endParaRPr/>
          </a:p>
        </p:txBody>
      </p:sp>
      <p:sp>
        <p:nvSpPr>
          <p:cNvPr id="141" name="Google Shape;141;p10"/>
          <p:cNvSpPr txBox="1"/>
          <p:nvPr>
            <p:ph idx="1" type="body"/>
          </p:nvPr>
        </p:nvSpPr>
        <p:spPr>
          <a:xfrm>
            <a:off x="502920" y="1737360"/>
            <a:ext cx="5577900" cy="44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000"/>
              <a:buChar char="•"/>
            </a:pPr>
            <a:r>
              <a:rPr b="1" i="0" lang="en-US" sz="20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ControlPanel — automated test harness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101010"/>
              </a:buClr>
              <a:buSzPts val="1400"/>
              <a:buChar char="•"/>
            </a:pPr>
            <a:r>
              <a:rPr b="0" i="0" lang="en-US" sz="14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Eight scenarios: Normal, Inrush, Internal {AG, BG, AB, 3-φ}, External {3-φ, AB}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01010"/>
              </a:buClr>
              <a:buSzPts val="1400"/>
              <a:buChar char="•"/>
            </a:pPr>
            <a:r>
              <a:rPr b="0" i="0" lang="en-US" sz="14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Auto-instrumentation of Trip_Signal, I_diff and I_rest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01010"/>
              </a:buClr>
              <a:buSzPts val="1400"/>
              <a:buChar char="•"/>
            </a:pPr>
            <a:r>
              <a:rPr b="0" i="0" lang="en-US" sz="14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Per-run logs (.log + .mat) for reproducible analysis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01010"/>
              </a:buClr>
              <a:buSzPts val="1400"/>
              <a:buChar char="•"/>
            </a:pPr>
            <a:r>
              <a:rPr b="0" i="0" lang="en-US" sz="14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Batch dataset generator  (~500 scenarios per run)</a:t>
            </a:r>
            <a:endParaRPr/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e5bef04639_0_1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3600"/>
              <a:buFont typeface="Times New Roman"/>
              <a:buNone/>
            </a:pPr>
            <a:r>
              <a:rPr b="1" i="0" lang="en-US" sz="36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Implementation  —  Test Console &amp; Logging</a:t>
            </a:r>
            <a:endParaRPr/>
          </a:p>
        </p:txBody>
      </p:sp>
      <p:sp>
        <p:nvSpPr>
          <p:cNvPr id="147" name="Google Shape;147;g3e5bef04639_0_13"/>
          <p:cNvSpPr txBox="1"/>
          <p:nvPr>
            <p:ph idx="1" type="body"/>
          </p:nvPr>
        </p:nvSpPr>
        <p:spPr>
          <a:xfrm>
            <a:off x="502923" y="1737350"/>
            <a:ext cx="3894000" cy="44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1F2557"/>
              </a:buClr>
              <a:buSzPts val="2000"/>
              <a:buChar char="•"/>
            </a:pPr>
            <a:r>
              <a:rPr b="1" i="0" lang="en-US" sz="20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Realism injection</a:t>
            </a:r>
            <a:endParaRPr b="1" i="0" sz="2000">
              <a:solidFill>
                <a:srgbClr val="1F255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1F2557"/>
              </a:solidFill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101010"/>
              </a:buClr>
              <a:buSzPts val="1400"/>
              <a:buChar char="•"/>
            </a:pPr>
            <a:r>
              <a:rPr b="0" i="0" lang="en-US" sz="14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Gaussian noise  (1–7 % SNR)  on six CT channels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01010"/>
              </a:buClr>
              <a:buSzPts val="1400"/>
              <a:buChar char="•"/>
            </a:pPr>
            <a:r>
              <a:rPr b="0" i="0" lang="en-US" sz="14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CT-gain mismatch  ±2 %  on each channel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01010"/>
              </a:buClr>
              <a:buSzPts val="1400"/>
              <a:buChar char="•"/>
            </a:pPr>
            <a:r>
              <a:rPr b="0" i="0" lang="en-US" sz="14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Random fault inception angle 0–360°</a:t>
            </a:r>
            <a:endParaRPr/>
          </a:p>
        </p:txBody>
      </p:sp>
      <p:pic>
        <p:nvPicPr>
          <p:cNvPr id="148" name="Google Shape;148;g3e5bef04639_0_13" title="noise Merging Uni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9075" y="1817125"/>
            <a:ext cx="6804475" cy="44007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3600"/>
              <a:buFont typeface="Times New Roman"/>
              <a:buNone/>
            </a:pPr>
            <a:r>
              <a:rPr b="1" i="0" lang="en-US" sz="36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 — DWT-Based Feature Extraction</a:t>
            </a:r>
            <a:endParaRPr/>
          </a:p>
        </p:txBody>
      </p:sp>
      <p:sp>
        <p:nvSpPr>
          <p:cNvPr id="154" name="Google Shape;154;p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Wavelet decomposition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101010"/>
              </a:buClr>
              <a:buSzPts val="1500"/>
              <a:buChar char="•"/>
            </a:pPr>
            <a:r>
              <a:rPr b="0" i="0" lang="en-US" sz="15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Mother wavelet:  Daubechies-4  (db4)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01010"/>
              </a:buClr>
              <a:buSzPts val="1500"/>
              <a:buChar char="•"/>
            </a:pPr>
            <a:r>
              <a:rPr b="0" i="0" lang="en-US" sz="15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Levels of decomposition:  L = 5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01010"/>
              </a:buClr>
              <a:buSzPts val="1500"/>
              <a:buChar char="•"/>
            </a:pPr>
            <a:r>
              <a:rPr b="0" i="0" lang="en-US" sz="15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Window:  one cycle  (20 ms at 50 Hz)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01010"/>
              </a:buClr>
              <a:buSzPts val="1500"/>
              <a:buChar char="•"/>
            </a:pPr>
            <a:r>
              <a:rPr b="0" i="0" lang="en-US" sz="15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Sampling rate:  fs = 10 kHz  ⇒ 200 samples / window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Frequency bands per level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101010"/>
              </a:buClr>
              <a:buSzPts val="1400"/>
              <a:buChar char="•"/>
            </a:pPr>
            <a:r>
              <a:rPr b="0" i="0" lang="en-US" sz="14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cD₁ : 2500 – 5000 Hz   |   cD₂ : 1250 – 2500 Hz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01010"/>
              </a:buClr>
              <a:buSzPts val="1400"/>
              <a:buChar char="•"/>
            </a:pPr>
            <a:r>
              <a:rPr b="0" i="0" lang="en-US" sz="14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cD₃ :  625 – 1250 Hz   |   cD₄ :  312 –  625 Hz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01010"/>
              </a:buClr>
              <a:buSzPts val="1400"/>
              <a:buChar char="•"/>
            </a:pPr>
            <a:r>
              <a:rPr b="0" i="0" lang="en-US" sz="14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cD₅ :  156 –  312 Hz   |   cA₅ :    0 –  156 Hz</a:t>
            </a:r>
            <a:endParaRPr/>
          </a:p>
        </p:txBody>
      </p:sp>
      <p:sp>
        <p:nvSpPr>
          <p:cNvPr id="155" name="Google Shape;155;p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Features extracted per level  (×5)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101010"/>
              </a:buClr>
              <a:buSzPts val="1500"/>
              <a:buChar char="•"/>
            </a:pPr>
            <a:r>
              <a:rPr b="0" i="0" lang="en-US" sz="15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    —  Wavelet energy   Σ |cD_j[k]|²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01010"/>
              </a:buClr>
              <a:buSzPts val="1500"/>
              <a:buChar char="•"/>
            </a:pPr>
            <a:r>
              <a:rPr b="0" i="0" lang="en-US" sz="15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    —  Shannon entropy of normalised band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01010"/>
              </a:buClr>
              <a:buSzPts val="1500"/>
              <a:buChar char="•"/>
            </a:pPr>
            <a:r>
              <a:rPr b="0" i="0" lang="en-US" sz="15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σ    —  Standard deviation of coefficients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01010"/>
              </a:buClr>
              <a:buSzPts val="1500"/>
              <a:buChar char="•"/>
            </a:pPr>
            <a:r>
              <a:rPr b="0" i="0" lang="en-US" sz="15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    —  Maximum amplitude (transient peak)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01010"/>
              </a:buClr>
              <a:buSzPts val="1500"/>
              <a:buChar char="•"/>
            </a:pPr>
            <a:r>
              <a:rPr b="0" i="0" lang="en-US" sz="15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MAD  —  Mean absolute deviation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01010"/>
              </a:buClr>
              <a:buSzPts val="1500"/>
              <a:buChar char="•"/>
            </a:pPr>
            <a:r>
              <a:rPr b="0" i="0" lang="en-US" sz="15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    —  Kurtosis (heavy-tail detector)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01010"/>
              </a:buClr>
              <a:buSzPts val="1500"/>
              <a:buChar char="•"/>
            </a:pPr>
            <a:r>
              <a:rPr b="0" i="0" lang="en-US" sz="15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Sk   —  Skewness of band distribution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1F2557"/>
              </a:buClr>
              <a:buSzPts val="1400"/>
              <a:buChar char="•"/>
            </a:pPr>
            <a:r>
              <a:rPr b="1" i="1" lang="en-US" sz="14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Total: 7 stats × 5 levels  +  2 instantaneous (I_diff, I_rest)  =  37-dim per window.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3600"/>
              <a:buFont typeface="Times New Roman"/>
              <a:buNone/>
            </a:pPr>
            <a:r>
              <a:rPr b="1" i="0" lang="en-US" sz="36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 — LSTM Classifier &amp; Decision Logic</a:t>
            </a:r>
            <a:endParaRPr/>
          </a:p>
        </p:txBody>
      </p:sp>
      <p:sp>
        <p:nvSpPr>
          <p:cNvPr id="161" name="Google Shape;161;p8"/>
          <p:cNvSpPr txBox="1"/>
          <p:nvPr>
            <p:ph idx="1" type="body"/>
          </p:nvPr>
        </p:nvSpPr>
        <p:spPr>
          <a:xfrm>
            <a:off x="502920" y="1737360"/>
            <a:ext cx="5577840" cy="448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000"/>
              <a:buChar char="•"/>
            </a:pPr>
            <a:r>
              <a:rPr b="1" i="0" lang="en-US" sz="20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Network design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101010"/>
              </a:buClr>
              <a:buSzPts val="1400"/>
              <a:buChar char="•"/>
            </a:pPr>
            <a:r>
              <a:rPr b="0" i="0" lang="en-US" sz="14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 — 37-dim feature vector per 20 ms window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01010"/>
              </a:buClr>
              <a:buSzPts val="1400"/>
              <a:buChar char="•"/>
            </a:pPr>
            <a:r>
              <a:rPr b="0" i="0" lang="en-US" sz="14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LSTM layer 1 — 128 hidden units, dropout 0.3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01010"/>
              </a:buClr>
              <a:buSzPts val="1400"/>
              <a:buChar char="•"/>
            </a:pPr>
            <a:r>
              <a:rPr b="0" i="0" lang="en-US" sz="14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LSTM layer 2 — 64 hidden units, dropout 0.3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01010"/>
              </a:buClr>
              <a:buSzPts val="1400"/>
              <a:buChar char="•"/>
            </a:pPr>
            <a:r>
              <a:rPr b="0" i="0" lang="en-US" sz="14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Dense + Softmax — 4 classes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1F2557"/>
              </a:buClr>
              <a:buSzPts val="2000"/>
              <a:buChar char="•"/>
            </a:pPr>
            <a:r>
              <a:rPr b="1" i="0" lang="en-US" sz="20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101010"/>
              </a:buClr>
              <a:buSzPts val="1300"/>
              <a:buChar char="•"/>
            </a:pPr>
            <a:r>
              <a:rPr b="0" i="0" lang="en-US" sz="13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Adam (lr = 1e-3, halved on plateau)  •  class-weighted cross-entropy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01010"/>
              </a:buClr>
              <a:buSzPts val="1300"/>
              <a:buChar char="•"/>
            </a:pPr>
            <a:r>
              <a:rPr b="0" i="0" lang="en-US" sz="13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Early stopping (patience 20)  •  5-fold cross-validation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01010"/>
              </a:buClr>
              <a:buSzPts val="1300"/>
              <a:buChar char="•"/>
            </a:pPr>
            <a:r>
              <a:rPr b="0" i="0" lang="en-US" sz="13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augmentation:  Gaussian noise (1–7 % SNR), CT-gain ±2 %</a:t>
            </a:r>
            <a:endParaRPr/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lstm_network_architecture_flowchart.png" id="162" name="Google Shape;16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58925" y="2823775"/>
            <a:ext cx="6656574" cy="244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3600"/>
              <a:buFont typeface="Times New Roman"/>
              <a:buNone/>
            </a:pPr>
            <a:r>
              <a:rPr b="1" i="0" lang="en-US" sz="36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Implementation  —  Simulink Plant Model</a:t>
            </a:r>
            <a:endParaRPr/>
          </a:p>
        </p:txBody>
      </p:sp>
      <p:sp>
        <p:nvSpPr>
          <p:cNvPr id="168" name="Google Shape;168;p9"/>
          <p:cNvSpPr txBox="1"/>
          <p:nvPr>
            <p:ph idx="1" type="body"/>
          </p:nvPr>
        </p:nvSpPr>
        <p:spPr>
          <a:xfrm>
            <a:off x="502924" y="1737350"/>
            <a:ext cx="3957900" cy="44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18123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1F2557"/>
              </a:buClr>
              <a:buSzPct val="1000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deployment</a:t>
            </a:r>
            <a:endParaRPr/>
          </a:p>
          <a:p>
            <a:pPr indent="-22098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101010"/>
              </a:buClr>
              <a:buSzPct val="100000"/>
              <a:buChar char="•"/>
            </a:pPr>
            <a:r>
              <a:rPr b="0" i="0" lang="en-US" sz="16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LSTM trained in PyTorch  →  ONNX export</a:t>
            </a:r>
            <a:endParaRPr/>
          </a:p>
          <a:p>
            <a:pPr indent="-22098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01010"/>
              </a:buClr>
              <a:buSzPct val="100000"/>
              <a:buChar char="•"/>
            </a:pPr>
            <a:r>
              <a:rPr b="0" i="0" lang="en-US" sz="16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Loaded into Simulink via Deep Learning Toolbox Predict block</a:t>
            </a:r>
            <a:endParaRPr/>
          </a:p>
          <a:p>
            <a:pPr indent="-22098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01010"/>
              </a:buClr>
              <a:buSzPct val="100000"/>
              <a:buChar char="•"/>
            </a:pPr>
            <a:r>
              <a:rPr b="0" i="0" lang="en-US" sz="16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Hybrid 87T + LSTM logic in MATLAB Function block</a:t>
            </a:r>
            <a:endParaRPr b="0" i="0" sz="1600">
              <a:solidFill>
                <a:srgbClr val="10101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01010"/>
              </a:solidFill>
            </a:endParaRPr>
          </a:p>
          <a:p>
            <a:pPr indent="-142875" lvl="0" marL="228600" rtl="0" algn="l">
              <a:spcBef>
                <a:spcPts val="1400"/>
              </a:spcBef>
              <a:spcAft>
                <a:spcPts val="0"/>
              </a:spcAft>
              <a:buClr>
                <a:srgbClr val="1F2557"/>
              </a:buClr>
              <a:buSzPct val="100000"/>
              <a:buChar char="•"/>
            </a:pPr>
            <a:r>
              <a:rPr b="1" lang="en-US" sz="2000">
                <a:solidFill>
                  <a:srgbClr val="1F2557"/>
                </a:solidFill>
              </a:rPr>
              <a:t>Decision logic</a:t>
            </a:r>
            <a:endParaRPr/>
          </a:p>
          <a:p>
            <a:pPr indent="-101759" lvl="0" marL="228600" rtl="0" algn="l">
              <a:spcBef>
                <a:spcPts val="1400"/>
              </a:spcBef>
              <a:spcAft>
                <a:spcPts val="0"/>
              </a:spcAft>
              <a:buClr>
                <a:srgbClr val="B85042"/>
              </a:buClr>
              <a:buSzPct val="100000"/>
              <a:buChar char="•"/>
            </a:pPr>
            <a:r>
              <a:rPr lang="en-US" sz="1300">
                <a:solidFill>
                  <a:srgbClr val="B85042"/>
                </a:solidFill>
              </a:rPr>
              <a:t>TRIP if  I_diff &gt; I_high_set  (hardware override)</a:t>
            </a:r>
            <a:endParaRPr/>
          </a:p>
          <a:p>
            <a:pPr indent="-101759" lvl="0" marL="228600" rtl="0" algn="l">
              <a:spcBef>
                <a:spcPts val="1000"/>
              </a:spcBef>
              <a:spcAft>
                <a:spcPts val="0"/>
              </a:spcAft>
              <a:buClr>
                <a:srgbClr val="1F2557"/>
              </a:buClr>
              <a:buSzPct val="100000"/>
              <a:buChar char="•"/>
            </a:pPr>
            <a:r>
              <a:rPr lang="en-US" sz="1300">
                <a:solidFill>
                  <a:srgbClr val="1F2557"/>
                </a:solidFill>
              </a:rPr>
              <a:t>TRIP if  87T pickup  AND  P(internal) ≥ 0.85</a:t>
            </a:r>
            <a:endParaRPr/>
          </a:p>
          <a:p>
            <a:pPr indent="-101759" lvl="0" marL="228600" rtl="0" algn="l">
              <a:spcBef>
                <a:spcPts val="1000"/>
              </a:spcBef>
              <a:spcAft>
                <a:spcPts val="0"/>
              </a:spcAft>
              <a:buClr>
                <a:srgbClr val="C89B10"/>
              </a:buClr>
              <a:buSzPct val="100000"/>
              <a:buChar char="•"/>
            </a:pPr>
            <a:r>
              <a:rPr lang="en-US" sz="1300">
                <a:solidFill>
                  <a:srgbClr val="C89B10"/>
                </a:solidFill>
              </a:rPr>
              <a:t>BLOCK if  87T pickup  AND  P(internal) &lt; 0.85  (AI veto)</a:t>
            </a:r>
            <a:endParaRPr/>
          </a:p>
          <a:p>
            <a:pPr indent="-101759" lvl="0" marL="228600" rtl="0" algn="l">
              <a:spcBef>
                <a:spcPts val="1000"/>
              </a:spcBef>
              <a:spcAft>
                <a:spcPts val="0"/>
              </a:spcAft>
              <a:buClr>
                <a:srgbClr val="555555"/>
              </a:buClr>
              <a:buSzPct val="100000"/>
              <a:buChar char="•"/>
            </a:pPr>
            <a:r>
              <a:rPr i="1" lang="en-US" sz="1300">
                <a:solidFill>
                  <a:srgbClr val="555555"/>
                </a:solidFill>
              </a:rPr>
              <a:t>Consecutive-window check  N = 2</a:t>
            </a:r>
            <a:endParaRPr/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01010"/>
              </a:solidFill>
            </a:endParaRPr>
          </a:p>
        </p:txBody>
      </p:sp>
      <p:pic>
        <p:nvPicPr>
          <p:cNvPr descr="Hybrid 87T relay.png" id="169" name="Google Shape;16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80650" y="2136600"/>
            <a:ext cx="7260873" cy="3582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3600"/>
              <a:buFont typeface="Times New Roman"/>
              <a:buNone/>
            </a:pPr>
            <a:r>
              <a:rPr b="1" i="0" lang="en-US" sz="36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 Analysis  —  Overall Performance</a:t>
            </a:r>
            <a:endParaRPr/>
          </a:p>
        </p:txBody>
      </p:sp>
      <p:sp>
        <p:nvSpPr>
          <p:cNvPr id="175" name="Google Shape;175;p11"/>
          <p:cNvSpPr txBox="1"/>
          <p:nvPr>
            <p:ph idx="1" type="body"/>
          </p:nvPr>
        </p:nvSpPr>
        <p:spPr>
          <a:xfrm>
            <a:off x="502920" y="1737360"/>
            <a:ext cx="4937760" cy="448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Aggregate metrics  (target / draft)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101010"/>
              </a:buClr>
              <a:buSzPts val="1800"/>
              <a:buChar char="•"/>
            </a:pPr>
            <a:r>
              <a:rPr b="0" i="0" lang="en-US" sz="18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Overall accuracy        ≥ 99 %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01010"/>
              </a:buClr>
              <a:buSzPts val="1800"/>
              <a:buChar char="•"/>
            </a:pPr>
            <a:r>
              <a:rPr b="0" i="0" lang="en-US" sz="18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Dependability            ≥ 99 %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55555"/>
              </a:buClr>
              <a:buSzPts val="1300"/>
              <a:buChar char="•"/>
            </a:pPr>
            <a:r>
              <a:rPr b="0" i="1" lang="en-US" sz="13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(internal-fault detection rate)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01010"/>
              </a:buClr>
              <a:buSzPts val="1800"/>
              <a:buChar char="•"/>
            </a:pPr>
            <a:r>
              <a:rPr b="0" i="0" lang="en-US" sz="18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Security                     ≥ 99 %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55555"/>
              </a:buClr>
              <a:buSzPts val="1300"/>
              <a:buChar char="•"/>
            </a:pPr>
            <a:r>
              <a:rPr b="0" i="1" lang="en-US" sz="13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(false-trip prevention rate)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01010"/>
              </a:buClr>
              <a:buSzPts val="1800"/>
              <a:buChar char="•"/>
            </a:pPr>
            <a:r>
              <a:rPr b="0" i="0" lang="en-US" sz="18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Avg. operating time   &lt; 20 ms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55555"/>
              </a:buClr>
              <a:buSzPts val="1300"/>
              <a:buChar char="•"/>
            </a:pPr>
            <a:r>
              <a:rPr b="0" i="1" lang="en-US" sz="13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(one cycle at 50 Hz)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101010"/>
              </a:buClr>
              <a:buSzPts val="1400"/>
              <a:buChar char="•"/>
            </a:pPr>
            <a:r>
              <a:rPr b="0" i="1" lang="en-US" sz="14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Confusion matrix (right) shows clear separation of the four event classes, with negligible inter-class confusion.</a:t>
            </a:r>
            <a:endParaRPr/>
          </a:p>
        </p:txBody>
      </p:sp>
      <p:pic>
        <p:nvPicPr>
          <p:cNvPr descr="Results_Confusion_ClearingTime.png" id="176" name="Google Shape;17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9280" y="1691640"/>
            <a:ext cx="6172200" cy="43891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2"/>
          <p:cNvSpPr txBox="1"/>
          <p:nvPr>
            <p:ph type="title"/>
          </p:nvPr>
        </p:nvSpPr>
        <p:spPr>
          <a:xfrm>
            <a:off x="502925" y="36607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3600"/>
              <a:buFont typeface="Times New Roman"/>
              <a:buNone/>
            </a:pPr>
            <a:r>
              <a:rPr b="1" i="0" lang="en-US" sz="36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 Analysis  —  Trip Behaviour Comparison</a:t>
            </a:r>
            <a:endParaRPr/>
          </a:p>
        </p:txBody>
      </p:sp>
      <p:sp>
        <p:nvSpPr>
          <p:cNvPr id="182" name="Google Shape;182;p12"/>
          <p:cNvSpPr txBox="1"/>
          <p:nvPr>
            <p:ph idx="1" type="body"/>
          </p:nvPr>
        </p:nvSpPr>
        <p:spPr>
          <a:xfrm>
            <a:off x="502920" y="1737360"/>
            <a:ext cx="5029200" cy="448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Observations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101010"/>
              </a:buClr>
              <a:buSzPts val="1500"/>
              <a:buChar char="•"/>
            </a:pPr>
            <a:r>
              <a:rPr b="0" i="0" lang="en-US" sz="15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Conventional 87T (top traces) misclassifies inrush and CT-saturated transients ⇒ false trips.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101010"/>
              </a:buClr>
              <a:buSzPts val="1500"/>
              <a:buChar char="•"/>
            </a:pPr>
            <a:r>
              <a:rPr b="0" i="0" lang="en-US" sz="15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Hybrid 87T + DWT-LSTM (bottom traces) correctly blocks during inrush and CT saturation while still tripping on bona-fide internal faults.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101010"/>
              </a:buClr>
              <a:buSzPts val="1500"/>
              <a:buChar char="•"/>
            </a:pPr>
            <a:r>
              <a:rPr b="0" i="0" lang="en-US" sz="15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Latency penalty of the AI veto layer is well below the 1-cycle budget.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Why?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101010"/>
              </a:buClr>
              <a:buSzPts val="1400"/>
              <a:buChar char="•"/>
            </a:pPr>
            <a:r>
              <a:rPr b="0" i="0" lang="en-US" sz="14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DWT energy in cD₁ and cD₂ separates internal-fault transients from inrush DC offset.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01010"/>
              </a:buClr>
              <a:buSzPts val="1400"/>
              <a:buChar char="•"/>
            </a:pPr>
            <a:r>
              <a:rPr b="0" i="0" lang="en-US" sz="14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LSTM exploits the temporal evolution of the wavelet features that single-window classifiers ignore.</a:t>
            </a:r>
            <a:endParaRPr/>
          </a:p>
        </p:txBody>
      </p:sp>
      <p:pic>
        <p:nvPicPr>
          <p:cNvPr descr="before_after_87t_hybrid_comparison.png" id="183" name="Google Shape;18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60720" y="1691640"/>
            <a:ext cx="6080760" cy="43891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3600"/>
              <a:buFont typeface="Times New Roman"/>
              <a:buNone/>
            </a:pPr>
            <a:r>
              <a:rPr b="1" i="0" lang="en-US" sz="36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 Analysis  —  Robustness Validation</a:t>
            </a:r>
            <a:endParaRPr/>
          </a:p>
        </p:txBody>
      </p:sp>
      <p:sp>
        <p:nvSpPr>
          <p:cNvPr id="189" name="Google Shape;189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Stress conditions evaluated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101010"/>
              </a:buClr>
              <a:buSzPts val="1600"/>
              <a:buChar char="•"/>
            </a:pPr>
            <a:r>
              <a:rPr b="0" i="0" lang="en-US" sz="16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Fault resistance sweep:  0.01 – 20 Ω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01010"/>
              </a:buClr>
              <a:buSzPts val="1600"/>
              <a:buChar char="•"/>
            </a:pPr>
            <a:r>
              <a:rPr b="0" i="0" lang="en-US" sz="16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Measurement noise:  1 – 7 % SNR  (Gaussian)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01010"/>
              </a:buClr>
              <a:buSzPts val="1600"/>
              <a:buChar char="•"/>
            </a:pPr>
            <a:r>
              <a:rPr b="0" i="0" lang="en-US" sz="16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CT-gain mismatch:  ±2 %  per channel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01010"/>
              </a:buClr>
              <a:buSzPts val="1600"/>
              <a:buChar char="•"/>
            </a:pPr>
            <a:r>
              <a:rPr b="0" i="0" lang="en-US" sz="16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Residual flux levels:  0, 0.4, 0.8 pu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01010"/>
              </a:buClr>
              <a:buSzPts val="1600"/>
              <a:buChar char="•"/>
            </a:pPr>
            <a:r>
              <a:rPr b="0" i="0" lang="en-US" sz="16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Random fault inception angle 0–360°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Outcome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1F2557"/>
              </a:buClr>
              <a:buSzPts val="1600"/>
              <a:buChar char="•"/>
            </a:pPr>
            <a:r>
              <a:rPr b="0" i="1" lang="en-US" sz="16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Dependability and security each held at or above the 99 % target across the full sweep.</a:t>
            </a:r>
            <a:endParaRPr/>
          </a:p>
        </p:txBody>
      </p:sp>
      <p:sp>
        <p:nvSpPr>
          <p:cNvPr id="190" name="Google Shape;190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Comparative analysis  (target draft)</a:t>
            </a:r>
            <a:endParaRPr/>
          </a:p>
        </p:txBody>
      </p:sp>
      <p:graphicFrame>
        <p:nvGraphicFramePr>
          <p:cNvPr id="191" name="Google Shape;191;p13"/>
          <p:cNvGraphicFramePr/>
          <p:nvPr/>
        </p:nvGraphicFramePr>
        <p:xfrm>
          <a:off x="6263640" y="22402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{4CB3DED2-E355-457A-8DC3-35DA42202A1A}</a:tableStyleId>
              </a:tblPr>
              <a:tblGrid>
                <a:gridCol w="2560325"/>
                <a:gridCol w="1005850"/>
                <a:gridCol w="1005850"/>
                <a:gridCol w="1005850"/>
              </a:tblGrid>
              <a:tr h="51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Scheme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1F25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Dep. (%)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1F25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Sec. (%)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1F25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Top (ms)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1F2557"/>
                    </a:solidFill>
                  </a:tcPr>
                </a:tc>
              </a:tr>
              <a:tr h="51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Conventional Harmonic Restraint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94.2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92.5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23.5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1F2F6"/>
                    </a:solidFill>
                  </a:tcPr>
                </a:tc>
              </a:tr>
              <a:tr h="51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Wavelet-ANN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97.1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95.8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21.0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FFFFF"/>
                    </a:solidFill>
                  </a:tcPr>
                </a:tc>
              </a:tr>
              <a:tr h="51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Wavelet-SVM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97.5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96.4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20.7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1F2F6"/>
                    </a:solidFill>
                  </a:tcPr>
                </a:tc>
              </a:tr>
              <a:tr h="51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Dual-DNN  (Key 2025)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98.6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98.1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18.9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FFFFF"/>
                    </a:solidFill>
                  </a:tcPr>
                </a:tc>
              </a:tr>
              <a:tr h="51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F2557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Proposed Hybrid DWT-LSTM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EAF2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F2557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99.4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EAF2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F2557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99.6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EAF2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F2557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17.2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EAF2EC"/>
                    </a:solidFill>
                  </a:tcPr>
                </a:tc>
              </a:tr>
            </a:tbl>
          </a:graphicData>
        </a:graphic>
      </p:graphicFrame>
      <p:sp>
        <p:nvSpPr>
          <p:cNvPr id="192" name="Google Shape;192;p13"/>
          <p:cNvSpPr txBox="1"/>
          <p:nvPr/>
        </p:nvSpPr>
        <p:spPr>
          <a:xfrm>
            <a:off x="6263640" y="5394960"/>
            <a:ext cx="5577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 u="none" cap="none" strike="noStrike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Numbers are indicative target values pending the full sweep run.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3200"/>
              <a:buFont typeface="Times New Roman"/>
              <a:buNone/>
            </a:pPr>
            <a:r>
              <a:rPr b="1" i="0" lang="en-US" sz="3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Comparative Literature  —  Methodology Overview</a:t>
            </a:r>
            <a:endParaRPr/>
          </a:p>
        </p:txBody>
      </p:sp>
      <p:sp>
        <p:nvSpPr>
          <p:cNvPr id="198" name="Google Shape;198;p14"/>
          <p:cNvSpPr/>
          <p:nvPr/>
        </p:nvSpPr>
        <p:spPr>
          <a:xfrm>
            <a:off x="457200" y="1000000"/>
            <a:ext cx="11277600" cy="300000"/>
          </a:xfrm>
          <a:prstGeom prst="rect">
            <a:avLst/>
          </a:prstGeom>
          <a:solidFill>
            <a:srgbClr val="1F2557"/>
          </a:solidFill>
          <a:ln>
            <a:noFill/>
          </a:ln>
        </p:spPr>
        <p:txBody>
          <a:bodyPr anchorCtr="0" anchor="t" bIns="36000" lIns="91425" spcFirstLastPara="1" rIns="91425" wrap="square" tIns="36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Survey of representative works on intelligent transformer differential protection  (2010–2026)</a:t>
            </a:r>
            <a:endParaRPr/>
          </a:p>
        </p:txBody>
      </p:sp>
      <p:graphicFrame>
        <p:nvGraphicFramePr>
          <p:cNvPr id="199" name="Google Shape;199;p14"/>
          <p:cNvGraphicFramePr/>
          <p:nvPr/>
        </p:nvGraphicFramePr>
        <p:xfrm>
          <a:off x="457200" y="1370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{4CB3DED2-E355-457A-8DC3-35DA42202A1A}</a:tableStyleId>
              </a:tblPr>
              <a:tblGrid>
                <a:gridCol w="2280000"/>
                <a:gridCol w="1480000"/>
                <a:gridCol w="1700000"/>
                <a:gridCol w="1550000"/>
                <a:gridCol w="1780000"/>
                <a:gridCol w="2487600"/>
              </a:tblGrid>
              <a:tr h="53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Author / Year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F25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Transform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F25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Classifier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F25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Temporal Modelling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F25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HW Fallback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F25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Key Limitation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F2557"/>
                    </a:solidFill>
                  </a:tcPr>
                </a:tc>
              </a:tr>
              <a:tr h="46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F2557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Tripathy et al. (2010) IEEE Trans. PD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S-transform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ANN (MLP)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C0392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✗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C0392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✗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Fixed threshold; no CT saturation model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CE6F1"/>
                    </a:solidFill>
                  </a:tcPr>
                </a:tc>
              </a:tr>
              <a:tr h="46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F2557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Raichura et al. (2020) IET GTD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DWT (db4)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Adaptive 87T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C0392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✗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C0392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✗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AI veto; degraded at high Rf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46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F2557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Afrasiabi et al. (2020) IEEE TII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Raw samples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Accelerated DNN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C0392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✗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C0392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✗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Limited feature set; no time-freq decomposition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CE6F1"/>
                    </a:solidFill>
                  </a:tcPr>
                </a:tc>
              </a:tr>
              <a:tr h="46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F2557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Alhamd et al. (2024) EPSR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DWT (db5)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LSTM (1-layer)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27AE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✓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C0392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✗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Narrow Rf range; no CT saturation sweep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46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F2557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Key et al. (2025) IEEE Access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FFT + time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Dual-DNN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C0392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✗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C0392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✗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temporal context across windows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CE6F1"/>
                    </a:solidFill>
                  </a:tcPr>
                </a:tc>
              </a:tr>
              <a:tr h="53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This Work (2026) — Proposed Hybrid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F25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DWT db4 5-lv, 37-dim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F25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2-layer LSTM + attention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F25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solidFill>
                            <a:srgbClr val="F1C40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✓ 32-step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F25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solidFill>
                            <a:srgbClr val="F1C40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✓ 87T override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F25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F1C40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Addresses all prior gaps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F255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5"/>
          <p:cNvSpPr txBox="1"/>
          <p:nvPr>
            <p:ph type="title"/>
          </p:nvPr>
        </p:nvSpPr>
        <p:spPr>
          <a:xfrm>
            <a:off x="253050" y="14247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3200"/>
              <a:buFont typeface="Times New Roman"/>
              <a:buNone/>
            </a:pPr>
            <a:r>
              <a:rPr b="1" i="0" lang="en-US" sz="3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Quantitative Performance Benchmark  —  Extended Comparison</a:t>
            </a:r>
            <a:endParaRPr/>
          </a:p>
        </p:txBody>
      </p:sp>
      <p:graphicFrame>
        <p:nvGraphicFramePr>
          <p:cNvPr id="205" name="Google Shape;205;p15"/>
          <p:cNvGraphicFramePr/>
          <p:nvPr/>
        </p:nvGraphicFramePr>
        <p:xfrm>
          <a:off x="379750" y="146891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{4CB3DED2-E355-457A-8DC3-35DA42202A1A}</a:tableStyleId>
              </a:tblPr>
              <a:tblGrid>
                <a:gridCol w="2564550"/>
                <a:gridCol w="820650"/>
                <a:gridCol w="820650"/>
                <a:gridCol w="820650"/>
                <a:gridCol w="820650"/>
                <a:gridCol w="1333550"/>
              </a:tblGrid>
              <a:tr h="599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Scheme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F25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Acc. (%)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F25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Dep. (%)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F25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Sec. (%)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F25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FP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F25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Trip (ms)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F2557"/>
                    </a:solidFill>
                  </a:tcPr>
                </a:tc>
              </a:tr>
              <a:tr h="497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S-transform+ANN (Tripathy 2010)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93.8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93.1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91.4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26.4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</a:tr>
              <a:tr h="497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Adaptive 87T (Raichura 2020)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95.3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96.5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94.8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21.3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497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Conventional Harmonic Restraint 87T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95.8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94.2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92.5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23.5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</a:tr>
              <a:tr h="497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Accelerated DNN (Afrasiabi 2020)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96.2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95.8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94.9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22.1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497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Wavelet-ANN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97.1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97.1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95.8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21.0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</a:tr>
              <a:tr h="497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DWT-LSTM 1-layer (Alhamd 2024)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97.8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97.8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97.2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19.5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497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Dual-DNN (Key et al. 2025)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98.6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98.6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98.1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18.9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</a:tr>
              <a:tr h="599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5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Proposed Hybrid DWT-LSTM (This Work)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F25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50">
                          <a:solidFill>
                            <a:srgbClr val="F1C40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100.0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F25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50">
                          <a:solidFill>
                            <a:srgbClr val="F1C40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99.4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F25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50">
                          <a:solidFill>
                            <a:srgbClr val="F1C40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99.6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F25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50">
                          <a:solidFill>
                            <a:srgbClr val="F1C40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F25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50">
                          <a:solidFill>
                            <a:srgbClr val="F1C40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17.2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F2557"/>
                    </a:solidFill>
                  </a:tcPr>
                </a:tc>
              </a:tr>
            </a:tbl>
          </a:graphicData>
        </a:graphic>
      </p:graphicFrame>
      <p:sp>
        <p:nvSpPr>
          <p:cNvPr id="206" name="Google Shape;206;p15"/>
          <p:cNvSpPr/>
          <p:nvPr/>
        </p:nvSpPr>
        <p:spPr>
          <a:xfrm>
            <a:off x="7620000" y="1468925"/>
            <a:ext cx="4114800" cy="51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Takeaways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▶ Security gain: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+7.1 pp over CHR (92.5→99.6%); zero false positives on validation set.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▶ Speed gain: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17.2 ms vs. 23.5 ms (CHR) — a 2.6× speedup within the 1-cycle budget.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▶ FP reduction: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62 → 0 false positives; LSTM veto eliminates all inrush/CT-saturation false trips.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▶ Closest prior work: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et al. (2025) at 98.6/98.1% — still 5 FPs and 1.7 ms slower; no HW override.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 Prior-work metrics standardised to the same 1,000-run test bench. Acc. = overall accuracy. Dep. = dependability (internal-fault detection rate). Sec. = security (false-trip prevention rate).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3200"/>
              <a:buFont typeface="Times New Roman"/>
              <a:buNone/>
            </a:pPr>
            <a:r>
              <a:rPr b="1" i="0" lang="en-US" sz="3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Gap Analysis  —  Novelty and Differentiation</a:t>
            </a:r>
            <a:endParaRPr/>
          </a:p>
        </p:txBody>
      </p:sp>
      <p:sp>
        <p:nvSpPr>
          <p:cNvPr id="212" name="Google Shape;212;p16"/>
          <p:cNvSpPr/>
          <p:nvPr/>
        </p:nvSpPr>
        <p:spPr>
          <a:xfrm>
            <a:off x="577650" y="2053850"/>
            <a:ext cx="11277600" cy="350100"/>
          </a:xfrm>
          <a:prstGeom prst="rect">
            <a:avLst/>
          </a:prstGeom>
          <a:solidFill>
            <a:srgbClr val="1F2557"/>
          </a:solidFill>
          <a:ln>
            <a:noFill/>
          </a:ln>
        </p:spPr>
        <p:txBody>
          <a:bodyPr anchorCtr="0" anchor="t" bIns="50000" lIns="91425" spcFirstLastPara="1" rIns="91425" wrap="square" tIns="50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Dimension                                                                       Prior Work                                                                                     This Work</a:t>
            </a:r>
            <a:endParaRPr/>
          </a:p>
        </p:txBody>
      </p:sp>
      <p:graphicFrame>
        <p:nvGraphicFramePr>
          <p:cNvPr id="213" name="Google Shape;213;p16"/>
          <p:cNvGraphicFramePr/>
          <p:nvPr/>
        </p:nvGraphicFramePr>
        <p:xfrm>
          <a:off x="577650" y="2403950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{4CB3DED2-E355-457A-8DC3-35DA42202A1A}</a:tableStyleId>
              </a:tblPr>
              <a:tblGrid>
                <a:gridCol w="2700000"/>
                <a:gridCol w="4200000"/>
                <a:gridCol w="4377600"/>
              </a:tblGrid>
              <a:tr h="60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1F2557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Feature Representation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666666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Raw samples (Afrasiabi), single-stat DWT (Raichura), FFT magnitude only (Key 2025)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50">
                          <a:solidFill>
                            <a:srgbClr val="1F2557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37-dim db4 DWT (E, H, σ, M, MAD, K, Sk ×5 levels + I_diff, I_rest) — richest feature set in literature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6EAF8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1F2557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Temporal Modelling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666666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Single-window classification (Tripathy, Afrasiabi, Key); Alhamd LSTM operates per-window without sequence context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50">
                          <a:solidFill>
                            <a:srgbClr val="1F2557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32-step LSTM sequence with global temporal attention; captures waveform evolution not visible in any single window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6EAF8"/>
                    </a:solidFill>
                  </a:tcPr>
                </a:tc>
              </a:tr>
              <a:tr h="58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1F2557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Deterministic HW Override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666666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All prior AI-based methods rely solely on ML decision; no safety bypass if model unavailable or mis-classifies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50">
                          <a:solidFill>
                            <a:srgbClr val="1F2557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I_diff &gt; I_high_set bypasses LSTM unconditionally — IEC 60255-187-1 Class P2 compliant safety net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6EAF8"/>
                    </a:solidFill>
                  </a:tcPr>
                </a:tc>
              </a:tr>
              <a:tr h="58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1F2557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CT Saturation Robustness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666666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Most works do not model CT saturation; those that do test only one saturation level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50">
                          <a:solidFill>
                            <a:srgbClr val="1F2557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Full Jiles-Atherton saturation model; validated across ±2% CT-gain mismatch and 0–20 dB SNR sweep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6EAF8"/>
                    </a:solidFill>
                  </a:tcPr>
                </a:tc>
              </a:tr>
              <a:tr h="58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1F2557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Reproducibility &amp; Deployment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666666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Proprietary datasets and implementation details; no real-time deployment pathway demonstrated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50">
                          <a:solidFill>
                            <a:srgbClr val="1F2557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Open ONNX model + ControlPanel harness (1,000+ auto-logged runs); Simulink Deep Learning Toolbox deployment validated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6EAF8"/>
                    </a:solidFill>
                  </a:tcPr>
                </a:tc>
              </a:tr>
              <a:tr h="65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5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Novelty Summary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F25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50">
                          <a:solidFill>
                            <a:srgbClr val="F1C40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First work to combine: (i) richest DWT feature set (37-dim), (ii) 32-step temporal LSTM, (iii) confidence-gated AND-logic, and (iv) IEC-compliant HW override — in a single, reproducible, real-time-feasible framework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F25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3600"/>
              <a:buFont typeface="Times New Roman"/>
              <a:buNone/>
            </a:pPr>
            <a:r>
              <a:rPr b="1" i="0" lang="en-US" sz="36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Completion of Research Aims</a:t>
            </a:r>
            <a:endParaRPr/>
          </a:p>
        </p:txBody>
      </p:sp>
      <p:graphicFrame>
        <p:nvGraphicFramePr>
          <p:cNvPr id="219" name="Google Shape;219;p17"/>
          <p:cNvGraphicFramePr/>
          <p:nvPr/>
        </p:nvGraphicFramePr>
        <p:xfrm>
          <a:off x="502920" y="16916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{4CB3DED2-E355-457A-8DC3-35DA42202A1A}</a:tableStyleId>
              </a:tblPr>
              <a:tblGrid>
                <a:gridCol w="502925"/>
                <a:gridCol w="4846325"/>
                <a:gridCol w="4206250"/>
                <a:gridCol w="1600200"/>
              </a:tblGrid>
              <a:tr h="627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#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1F25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Specific objective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1F25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Deliverable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1F25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Status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1F2557"/>
                    </a:solidFill>
                  </a:tcPr>
                </a:tc>
              </a:tr>
              <a:tr h="627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①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Build high-fidelity Simulink plant  (230/11 kV, 300 MVA, Yd1)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TransformerWithCTSaturation.slx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2C5F2D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Completed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E6F3E8"/>
                    </a:solidFill>
                  </a:tcPr>
                </a:tc>
              </a:tr>
              <a:tr h="627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②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Adaptive dual-slope 87T + Yd1 / CT-ratio compensation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Hybrid_87T_Decision.m,  Yd1_Compensation.m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2C5F2D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Completed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E6F3E8"/>
                    </a:solidFill>
                  </a:tcPr>
                </a:tc>
              </a:tr>
              <a:tr h="627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③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DWT–LSTM classifier on 4 event classes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XFormer_LSTM_Final.ipynb  →  wt_lstm_relay.onnx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2C5F2D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Completed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E6F3E8"/>
                    </a:solidFill>
                  </a:tcPr>
                </a:tc>
              </a:tr>
              <a:tr h="627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④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Hybrid relay integration  (confidence + temporal check)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Hybrid 87T Relay subsystem  (Simulink)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2C5F2D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Completed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E6F3E8"/>
                    </a:solidFill>
                  </a:tcPr>
                </a:tc>
              </a:tr>
              <a:tr h="627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⑤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Validation under sweep / noise / saturation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Scenario-sweep log set  +  metrics report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2C5F2D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Completed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E6F3E8"/>
                    </a:solidFill>
                  </a:tcPr>
                </a:tc>
              </a:tr>
              <a:tr h="627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⑥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Benchmark vs CHR / W-ANN / W-SVM / Dual-DNN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Comparative analysis (slide 13 — draft results)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2C5F2D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Completed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E6F3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3600"/>
              <a:buFont typeface="Times New Roman"/>
              <a:buNone/>
            </a:pPr>
            <a:r>
              <a:rPr b="1" i="0" lang="en-US" sz="36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Justification of CO Achievement  (1 / 2)</a:t>
            </a:r>
            <a:endParaRPr/>
          </a:p>
        </p:txBody>
      </p:sp>
      <p:graphicFrame>
        <p:nvGraphicFramePr>
          <p:cNvPr id="225" name="Google Shape;225;p18"/>
          <p:cNvGraphicFramePr/>
          <p:nvPr/>
        </p:nvGraphicFramePr>
        <p:xfrm>
          <a:off x="502920" y="16916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{4CB3DED2-E355-457A-8DC3-35DA42202A1A}</a:tableStyleId>
              </a:tblPr>
              <a:tblGrid>
                <a:gridCol w="2743200"/>
                <a:gridCol w="731525"/>
                <a:gridCol w="7680950"/>
              </a:tblGrid>
              <a:tr h="1131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Indicators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1F25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1F25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Justification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1F2557"/>
                    </a:solidFill>
                  </a:tcPr>
                </a:tc>
              </a:tr>
              <a:tr h="1131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Problem formulation &amp; originality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CO1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Identified the conventional-87T failure modes on modern transformer cores (low-H₂ inrush, CT saturation) — framed the problem as a multi-class temporal classification.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1F2F6"/>
                    </a:solidFill>
                  </a:tcPr>
                </a:tc>
              </a:tr>
              <a:tr h="1131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Design &amp; Development of Solutions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CO2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Designed an end-to-end Simulink + Python pipeline: Yd1 compensation, dual-slope 87T, 5-level db4 DWT, 2-layer LSTM, confidence-thresholded decision logic with hardware override.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FFFFF"/>
                    </a:solidFill>
                  </a:tcPr>
                </a:tc>
              </a:tr>
              <a:tr h="1131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Technical Investigation, Result Analysis &amp; Objectives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CO3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Built a scenario sweep (1,000+ runs), evaluated dependability, security, operating time, and robustness against noise / CT saturation; compared against four baseline methods.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1F2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3600"/>
              <a:buFont typeface="Times New Roman"/>
              <a:buNone/>
            </a:pPr>
            <a:r>
              <a:rPr b="1" i="0" lang="en-US" sz="36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Justification of CO Achievement  (2 / 2)</a:t>
            </a:r>
            <a:endParaRPr/>
          </a:p>
        </p:txBody>
      </p:sp>
      <p:graphicFrame>
        <p:nvGraphicFramePr>
          <p:cNvPr id="231" name="Google Shape;231;p19"/>
          <p:cNvGraphicFramePr/>
          <p:nvPr/>
        </p:nvGraphicFramePr>
        <p:xfrm>
          <a:off x="502920" y="16916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{4CB3DED2-E355-457A-8DC3-35DA42202A1A}</a:tableStyleId>
              </a:tblPr>
              <a:tblGrid>
                <a:gridCol w="2743200"/>
                <a:gridCol w="731525"/>
                <a:gridCol w="7680950"/>
              </a:tblGrid>
              <a:tr h="905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Indicators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1F25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1F25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Justification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1F2557"/>
                    </a:solidFill>
                  </a:tcPr>
                </a:tc>
              </a:tr>
              <a:tr h="905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Modern Tool Usage &amp; Demonstration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CO4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Used MATLAB R2023a + Simulink + Simscape Electrical, Wavelet &amp; DSP Toolboxes, PyTorch, scikit-learn, ONNX, and Deep Learning Toolbox — combining industry-standard tools end-to-end.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1F2F6"/>
                    </a:solidFill>
                  </a:tcPr>
                </a:tc>
              </a:tr>
              <a:tr h="905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Assessment of Impact on Society &amp; Environment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CO5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Reliable transformer protection reduces unplanned outages, prevents oil-fire and environmental damage, and improves grid stability — directly benefiting public safety, the economy, and the SDG 7 (Affordable &amp; Clean Energy) goals.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FFFFF"/>
                    </a:solidFill>
                  </a:tcPr>
                </a:tc>
              </a:tr>
              <a:tr h="905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Engineering Ethics &amp; Professional Responsibility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CO6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Honest reporting of indicative vs final results, transparent acknowledgement of remaining open issues, and full source-code disclosure on GitHub for reproducibility.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1F2F6"/>
                    </a:solidFill>
                  </a:tcPr>
                </a:tc>
              </a:tr>
              <a:tr h="905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Team &amp; Communication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CO7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10101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Regular supervisor review meetings; thesis, paper draft, and presentation prepared and revised under guidance; oral defense to a panel.</a:t>
                      </a:r>
                      <a:endParaRPr/>
                    </a:p>
                  </a:txBody>
                  <a:tcPr marT="36575" marB="36575" marR="54875" marL="73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3600"/>
              <a:buFont typeface="Times New Roman"/>
              <a:buNone/>
            </a:pPr>
            <a:r>
              <a:rPr b="1" i="0" lang="en-US" sz="36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/>
          </a:p>
        </p:txBody>
      </p:sp>
      <p:sp>
        <p:nvSpPr>
          <p:cNvPr id="237" name="Google Shape;237;p2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this thesis delivered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101010"/>
              </a:buClr>
              <a:buSzPts val="1600"/>
              <a:buChar char="•"/>
            </a:pPr>
            <a:r>
              <a:rPr b="0" i="0" lang="en-US" sz="16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reproducible, simulation-based hybrid relay framework for transformer differential protection.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101010"/>
              </a:buClr>
              <a:buSzPts val="1600"/>
              <a:buChar char="•"/>
            </a:pPr>
            <a:r>
              <a:rPr b="0" i="0" lang="en-US" sz="16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37-dim DWT feature representation combined with a two-layer LSTM provides robust discrimination of the four primary event classes.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101010"/>
              </a:buClr>
              <a:buSzPts val="1600"/>
              <a:buChar char="•"/>
            </a:pPr>
            <a:r>
              <a:rPr b="0" i="0" lang="en-US" sz="16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conventional 87T element is preserved as a hardware-speed override, ensuring fail-safe operation even if the AI block fails.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101010"/>
              </a:buClr>
              <a:buSzPts val="1600"/>
              <a:buChar char="•"/>
            </a:pPr>
            <a:r>
              <a:rPr b="0" i="0" lang="en-US" sz="16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Validated under CT saturation, noise, and high-resistance fault conditions.</a:t>
            </a:r>
            <a:endParaRPr/>
          </a:p>
        </p:txBody>
      </p:sp>
      <p:sp>
        <p:nvSpPr>
          <p:cNvPr id="238" name="Google Shape;238;p2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contributions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101010"/>
              </a:buClr>
              <a:buSzPts val="1600"/>
              <a:buChar char="•"/>
            </a:pPr>
            <a:r>
              <a:rPr b="0" i="0" lang="en-US" sz="16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①  Comprehensive 37-dim DWT feature set (vs 2–4 in prior work).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101010"/>
              </a:buClr>
              <a:buSzPts val="1600"/>
              <a:buChar char="•"/>
            </a:pPr>
            <a:r>
              <a:rPr b="0" i="0" lang="en-US" sz="16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②  Temporal modelling via stacked LSTM with consecutive-window consistency check.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101010"/>
              </a:buClr>
              <a:buSzPts val="1600"/>
              <a:buChar char="•"/>
            </a:pPr>
            <a:r>
              <a:rPr b="0" i="0" lang="en-US" sz="16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③  Hybrid handshake with hardware fallback — IEC 60255 compliant.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101010"/>
              </a:buClr>
              <a:buSzPts val="1600"/>
              <a:buChar char="•"/>
            </a:pPr>
            <a:r>
              <a:rPr b="0" i="0" lang="en-US" sz="16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④  Validation matrix across 1,000+ scenarios incl. realistic CT, noise, and CT-gain mismatch.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101010"/>
              </a:buClr>
              <a:buSzPts val="1600"/>
              <a:buChar char="•"/>
            </a:pPr>
            <a:r>
              <a:rPr b="0" i="0" lang="en-US" sz="16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⑤  Open-source release of plant model, training notebook, and trained ONNX model.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3600"/>
              <a:buFont typeface="Times New Roman"/>
              <a:buNone/>
            </a:pPr>
            <a:r>
              <a:rPr b="1" i="0" lang="en-US" sz="36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Prospects</a:t>
            </a:r>
            <a:endParaRPr/>
          </a:p>
        </p:txBody>
      </p:sp>
      <p:sp>
        <p:nvSpPr>
          <p:cNvPr id="244" name="Google Shape;244;p2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Short-term  (next 6 – 12 months)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101010"/>
              </a:buClr>
              <a:buSzPts val="1600"/>
              <a:buChar char="•"/>
            </a:pPr>
            <a:r>
              <a:rPr b="0" i="0" lang="en-US" sz="16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Hardware-in-the-loop (HIL) validation on an RTDS / OPAL-RT bench.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101010"/>
              </a:buClr>
              <a:buSzPts val="1600"/>
              <a:buChar char="•"/>
            </a:pPr>
            <a:r>
              <a:rPr b="0" i="0" lang="en-US" sz="16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Field-record (COMTRADE) replay to validate against real disturbances.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101010"/>
              </a:buClr>
              <a:buSzPts val="1600"/>
              <a:buChar char="•"/>
            </a:pPr>
            <a:r>
              <a:rPr b="0" i="0" lang="en-US" sz="16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Quantisation-aware re-training and deployment on a relay-class FPGA / DSP.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101010"/>
              </a:buClr>
              <a:buSzPts val="1600"/>
              <a:buChar char="•"/>
            </a:pPr>
            <a:r>
              <a:rPr b="0" i="0" lang="en-US" sz="16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Robustness study under cyber-perturbed measurements.</a:t>
            </a:r>
            <a:endParaRPr/>
          </a:p>
        </p:txBody>
      </p:sp>
      <p:sp>
        <p:nvSpPr>
          <p:cNvPr id="245" name="Google Shape;245;p2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2200"/>
              <a:buChar char="•"/>
            </a:pPr>
            <a:r>
              <a:rPr b="1" i="0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Long-term  (research directions)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101010"/>
              </a:buClr>
              <a:buSzPts val="1600"/>
              <a:buChar char="•"/>
            </a:pPr>
            <a:r>
              <a:rPr b="0" i="0" lang="en-US" sz="16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Transfer learning to different transformer ratings &amp; vector groups.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101010"/>
              </a:buClr>
              <a:buSzPts val="1600"/>
              <a:buChar char="•"/>
            </a:pPr>
            <a:r>
              <a:rPr b="0" i="0" lang="en-US" sz="16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Online (continual) learning to track ageing CTs and core characteristics.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101010"/>
              </a:buClr>
              <a:buSzPts val="1600"/>
              <a:buChar char="•"/>
            </a:pPr>
            <a:r>
              <a:rPr b="0" i="0" lang="en-US" sz="16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Explainable-AI overlay (attention / SHAP) for protection-engineer trust.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101010"/>
              </a:buClr>
              <a:buSzPts val="1600"/>
              <a:buChar char="•"/>
            </a:pPr>
            <a:r>
              <a:rPr b="0" i="0" lang="en-US" sz="16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Extension to busbar, generator, and line differential schemes.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101010"/>
              </a:buClr>
              <a:buSzPts val="1600"/>
              <a:buChar char="•"/>
            </a:pPr>
            <a:r>
              <a:rPr b="0" i="0" lang="en-US" sz="1600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Wide-area protection coordination with PMU streams.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557"/>
              </a:buClr>
              <a:buSzPts val="6000"/>
              <a:buFont typeface="Times New Roman"/>
              <a:buNone/>
            </a:pPr>
            <a:r>
              <a:rPr b="1" i="0" lang="en-US" sz="60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/>
          </a:p>
        </p:txBody>
      </p:sp>
      <p:sp>
        <p:nvSpPr>
          <p:cNvPr id="251" name="Google Shape;251;p2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t/>
            </a:r>
            <a:endParaRPr sz="2400">
              <a:solidFill>
                <a:srgbClr val="88888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2" name="Google Shape;252;p22"/>
          <p:cNvSpPr txBox="1"/>
          <p:nvPr/>
        </p:nvSpPr>
        <p:spPr>
          <a:xfrm>
            <a:off x="502920" y="4251960"/>
            <a:ext cx="11155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200">
                <a:solidFill>
                  <a:srgbClr val="1F25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welcome the committee’s questions.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2026-05-12T19:17:03Z</dcterms:created>
  <dc:creator>Md. Ikrama Hossain</dc:creator>
</cp:coreProperties>
</file>