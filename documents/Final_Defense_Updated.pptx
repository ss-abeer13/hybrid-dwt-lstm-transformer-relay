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4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983480"/>
            <a:ext cx="112745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B0C8E8"/>
                </a:solidFill>
                <a:latin typeface="Calibri"/>
              </a:rPr>
              <a:t>Department of Electrical, Electronic and Communication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B0C8E8"/>
                </a:solidFill>
                <a:latin typeface="Calibri"/>
              </a:rPr>
              <a:t>Military Institute of Science and Technology (MIST)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Hybrid Adaptive Transformer
Differential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 i="0">
                <a:solidFill>
                  <a:srgbClr val="F0A500"/>
                </a:solidFill>
                <a:latin typeface="Calibri"/>
              </a:rPr>
              <a:t>An Intelligent DWT – LSTM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794760"/>
            <a:ext cx="57881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Final Thesis Defense  —  B.Sc. in EEE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B0C8E8"/>
                </a:solidFill>
                <a:latin typeface="Calibri"/>
              </a:rPr>
              <a:t>Date:  ##th Month,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566160" cy="9144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2893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930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Research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Why this problem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234440"/>
            <a:ext cx="3566160" cy="9144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12893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28930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What has been done before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3566160" cy="9144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2893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28930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Research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7099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What this thesis aims to achieve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31720"/>
            <a:ext cx="3566160" cy="9144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3865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3865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Proposed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8072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How the system 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331720"/>
            <a:ext cx="3566160" cy="9144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3672" y="23865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3865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8072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Simulink model &amp; AI 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2331720"/>
            <a:ext cx="3566160" cy="9144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4152" y="23865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3865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Results &amp;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8072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Performance and stress testing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29000"/>
            <a:ext cx="3566160" cy="9144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34838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48386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904487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C0D8F0"/>
                </a:solidFill>
                <a:latin typeface="Calibri"/>
              </a:rPr>
              <a:t>Key contributions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Research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881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Problem: Power Transformers Are Critical — and Costly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Why protecting them correctly is essential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49240" cy="2560320"/>
          </a:xfrm>
          <a:prstGeom prst="rect">
            <a:avLst/>
          </a:prstGeom>
          <a:solidFill>
            <a:srgbClr val="E8F4FD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1206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C3557"/>
                </a:solidFill>
                <a:latin typeface="Calibri"/>
              </a:rPr>
              <a:t>Why transformers matter</a:t>
            </a:r>
          </a:p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▸  A single 132/11 kV unit costs USD 1 – 3 million</a:t>
            </a:r>
          </a:p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▸  Weeks or months to replace if damaged</a:t>
            </a:r>
          </a:p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▸  A failed transformer can knock out power to an entire region</a:t>
            </a:r>
          </a:p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▸  Oil-fire risk if an internal fault is not cleared fast enough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234440"/>
            <a:ext cx="5925312" cy="256032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325880"/>
            <a:ext cx="56692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7B4F00"/>
                </a:solidFill>
                <a:latin typeface="Calibri"/>
              </a:rPr>
              <a:t>Protection requirement</a:t>
            </a:r>
          </a:p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▸  A fault must be detected in &lt; 20 ms (one power cycle at 50 Hz)</a:t>
            </a:r>
          </a:p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▸  Both speed and accuracy are non-negotiable</a:t>
            </a:r>
          </a:p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▸  A missed fault = equipment destroyed</a:t>
            </a:r>
          </a:p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▸  A false trip = unnecessary outage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977639"/>
            <a:ext cx="11548872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C3557"/>
                </a:solidFill>
                <a:latin typeface="Calibri"/>
              </a:rPr>
              <a:t>⚡  The standard protection method — the 87T differential relay — works well in most cases, but breaks down in two very specific situations.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Differential Protection (87T)?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The standard way to protect a power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C3557"/>
                </a:solidFill>
                <a:latin typeface="Calibri"/>
              </a:rPr>
              <a:t>The basic idea is simple:</a:t>
            </a:r>
          </a:p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Current going into the transformer should equal current coming out.</a:t>
            </a:r>
          </a:p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If they don't match, something is wrong inside — trip the breaker.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514600"/>
            <a:ext cx="2743200" cy="38404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5603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Measure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98648"/>
            <a:ext cx="2743200" cy="192024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3017520"/>
            <a:ext cx="2560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Measure current on both the high-voltage (HV) and low-voltage (LV) sides using current transformers (CTs).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2696" y="2514600"/>
            <a:ext cx="2743200" cy="38404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82696" y="25603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2898648"/>
            <a:ext cx="2743200" cy="192024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3017520"/>
            <a:ext cx="2560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Calculate the difference:   I_diff = I_HV – I_LV   (after correcting for the transformer's winding ratio).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2514600"/>
            <a:ext cx="2743200" cy="38404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25603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2898648"/>
            <a:ext cx="2743200" cy="192024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017520"/>
            <a:ext cx="2560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If I_diff exceeds a threshold (pickup setting), the relay sends a TRIP command to open the circuit breakers.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8008" y="2514600"/>
            <a:ext cx="2743200" cy="38404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25603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Bias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08008" y="2898648"/>
            <a:ext cx="2743200" cy="192024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3017520"/>
            <a:ext cx="2560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 'restraint' current I_rest is used to avoid false trips during large through-fault currents — the threshold automatically scales up.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754880"/>
            <a:ext cx="11548872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  <a:latin typeface="Calibri"/>
              </a:rPr>
              <a:t>✔  Simple, fast, and proven — but it relies on one assumption: only a genuine internal fault creates a differential current.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the Conventional 87T Breaks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Two scenarios that fool the relay into false trips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486400" cy="3840480"/>
          </a:xfrm>
          <a:prstGeom prst="rect">
            <a:avLst/>
          </a:prstGeom>
          <a:solidFill>
            <a:srgbClr val="FFEBEB"/>
          </a:solidFill>
          <a:ln w="1524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C02020"/>
                </a:solidFill>
                <a:latin typeface="Calibri"/>
              </a:rPr>
              <a:t>⚠  Problem 1: Magnetizing Inrush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25780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When a transformer is first switched on, the magnetic core momentarily saturates.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This pulls 6 – 10× rated current on the HV side only.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The relay sees a huge I_diff — but there is NO fault.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Traditional fix: detect the 2nd harmonic in the current (it's high during inrush).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Problem: Modern transformer cores produce very low 2nd harmonic (&lt; 15 %) — so the fix no longer works reliably.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2512" y="1234440"/>
            <a:ext cx="5486400" cy="3840480"/>
          </a:xfrm>
          <a:prstGeom prst="rect">
            <a:avLst/>
          </a:prstGeom>
          <a:solidFill>
            <a:srgbClr val="FFEBEB"/>
          </a:solidFill>
          <a:ln w="1524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C02020"/>
                </a:solidFill>
                <a:latin typeface="Calibri"/>
              </a:rPr>
              <a:t>⚠  Problem 2: CT Saturation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30352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A fault outside the transformer (external fault) can cause a very high current.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This saturates the measurement CT — the CT output gets clipped and distorted.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The distorted signals look unbalanced → relay calculates a false I_diff.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Result: the relay trips even though the transformer is fine — a false trip on an external event.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Fixed thresholds and slope settings cannot handle both inrush and CT saturation at the same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230368"/>
            <a:ext cx="11548872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C3557"/>
                </a:solidFill>
                <a:latin typeface="Calibri"/>
              </a:rPr>
              <a:t>➜  We need something smarter — a system that understands the difference between a false alarm and a real fault.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Moving from fixed rules to learned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C3557"/>
                </a:solidFill>
                <a:latin typeface="Calibri"/>
              </a:rPr>
              <a:t>The core insight:</a:t>
            </a:r>
          </a:p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Inrush, CT saturation, external faults, and internal faults each leave a unique fingerprint in the current waveform.</a:t>
            </a:r>
          </a:p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A trained AI model can learn to tell them apart — even in noisy, real-world conditions.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514600"/>
            <a:ext cx="411480" cy="8229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6974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11091672" cy="82296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Pattern recognition:  AI sees the shape, frequency content, and time evolution of the signal — not just one number.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429000"/>
            <a:ext cx="411480" cy="8229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6118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11091672" cy="82296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Learns from data:  Trained on thousands of simulated scenarios including noise, CT errors, and varying fault resistances.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343400"/>
            <a:ext cx="411480" cy="8229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5262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43400"/>
            <a:ext cx="11091672" cy="82296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Temporal memory:  LSTM (Long Short-Term Memory) networks remember what happened in previous time windows — crucial for distinguishing inrush from faults.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257800"/>
            <a:ext cx="411480" cy="8229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54406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257800"/>
            <a:ext cx="11091672" cy="82296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34924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Keeps hardware backup:  The AI acts as a veto on the existing 87T relay — if the AI is unsure, the conventional relay still operates at hardware speed.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881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This Field Has Evolved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From simple rules to intelligent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801368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18013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1960s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801368" cy="41148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828800"/>
            <a:ext cx="16550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C3557"/>
                </a:solidFill>
                <a:latin typeface="Calibri"/>
              </a:rPr>
              <a:t>Fixed Harmonic Restraint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395728"/>
            <a:ext cx="165506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Detected inrush by measuring the 2nd harmonic. Simple but fooled by modern low-loss cores.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39" y="1234440"/>
            <a:ext cx="1801368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39" y="1234440"/>
            <a:ext cx="18013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1990s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39" y="1737360"/>
            <a:ext cx="1801368" cy="41148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1" y="1828800"/>
            <a:ext cx="16550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C3557"/>
                </a:solidFill>
                <a:latin typeface="Calibri"/>
              </a:rPr>
              <a:t>Adaptive Pickup &amp; Dual-Slope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2395728"/>
            <a:ext cx="165506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Threshold adjusts based on operating conditions. Better, but still rule-based.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59" y="1234440"/>
            <a:ext cx="1801368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59" y="1234440"/>
            <a:ext cx="18013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2000s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59" y="1737360"/>
            <a:ext cx="1801368" cy="41148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96511" y="1828800"/>
            <a:ext cx="16550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C3557"/>
                </a:solidFill>
                <a:latin typeface="Calibri"/>
              </a:rPr>
              <a:t>Wavelet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1" y="2395728"/>
            <a:ext cx="165506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Decomposed the signal into frequency bands. Captured the time-frequency fingerprint of faults.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79" y="1234440"/>
            <a:ext cx="1801368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79" y="1234440"/>
            <a:ext cx="18013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2010s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79" y="1737360"/>
            <a:ext cx="1801368" cy="41148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1031" y="1828800"/>
            <a:ext cx="16550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C3557"/>
                </a:solidFill>
                <a:latin typeface="Calibri"/>
              </a:rPr>
              <a:t>Wavelet + ANN / SVM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1" y="2395728"/>
            <a:ext cx="165506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Combined wavelet features with shallow neural networks. Good accuracy but limited temporal awareness.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234440"/>
            <a:ext cx="1801368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1234440"/>
            <a:ext cx="18013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2020s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737360"/>
            <a:ext cx="1801368" cy="41148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1828800"/>
            <a:ext cx="16550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C3557"/>
                </a:solidFill>
                <a:latin typeface="Calibri"/>
              </a:rPr>
              <a:t>Deep Learning (CNN, LSTM, DNN)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2395728"/>
            <a:ext cx="165506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End-to-end learning directly from raw or wavelet features. State-of-the-art accuracy.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234440"/>
            <a:ext cx="1801368" cy="5029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1234440"/>
            <a:ext cx="180136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This 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46920" y="1737360"/>
            <a:ext cx="1801368" cy="4114800"/>
          </a:xfrm>
          <a:prstGeom prst="rect">
            <a:avLst/>
          </a:prstGeom>
          <a:solidFill>
            <a:srgbClr val="E8F0FF"/>
          </a:solidFill>
          <a:ln w="1524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0072" y="1828800"/>
            <a:ext cx="16550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C3557"/>
                </a:solidFill>
                <a:latin typeface="Calibri"/>
              </a:rPr>
              <a:t>Hybrid DWT–LSTM + Adaptive 87T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2395728"/>
            <a:ext cx="165506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Best of both worlds: deep AI veto layer on top of the proven conventional relay.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the Best Prior Works Did — and Missed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Gaps this thesis addresses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971800" cy="4572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34440"/>
            <a:ext cx="4114800" cy="4572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344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What they did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234440"/>
            <a:ext cx="4142232" cy="4572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234440"/>
            <a:ext cx="41422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What was missing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297180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783080"/>
            <a:ext cx="2788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Afrasiabi et al.
(2020, IEEE TII)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691640"/>
            <a:ext cx="411480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78308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Deep neural network accelerated for real-time 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691640"/>
            <a:ext cx="4142232" cy="96012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783080"/>
            <a:ext cx="39593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Feature set was narrow; only a few signal statistics 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88336"/>
            <a:ext cx="297180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779776"/>
            <a:ext cx="2788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Key et al.
(2025, IEEE Access)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688336"/>
            <a:ext cx="411480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779776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Fused time-domain and frequency-domain inputs into dual DNN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688336"/>
            <a:ext cx="4142232" cy="96012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779776"/>
            <a:ext cx="39593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No memory of past windows; 5 false positives in test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85032"/>
            <a:ext cx="297180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776472"/>
            <a:ext cx="2788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Alhamd et al.
(2024)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685032"/>
            <a:ext cx="411480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776472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Improved wavelet features combined with LSTM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685032"/>
            <a:ext cx="4142232" cy="96012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776472"/>
            <a:ext cx="39593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Narrow test range; CT saturation not modelled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681728"/>
            <a:ext cx="297180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4773168"/>
            <a:ext cx="2788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Raichura et al.
(2020)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4681728"/>
            <a:ext cx="411480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4773168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Adaptive 87T pickup that adjusts automatically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681728"/>
            <a:ext cx="4142232" cy="96012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773168"/>
            <a:ext cx="395935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No AI classifier; rules alone still misclassify inrush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5532120"/>
            <a:ext cx="11548872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C3557"/>
                </a:solidFill>
                <a:latin typeface="Calibri"/>
              </a:rPr>
              <a:t>▸  This thesis addresses all four gaps simultaneously: 37-dim features + LSTM memory + hardware fallback + comprehensive stress testing.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881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Research Objectives — 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1548872" cy="13716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  <a:latin typeface="Calibri"/>
              </a:rPr>
              <a:t>Primary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Design, implement, and validate a hybrid transformer differential protection scheme that combines wavelet-based signal analysis (DWT) with a deep learning temporal classifier (LSTM) — supervised by the conventional 87T relay with a hardware fallback for fail-safe operation.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88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C3557"/>
                </a:solidFill>
                <a:latin typeface="Calibri"/>
              </a:rPr>
              <a:t>In plain terms: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13385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Build a smart relay that uses AI to decide whether a trip signal is real or a false alarm,</a:t>
            </a:r>
          </a:p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while keeping the original relay as a backup that can always override the AI if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023360"/>
            <a:ext cx="11548872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1145743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  <a:latin typeface="Calibri"/>
              </a:rPr>
              <a:t>Scope:  Simulation-based validation in MATLAB/Simulink.  Hardware-in-loop and field testing are designated as future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Specific Objectives — Six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Each measurable and verifiable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486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5486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①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34440"/>
            <a:ext cx="10817352" cy="71323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2588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High-fidelity plant model:  Build a 230/11 kV, 300 MVA, Yd1 transformer model in Simulink with realistic CT saturation, inrush injection, and fault blocks.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29968"/>
            <a:ext cx="5486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121408"/>
            <a:ext cx="5486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029968"/>
            <a:ext cx="10817352" cy="71323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21408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Adaptive 87T relay element:  Implement a dual-slope differential relay with Yd1 vector-group and CT-ratio compensation.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25496"/>
            <a:ext cx="5486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916936"/>
            <a:ext cx="5486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825496"/>
            <a:ext cx="10817352" cy="71323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916936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DWT–LSTM classifier:  Train a classifier to separate four event classes: Normal, Inrush, External Fault, Internal Fault.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21024"/>
            <a:ext cx="5486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712464"/>
            <a:ext cx="5486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621024"/>
            <a:ext cx="10817352" cy="71323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712464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Hybrid integration:  Connect the AI and the 87T relay with a confidence threshold + temporal consistency check before issuing a trip.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416552"/>
            <a:ext cx="5486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507992"/>
            <a:ext cx="5486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416552"/>
            <a:ext cx="10817352" cy="71323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507992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Full validation:  Test dependability, security, operating speed, and robustness under noise, CT errors, and varying fault resistance.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212080"/>
            <a:ext cx="548640" cy="7132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303520"/>
            <a:ext cx="5486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5212080"/>
            <a:ext cx="10817352" cy="71323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30352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Benchmark comparison:  Compare against four prior-work baselines on the same 1,000-run test bench.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Proposed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881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Overview: The Six-Stage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How raw CT measurements become a trip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45920"/>
            <a:ext cx="1783080" cy="4572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Calibri"/>
              </a:rPr>
              <a:t>①  CT Signals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1783080" cy="1645919"/>
          </a:xfrm>
          <a:prstGeom prst="rect">
            <a:avLst/>
          </a:prstGeom>
          <a:solidFill>
            <a:srgbClr val="F5F7FA"/>
          </a:solidFill>
          <a:ln w="1524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240280"/>
            <a:ext cx="16002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Measure 3-phase currents on HV and LV sides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468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E6DA4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645920"/>
            <a:ext cx="1783080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64592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②  Compensation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103120"/>
            <a:ext cx="1783080" cy="1645919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240280"/>
            <a:ext cx="16002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Correct for Yd1 winding shift and CT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7" y="2468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E6DA4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645920"/>
            <a:ext cx="1783080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64592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③  DWT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103120"/>
            <a:ext cx="1783080" cy="1645919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40280"/>
            <a:ext cx="16002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Decompose one cycle of I_diff into frequency bands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468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E6DA4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645920"/>
            <a:ext cx="1783080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64592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④ 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103120"/>
            <a:ext cx="1783080" cy="1645919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240280"/>
            <a:ext cx="16002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Extract 37 signal statistics from wavelet bands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468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E6DA4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1645920"/>
            <a:ext cx="1783080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64592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⑤  LSTM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2103120"/>
            <a:ext cx="1783080" cy="1645919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240280"/>
            <a:ext cx="16002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Classify into: Normal / Inrush / External / Internal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2468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E6DA4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78440" y="1645920"/>
            <a:ext cx="1783080" cy="4572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164592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Calibri"/>
              </a:rPr>
              <a:t>⑥ 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78440" y="2103120"/>
            <a:ext cx="1783080" cy="1645919"/>
          </a:xfrm>
          <a:prstGeom prst="rect">
            <a:avLst/>
          </a:prstGeom>
          <a:solidFill>
            <a:srgbClr val="F5F7FA"/>
          </a:solidFill>
          <a:ln w="1524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9880" y="2240280"/>
            <a:ext cx="16002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Hybrid logic → TRIP or BLOCK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931920"/>
            <a:ext cx="11548872" cy="4572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7B4F00"/>
                </a:solidFill>
                <a:latin typeface="Calibri"/>
              </a:rPr>
              <a:t>Hardware Override:  If I_diff &gt; I_high_set (a very large threshold), the relay trips immediately at hardware speed — no AI needed.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Stages 1 &amp; 2: Measuring and Compensating the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Turning raw CT readings into comparable differential currents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486400" cy="4663440"/>
          </a:xfrm>
          <a:prstGeom prst="rect">
            <a:avLst/>
          </a:prstGeom>
          <a:solidFill>
            <a:srgbClr val="E8F4FD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C3557"/>
                </a:solidFill>
                <a:latin typeface="Calibri"/>
              </a:rPr>
              <a:t>What the CTs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21208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HV side: 2000 / 5 A current transformers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LV side: 41,822 / 5 A current transformers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Both sides scale down to 5 A secondary for safety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Six current channels in total (3 phases × 2 sides)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Sampled at 10 kHz → 200 samples per 20 ms 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5742432" cy="466344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25880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7B4F00"/>
                </a:solidFill>
                <a:latin typeface="Calibri"/>
              </a:rPr>
              <a:t>Why compensation is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53949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The Yd1 transformer has a 30° phase shift between HV and LV.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If we subtract currents directly, we get a false 30° mismatch.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Compensation rotates the LV phasors to match the HV side.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CT-ratio compensation scales both sides to the same per-unit base.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After this step: I_diff = I_HV(pu) – I_LV(pu) is meaningful.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Stage 3: DWT — Breaking the Signal into Frequency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Like a prism splitting white light into colours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57432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One cycle (20 ms) of the differential current is passed through a Daubechies-4 (db4) wavelet filter at 5 levels of decomposition.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1810512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965960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cD₁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23160"/>
            <a:ext cx="1810512" cy="9144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24688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C3557"/>
                </a:solidFill>
                <a:latin typeface="Calibri"/>
              </a:rPr>
              <a:t>2500 – 5000 Hz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37560"/>
            <a:ext cx="1810512" cy="1554480"/>
          </a:xfrm>
          <a:prstGeom prst="rect">
            <a:avLst/>
          </a:prstGeom>
          <a:solidFill>
            <a:srgbClr val="F0F4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3410712"/>
            <a:ext cx="170078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Very high-freq transients (fault inception spikes)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7127" y="1965960"/>
            <a:ext cx="1810512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7127" y="1965960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cD₂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7127" y="2423160"/>
            <a:ext cx="1810512" cy="9144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1991" y="24688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C3557"/>
                </a:solidFill>
                <a:latin typeface="Calibri"/>
              </a:rPr>
              <a:t>1250 – 2500 Hz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7127" y="3337560"/>
            <a:ext cx="1810512" cy="1554480"/>
          </a:xfrm>
          <a:prstGeom prst="rect">
            <a:avLst/>
          </a:prstGeom>
          <a:solidFill>
            <a:srgbClr val="F0F4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1" y="3410712"/>
            <a:ext cx="170078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High-freq components (arcing, fault transients)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5" y="1965960"/>
            <a:ext cx="1810512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9935" y="1965960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cD₃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59935" y="2423160"/>
            <a:ext cx="1810512" cy="9144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9" y="24688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C3557"/>
                </a:solidFill>
                <a:latin typeface="Calibri"/>
              </a:rPr>
              <a:t>625 – 1250 Hz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5" y="3337560"/>
            <a:ext cx="1810512" cy="1554480"/>
          </a:xfrm>
          <a:prstGeom prst="rect">
            <a:avLst/>
          </a:prstGeom>
          <a:solidFill>
            <a:srgbClr val="F0F4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9" y="3410712"/>
            <a:ext cx="170078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Mid-high — harmonics above 10th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52743" y="1965960"/>
            <a:ext cx="1810512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52743" y="1965960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cD₄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3" y="2423160"/>
            <a:ext cx="1810512" cy="9144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07607" y="24688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C3557"/>
                </a:solidFill>
                <a:latin typeface="Calibri"/>
              </a:rPr>
              <a:t>312 –  625 Hz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52743" y="3337560"/>
            <a:ext cx="1810512" cy="1554480"/>
          </a:xfrm>
          <a:prstGeom prst="rect">
            <a:avLst/>
          </a:prstGeom>
          <a:solidFill>
            <a:srgbClr val="F0F4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07607" y="3410712"/>
            <a:ext cx="170078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Mid — 6th to 12th harmonic 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45552" y="1965960"/>
            <a:ext cx="1810512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45552" y="1965960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cD₅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45552" y="2423160"/>
            <a:ext cx="1810512" cy="9144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0416" y="24688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C3557"/>
                </a:solidFill>
                <a:latin typeface="Calibri"/>
              </a:rPr>
              <a:t>156 –  312 Hz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45552" y="3337560"/>
            <a:ext cx="1810512" cy="1554480"/>
          </a:xfrm>
          <a:prstGeom prst="rect">
            <a:avLst/>
          </a:prstGeom>
          <a:solidFill>
            <a:srgbClr val="F0F4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0416" y="3410712"/>
            <a:ext cx="170078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Low-mid — 3rd to 6th harmonic range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38360" y="1965960"/>
            <a:ext cx="1810512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1965960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8360" y="2423160"/>
            <a:ext cx="1810512" cy="9144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93224" y="24688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C3557"/>
                </a:solidFill>
                <a:latin typeface="Calibri"/>
              </a:rPr>
              <a:t>0 –  156 Hz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38360" y="3337560"/>
            <a:ext cx="1810512" cy="1554480"/>
          </a:xfrm>
          <a:prstGeom prst="rect">
            <a:avLst/>
          </a:prstGeom>
          <a:solidFill>
            <a:srgbClr val="F0F4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93224" y="3410712"/>
            <a:ext cx="170078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Approximation — fundamental + DC component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5166360"/>
            <a:ext cx="11548872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  <a:latin typeface="Calibri"/>
              </a:rPr>
              <a:t>Why db4?  Its smooth shape closely matches the shape of typical power-system transients, giving the best feature separation.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Stage 4: Extracting 37 Signal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Each feature captures a different aspect of the fault signature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3200400" cy="5669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53312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 —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261872"/>
            <a:ext cx="8348472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353312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Total power in the band.  Internal faults → high energy in cD₁/cD₂.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3200400" cy="5669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965960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 — Entropy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874519"/>
            <a:ext cx="8348472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65960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Randomness of the signal.  Inrush is more disordered than a fault.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87168"/>
            <a:ext cx="3200400" cy="5669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578608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σ — Std Deviation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487168"/>
            <a:ext cx="8348472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578608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How much the coefficients vary.  Large σ signals transient activity.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99815"/>
            <a:ext cx="3200400" cy="5669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19125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 — Max Amplitude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099815"/>
            <a:ext cx="8348472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19125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Peak coefficient in the band.  Captures sharp fault spikes.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12463"/>
            <a:ext cx="3200400" cy="5669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803903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712463"/>
            <a:ext cx="8348472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3803903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Mean Absolute Deviation — robust measure of spread, less sensitive to outliers.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25112"/>
            <a:ext cx="3200400" cy="5669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416551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 — Kurtosis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4325112"/>
            <a:ext cx="8348472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4416551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Detects heavy tails. High kurtosis = impulsive transient = likely fault.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937759"/>
            <a:ext cx="3200400" cy="5669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5029199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Sk — Skewness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4937759"/>
            <a:ext cx="8348472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5029199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Asymmetry of distribution.  Inrush has a strong DC offset → skewed.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532120"/>
            <a:ext cx="11548872" cy="4572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57784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  <a:latin typeface="Calibri"/>
              </a:rPr>
              <a:t>7 statistics × 5 wavelet levels  +  2 instantaneous values (I_diff, I_rest)  =  37 features per 20 ms window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Stage 5: The LSTM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A neural network with memory — it learns patterns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486400" cy="4663440"/>
          </a:xfrm>
          <a:prstGeom prst="rect">
            <a:avLst/>
          </a:prstGeom>
          <a:solidFill>
            <a:srgbClr val="E8F4FD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C3557"/>
                </a:solidFill>
                <a:latin typeface="Calibri"/>
              </a:rPr>
              <a:t>Why LSTM?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21208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Standard neural networks look at one snapshot at a time.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LSTM remembers past windows — it knows how the signal evolved.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Inrush looks different in the first cycle vs. 5 cycles later.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An internal fault stays dangerous every window — LSTM captures this.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This temporal context is what separates LSTM from shallow classifiers.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5742432" cy="466344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25880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7B4F00"/>
                </a:solidFill>
                <a:latin typeface="Calibri"/>
              </a:rPr>
              <a:t>Network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39496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33832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37 features per 20 ms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26771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2E6DA4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468880"/>
            <a:ext cx="539496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688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LSTM Layer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68880"/>
            <a:ext cx="33832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128 hidden units, dropout 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90779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2E6DA4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108960"/>
            <a:ext cx="539496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10896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LSTM Layer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108960"/>
            <a:ext cx="33832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64 hidden units, dropout 30%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547872"/>
            <a:ext cx="539496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54787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547872"/>
            <a:ext cx="33832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Softmax over 4 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078224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C3557"/>
                </a:solidFill>
                <a:latin typeface="Calibri"/>
              </a:rPr>
              <a:t>4 output classes: Normal   |   Inrush   |   External Fault   |   Internal Fault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Training the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How the network learns to classify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743200" cy="62179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53312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Optimizer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261872"/>
            <a:ext cx="8805672" cy="62179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353312"/>
            <a:ext cx="8641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Adam (learning rate 1×10⁻³, halved automatically if accuracy stops improving)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9384"/>
            <a:ext cx="2743200" cy="62179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020824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Loss function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929384"/>
            <a:ext cx="8805672" cy="62179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020824"/>
            <a:ext cx="8641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Class-weighted cross-entropy — ensures rare fault types are not ignored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96896"/>
            <a:ext cx="2743200" cy="62179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688336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Overfitting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2596896"/>
            <a:ext cx="8805672" cy="62179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688336"/>
            <a:ext cx="8641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Early stopping (patience = 20 epochs) + 30% dropout in both LSTM layers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64408"/>
            <a:ext cx="2743200" cy="62179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355848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3264408"/>
            <a:ext cx="8805672" cy="62179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355848"/>
            <a:ext cx="8641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5-fold cross-validation across the full dataset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31920"/>
            <a:ext cx="2743200" cy="62179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023359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Data augmentation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3931920"/>
            <a:ext cx="8805672" cy="62179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4023359"/>
            <a:ext cx="8641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Gaussian noise (1–7 % SNR) and CT-gain mismatch (±2 %) added during training to mimic real hardware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99431"/>
            <a:ext cx="2743200" cy="62179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690871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Dataset size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4599431"/>
            <a:ext cx="8805672" cy="62179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4690871"/>
            <a:ext cx="8641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~500 simulated scenarios per batch; 1,000+ runs used for final validation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Stage 6: Hybrid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Three-way handshake between the AI, the 87T relay, and the hardware override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5743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A trip command is issued only when ALL conditions are met — making false trips extremely unlikely.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2560320" cy="1234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874519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IMMEDIATE TRIP  (Hardware Override)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783080"/>
            <a:ext cx="4114800" cy="1234440"/>
          </a:xfrm>
          <a:prstGeom prst="rect">
            <a:avLst/>
          </a:prstGeom>
          <a:solidFill>
            <a:srgbClr val="F5F7FA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874519"/>
            <a:ext cx="397763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Condition:
I_diff &gt; I_high_set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1783080"/>
            <a:ext cx="4873752" cy="1234440"/>
          </a:xfrm>
          <a:prstGeom prst="rect">
            <a:avLst/>
          </a:prstGeom>
          <a:solidFill>
            <a:srgbClr val="F5F7FA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874519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Very high differential current — act at hardware speed without waiting for AI. Fail-safe for catastrophic faults.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108960"/>
            <a:ext cx="2560320" cy="12344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0040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TRIP  (AI + 87T agree)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3108960"/>
            <a:ext cx="4114800" cy="1234440"/>
          </a:xfrm>
          <a:prstGeom prst="rect">
            <a:avLst/>
          </a:prstGeom>
          <a:solidFill>
            <a:srgbClr val="F5F7FA"/>
          </a:solidFill>
          <a:ln w="1524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200400"/>
            <a:ext cx="397763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Condition:
87T pickup  AND  P(internal) ≥ 0.85  AND  consistent for N ≥ 2 windows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3108960"/>
            <a:ext cx="4873752" cy="1234440"/>
          </a:xfrm>
          <a:prstGeom prst="rect">
            <a:avLst/>
          </a:prstGeom>
          <a:solidFill>
            <a:srgbClr val="F5F7FA"/>
          </a:solidFill>
          <a:ln w="1524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320040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Both the traditional relay and the AI agree it's a real internal fault, confirmed over at least two consecutive time windows.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434840"/>
            <a:ext cx="2560320" cy="12344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526279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BLOCK  (AI vetoes 87T)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4434840"/>
            <a:ext cx="4114800" cy="123444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526279"/>
            <a:ext cx="397763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Condition:
87T pickup  AND  P(internal) &lt; 0.85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4434840"/>
            <a:ext cx="4873752" cy="123444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4526279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87T sees a differential current, but AI classifies it as inrush or CT saturation — relay is held back. No false trip.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881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Simulink Plant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A high-fidelity simulation of the real power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230 kV / 11 kV, 300 MVA, Yd1 vector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61872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Sampled at 10 kHz throughout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19072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Three-phase source with realistic source impedance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19072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Residual flux levels: 0, 0.4, 0.8 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76272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HV-side CTs: 2000/5 A  |  LV-side CTs: 41,822/5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76272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Random fault inception angle: 0 – 360°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33472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Internal fault blocks: AG, BG, CG, AB, BC, CA, ABC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33472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Gaussian noise on all 6 CT channels: 1 – 7% SNR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090672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External fault blocks on the 230 kV 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90672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CT-gain mismatch ±2% per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547872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Fault resistance sweep: 0.01 – 20 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47872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Auto-logging: .log and .mat files per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005072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Magnetizing inrush injection with residual flux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05072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~500 scenarios generated per automated batch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462272"/>
            <a:ext cx="5760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CT saturation model with hysteresis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62272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Yd1 phase compensation applied before relay logic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Automated Test Console (ControlPanel)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How thousands of scenarios are generated without manual intervention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1828800" cy="9601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361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Normal 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280160"/>
            <a:ext cx="384048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389888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Steady-state operation — no fault or disturbance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1828800" cy="9601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361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Inrush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280160"/>
            <a:ext cx="384048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389888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Transformer energization with residual flux (0, 0.4, 0.8 pu)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59152"/>
            <a:ext cx="1828800" cy="9601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615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AG Internal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359152"/>
            <a:ext cx="384048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246888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Phase-A to ground fault inside the transformer winding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359152"/>
            <a:ext cx="1828800" cy="9601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615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BG Internal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359152"/>
            <a:ext cx="384048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46888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Phase-B to ground internal fault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38144"/>
            <a:ext cx="1828800" cy="9601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694176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AB Internal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3438144"/>
            <a:ext cx="384048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80" y="3547872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Phase-A to Phase-B internal fault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438144"/>
            <a:ext cx="1828800" cy="9601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694176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3-φ Internal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3438144"/>
            <a:ext cx="384048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3547872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Three-phase internal fault — worst case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517136"/>
            <a:ext cx="1828800" cy="9601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7731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External 3-φ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4517136"/>
            <a:ext cx="384048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40280" y="4626864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Three-phase fault on the 230 kV bus (outside protection zone)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517136"/>
            <a:ext cx="1828800" cy="9601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7731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External AB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4517136"/>
            <a:ext cx="3840480" cy="9601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79" y="4626864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Phase-to-phase fault on the HV bus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486400"/>
            <a:ext cx="11548872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C3557"/>
                </a:solidFill>
                <a:latin typeface="Calibri"/>
              </a:rPr>
              <a:t>Each scenario varies fault resistance, inception angle, noise level, and CT mismatch automatically → reproducible, unbiased dataset.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Deployment: PyTorch → ONNX → Simulink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Bringing the trained neural network into the real-time 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02920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26463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61872"/>
            <a:ext cx="2560320" cy="80467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99031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Train in PyTorch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61872"/>
            <a:ext cx="8485632" cy="80467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53312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The LSTM is trained in Python (PyTorch) on the generated dataset with GPU acceleration.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30552"/>
            <a:ext cx="502920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95144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30552"/>
            <a:ext cx="2560320" cy="80467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267712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Export to ONNX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130552"/>
            <a:ext cx="8485632" cy="80467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The trained model is exported to the Open Neural Network Exchange (ONNX) format — a universal AI model format.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99232"/>
            <a:ext cx="502920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163824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999232"/>
            <a:ext cx="2560320" cy="80467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136392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Load into Simulink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2999232"/>
            <a:ext cx="8485632" cy="80467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090672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MATLAB's Deep Learning Toolbox imports the ONNX file as a Predict block — plug-and-play.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67912"/>
            <a:ext cx="502920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032504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867912"/>
            <a:ext cx="2560320" cy="80467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05072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Hybrid logic block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867912"/>
            <a:ext cx="8485632" cy="80467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959352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 MATLAB Function block implements the decision logic: 87T pickup + P(internal) threshold + N-window consistency.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736592"/>
            <a:ext cx="502920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901184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736592"/>
            <a:ext cx="2560320" cy="80467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873752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Hardware override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736592"/>
            <a:ext cx="8485632" cy="804672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4828032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Separate fast-path comparator checks I_diff &gt; I_high_set before the AI path — always active.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Results &amp;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881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Overall Performance: All Targets 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Validated across 1,000+ simulated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176272" cy="14173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99032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≥ 99 %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Overall
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13432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  <a:latin typeface="Calibri"/>
              </a:rPr>
              <a:t>All four event classes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048" y="1325880"/>
            <a:ext cx="2176272" cy="14173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1399032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≥ 99 %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01168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Dependability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313432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  <a:latin typeface="Calibri"/>
              </a:rPr>
              <a:t>Internal faults caught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1325880"/>
            <a:ext cx="2176272" cy="14173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1399032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≥ 99 %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201168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2313432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  <a:latin typeface="Calibri"/>
              </a:rPr>
              <a:t>False trips prevented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624" y="1325880"/>
            <a:ext cx="2176272" cy="14173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4" y="1399032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&lt; 20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4" y="201168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Operating
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2313432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  <a:latin typeface="Calibri"/>
              </a:rPr>
              <a:t>Within one power 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82912" y="1325880"/>
            <a:ext cx="2176272" cy="14173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1399032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01168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False Positives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2313432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  <a:latin typeface="Calibri"/>
              </a:rPr>
              <a:t>On full validation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9718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C3557"/>
                </a:solidFill>
                <a:latin typeface="Calibri"/>
              </a:rPr>
              <a:t>What these numbers mean: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383280"/>
            <a:ext cx="1136599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Dependability ≥ 99 %:  Out of every 100 real internal faults, the relay correctly trips at least 99 times.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858768"/>
            <a:ext cx="1136599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Security ≥ 99 %:  Out of every 100 inrush / external fault events, the relay correctly stays blocked at least 99 times.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34256"/>
            <a:ext cx="1136599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Operating time &lt; 20 ms:  The trip decision is made within one 50 Hz cycle — fast enough to prevent equipment damage.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09744"/>
            <a:ext cx="1136599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0 false positives:  The LSTM veto eliminated every inrush- and CT-saturation-induced false trip on the validation set.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Confusion Matrix: What It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How well the classifier separates the four event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5743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A confusion matrix shows how often each event class is correctly identified versus mistaken for another 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1732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55657A"/>
                </a:solidFill>
                <a:latin typeface="Calibri"/>
              </a:rPr>
              <a:t>Predicted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578608"/>
            <a:ext cx="1645920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55657A"/>
                </a:solidFill>
                <a:latin typeface="Calibri"/>
              </a:rPr>
              <a:t>↓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0020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C3557"/>
                </a:solidFill>
                <a:latin typeface="Calibri"/>
              </a:rPr>
              <a:t>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920240"/>
            <a:ext cx="171907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C3557"/>
                </a:solidFill>
                <a:latin typeface="Calibri"/>
              </a:rPr>
              <a:t>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60020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C3557"/>
                </a:solidFill>
                <a:latin typeface="Calibri"/>
              </a:rPr>
              <a:t>Inrush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578608"/>
            <a:ext cx="171907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C3557"/>
                </a:solidFill>
                <a:latin typeface="Calibri"/>
              </a:rPr>
              <a:t>Inrush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60020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C3557"/>
                </a:solidFill>
                <a:latin typeface="Calibri"/>
              </a:rPr>
              <a:t>External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236976"/>
            <a:ext cx="171907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C3557"/>
                </a:solidFill>
                <a:latin typeface="Calibri"/>
              </a:rPr>
              <a:t>External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60020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C3557"/>
                </a:solidFill>
                <a:latin typeface="Calibri"/>
              </a:rPr>
              <a:t>Internal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3895344"/>
            <a:ext cx="171907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C3557"/>
                </a:solidFill>
                <a:latin typeface="Calibri"/>
              </a:rPr>
              <a:t>Internal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1920240"/>
            <a:ext cx="1691640" cy="65836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1920240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✔ 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1920240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1920240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1920240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1920240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1920240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920240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2578608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2578608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2578608"/>
            <a:ext cx="1691640" cy="65836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2578608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✔ 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2578608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2578608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2578608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2578608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3236976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3236976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3236976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80" y="3236976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0" y="3236976"/>
            <a:ext cx="1691640" cy="65836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3236976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✔ 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60" y="3236976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3236976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3895344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3895344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3895344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1880" y="3895344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0" y="3895344"/>
            <a:ext cx="169164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3895344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≈ 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60" y="3895344"/>
            <a:ext cx="1691640" cy="65836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95160" y="3895344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✔ High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4690872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✔ Diagonal = Correctly classified (high counts)     ≈ 0 = Off-diagonal = Misclassified (near zero)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5577840"/>
            <a:ext cx="11548872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C3557"/>
                </a:solidFill>
                <a:latin typeface="Calibri"/>
              </a:rPr>
              <a:t>Key result: Near-perfect diagonal — the LSTM rarely confuses inrush with internal faults, which is the hardest discrimination task.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Trip Behaviour: Conventional vs. Hybrid 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Where the conventional relay fails — and the hybrid relay succeeds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3200400" cy="129844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44751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Inrush (switch-on)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261872"/>
            <a:ext cx="4114800" cy="1298448"/>
          </a:xfrm>
          <a:prstGeom prst="rect">
            <a:avLst/>
          </a:prstGeom>
          <a:solidFill>
            <a:srgbClr val="FFEBEB"/>
          </a:solidFill>
          <a:ln w="1524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353312"/>
            <a:ext cx="397763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Conventional 87T TRIPS  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261872"/>
            <a:ext cx="4233672" cy="1298448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353312"/>
            <a:ext cx="41148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Hybrid blocks — AI identifies inrush pattern in wavelet features, vetoes the relay.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51760"/>
            <a:ext cx="3200400" cy="129844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External fault + CT saturation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651760"/>
            <a:ext cx="4114800" cy="1298448"/>
          </a:xfrm>
          <a:prstGeom prst="rect">
            <a:avLst/>
          </a:prstGeom>
          <a:solidFill>
            <a:srgbClr val="FFEBEB"/>
          </a:solidFill>
          <a:ln w="1524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743200"/>
            <a:ext cx="397763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Conventional 87T TRIPS  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2651760"/>
            <a:ext cx="4233672" cy="1298448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743200"/>
            <a:ext cx="41148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Hybrid blocks — AI detects clipped CT waveform signature, holds the trip.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41648"/>
            <a:ext cx="3200400" cy="129844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224528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Real internal fault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4041648"/>
            <a:ext cx="4114800" cy="1298448"/>
          </a:xfrm>
          <a:prstGeom prst="rect">
            <a:avLst/>
          </a:prstGeom>
          <a:solidFill>
            <a:srgbClr val="E8FFE8"/>
          </a:solidFill>
          <a:ln w="1524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4133087"/>
            <a:ext cx="397763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Conventional 87T TRIPS  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4041648"/>
            <a:ext cx="4233672" cy="1298448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4133087"/>
            <a:ext cx="41148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Hybrid also TRIPS  ✔ — both agree; AI confirms P(internal) ≥ 0.85.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413248"/>
            <a:ext cx="11548872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C3557"/>
                </a:solidFill>
                <a:latin typeface="Calibri"/>
              </a:rPr>
              <a:t>Operating time penalty of the AI veto layer: &lt; 2 ms — well within the 20 ms budget.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Does the Hybrid Work So Well?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The signal-level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3474720" cy="111556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44751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DWT cD₁ / cD₂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261872"/>
            <a:ext cx="8074152" cy="111556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353312"/>
            <a:ext cx="7909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Internal faults create sharp, high-frequency spikes that spike the energy in the top two wavelet bands.  Inrush and CT saturation do not produce the same high-frequency content.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68880"/>
            <a:ext cx="3474720" cy="111556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DC offset via skewness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468880"/>
            <a:ext cx="8074152" cy="111556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560320"/>
            <a:ext cx="7909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Magnetizing inrush pulls a one-sided DC current.  The skewness feature captures this asymmetry — easily distinguished from a symmetric fault transient.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75888"/>
            <a:ext cx="3474720" cy="111556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58768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Temporal evolution via LSTM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3675888"/>
            <a:ext cx="8074152" cy="111556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767328"/>
            <a:ext cx="7909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Inrush decays over several cycles; an internal fault stays dangerous.  The LSTM sees this evolution over consecutive windows.  A single-window classifier would struggle 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882896"/>
            <a:ext cx="3474720" cy="111556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065776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Consecutive-window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4882896"/>
            <a:ext cx="8074152" cy="111556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4974336"/>
            <a:ext cx="7909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The system requires N ≥ 2 consecutive windows to agree before tripping.  This suppresses any single-window classification glitch without adding meaningful delay.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Robustness Validation — Stress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Does performance hold under difficult real-world conditions?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5743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The system was tested across extreme operating conditions to verify it does not just work in ideal scenarios: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2194560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Calibri"/>
              </a:rPr>
              <a:t>Fault Resistance
0.01 – 20 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06040"/>
            <a:ext cx="2194560" cy="2560320"/>
          </a:xfrm>
          <a:prstGeom prst="rect">
            <a:avLst/>
          </a:prstGeom>
          <a:solidFill>
            <a:srgbClr val="F5F7FA"/>
          </a:solidFill>
          <a:ln w="1524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743200"/>
            <a:ext cx="2011679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High-resistance faults are the hardest to detect — weak differential current. Tested across the full range.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828800"/>
            <a:ext cx="2194560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874519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Calibri"/>
              </a:rPr>
              <a:t>Measurement Noise
1 – 7 % SNR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328" y="2606040"/>
            <a:ext cx="2194560" cy="2560320"/>
          </a:xfrm>
          <a:prstGeom prst="rect">
            <a:avLst/>
          </a:prstGeom>
          <a:solidFill>
            <a:srgbClr val="F5F7FA"/>
          </a:solidFill>
          <a:ln w="1524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8" y="2743200"/>
            <a:ext cx="2011679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Gaussian noise injected on all 6 CT channels to simulate instrument errors and electromagnetic interference.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28616" y="1828800"/>
            <a:ext cx="2194560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8616" y="1874519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Calibri"/>
              </a:rPr>
              <a:t>CT-Gain Mismatch
±2 % per channel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28616" y="2606040"/>
            <a:ext cx="2194560" cy="2560320"/>
          </a:xfrm>
          <a:prstGeom prst="rect">
            <a:avLst/>
          </a:prstGeom>
          <a:solidFill>
            <a:srgbClr val="F5F7FA"/>
          </a:solidFill>
          <a:ln w="1524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0055" y="2743200"/>
            <a:ext cx="2011679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Simulates aging or calibration drift in real CTs — each channel independently mismatched.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32904" y="1828800"/>
            <a:ext cx="2194560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1874519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Calibri"/>
              </a:rPr>
              <a:t>Residual Flux
0, 0.4, 0.8 pu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2904" y="2606040"/>
            <a:ext cx="2194560" cy="2560320"/>
          </a:xfrm>
          <a:prstGeom prst="rect">
            <a:avLst/>
          </a:prstGeom>
          <a:solidFill>
            <a:srgbClr val="F5F7FA"/>
          </a:solidFill>
          <a:ln w="1524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4344" y="2743200"/>
            <a:ext cx="2011679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Residual magnetisation affects the severity and waveform of inrush — all three levels tested.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37192" y="1828800"/>
            <a:ext cx="2194560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192" y="1874519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0A500"/>
                </a:solidFill>
                <a:latin typeface="Calibri"/>
              </a:rPr>
              <a:t>Fault Inception Angle
0° – 360°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37192" y="2606040"/>
            <a:ext cx="2194560" cy="2560320"/>
          </a:xfrm>
          <a:prstGeom prst="rect">
            <a:avLst/>
          </a:prstGeom>
          <a:solidFill>
            <a:srgbClr val="F5F7FA"/>
          </a:solidFill>
          <a:ln w="1524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28632" y="2743200"/>
            <a:ext cx="2011679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The point-on-wave when the fault occurs changes the transient shape significantly — randomised over full range.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349240"/>
            <a:ext cx="11548872" cy="594360"/>
          </a:xfrm>
          <a:prstGeom prst="rect">
            <a:avLst/>
          </a:prstGeom>
          <a:solidFill>
            <a:srgbClr val="E8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13248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107A10"/>
                </a:solidFill>
                <a:latin typeface="Calibri"/>
              </a:rPr>
              <a:t>✔  Dependability and Security both held at or above 99 % across ALL stress conditions.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Benchmark: This Work vs. Prior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Standardised comparison on the same 1,000-run test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331720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261872"/>
            <a:ext cx="1874519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261872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261872"/>
            <a:ext cx="1691640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61872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Dependability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261872"/>
            <a:ext cx="1691640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61872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261872"/>
            <a:ext cx="1371600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26187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Op. Time (ms)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261872"/>
            <a:ext cx="1298448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261872"/>
            <a:ext cx="12984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False
Positives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53928" y="1261872"/>
            <a:ext cx="1014984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53928" y="1261872"/>
            <a:ext cx="101498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HW
Ovrd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901952"/>
            <a:ext cx="2331720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1993392"/>
            <a:ext cx="2240279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Conventional 87T
(CHR)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1901952"/>
            <a:ext cx="1874519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1993392"/>
            <a:ext cx="1783079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92.5 %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1901952"/>
            <a:ext cx="1691640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1993392"/>
            <a:ext cx="160020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96.3 %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901952"/>
            <a:ext cx="1691640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993392"/>
            <a:ext cx="160020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92.5 %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1901952"/>
            <a:ext cx="1371600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993392"/>
            <a:ext cx="128016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23.5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1901952"/>
            <a:ext cx="1298448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1993392"/>
            <a:ext cx="1207007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62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53928" y="1901952"/>
            <a:ext cx="1014984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99648" y="1993392"/>
            <a:ext cx="923544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688336"/>
            <a:ext cx="233172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2779776"/>
            <a:ext cx="2240279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Wavelet + ANN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97480" y="2688336"/>
            <a:ext cx="1874519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2779776"/>
            <a:ext cx="1783079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95.8 %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2688336"/>
            <a:ext cx="16916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2779776"/>
            <a:ext cx="160020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96.1 %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2688336"/>
            <a:ext cx="16916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779776"/>
            <a:ext cx="160020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95.2 %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2688336"/>
            <a:ext cx="13716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2779776"/>
            <a:ext cx="128016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21.4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2688336"/>
            <a:ext cx="1298448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2779776"/>
            <a:ext cx="1207007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53928" y="2688336"/>
            <a:ext cx="1014984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99648" y="2779776"/>
            <a:ext cx="923544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474720"/>
            <a:ext cx="2331720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59" y="3566160"/>
            <a:ext cx="2240279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Wavelet + SVM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7480" y="3474720"/>
            <a:ext cx="1874519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0" y="3566160"/>
            <a:ext cx="1783079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96.2 %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17720" y="3474720"/>
            <a:ext cx="1691640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3440" y="3566160"/>
            <a:ext cx="160020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96.9 %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3474720"/>
            <a:ext cx="1691640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566160"/>
            <a:ext cx="160020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95.7 %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92440" y="3474720"/>
            <a:ext cx="1371600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3566160"/>
            <a:ext cx="128016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20.8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9760" y="3474720"/>
            <a:ext cx="1298448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55480" y="3566160"/>
            <a:ext cx="1207007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853928" y="3474720"/>
            <a:ext cx="1014984" cy="7498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99648" y="3566160"/>
            <a:ext cx="923544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261104"/>
            <a:ext cx="233172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59" y="4352544"/>
            <a:ext cx="2240279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Dual-DNN (Key et al., 2025)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97480" y="4261104"/>
            <a:ext cx="1874519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0" y="4352544"/>
            <a:ext cx="1783079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98.6 %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4261104"/>
            <a:ext cx="16916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63440" y="4352544"/>
            <a:ext cx="160020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98.1 %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261104"/>
            <a:ext cx="16916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4352544"/>
            <a:ext cx="160020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98.3 %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92440" y="4261104"/>
            <a:ext cx="13716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38160" y="4352544"/>
            <a:ext cx="128016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19.0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09760" y="4261104"/>
            <a:ext cx="1298448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55480" y="4352544"/>
            <a:ext cx="1207007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853928" y="4261104"/>
            <a:ext cx="1014984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99648" y="4352544"/>
            <a:ext cx="923544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047488"/>
            <a:ext cx="2331720" cy="749808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59" y="5138928"/>
            <a:ext cx="2240279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6A10"/>
                </a:solidFill>
                <a:latin typeface="Calibri"/>
              </a:rPr>
              <a:t>This Work (DWT-LSTM Hybrid)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97480" y="5047488"/>
            <a:ext cx="1874519" cy="749808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0" y="5138928"/>
            <a:ext cx="1783079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6A10"/>
                </a:solidFill>
                <a:latin typeface="Calibri"/>
              </a:rPr>
              <a:t>99.6 %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17720" y="5047488"/>
            <a:ext cx="1691640" cy="749808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63440" y="5138928"/>
            <a:ext cx="160020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6A10"/>
                </a:solidFill>
                <a:latin typeface="Calibri"/>
              </a:rPr>
              <a:t>99.4 %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55080" y="5047488"/>
            <a:ext cx="1691640" cy="749808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0" y="5138928"/>
            <a:ext cx="160020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6A10"/>
                </a:solidFill>
                <a:latin typeface="Calibri"/>
              </a:rPr>
              <a:t>99.6 %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92440" y="5047488"/>
            <a:ext cx="1371600" cy="749808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138160" y="5138928"/>
            <a:ext cx="1280160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6A10"/>
                </a:solidFill>
                <a:latin typeface="Calibri"/>
              </a:rPr>
              <a:t>17.2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09760" y="5047488"/>
            <a:ext cx="1298448" cy="749808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55480" y="5138928"/>
            <a:ext cx="1207007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6A10"/>
                </a:solidFill>
                <a:latin typeface="Calibri"/>
              </a:rPr>
              <a:t> 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853928" y="5047488"/>
            <a:ext cx="1014984" cy="749808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99648" y="5138928"/>
            <a:ext cx="923544" cy="56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6A10"/>
                </a:solidFill>
                <a:latin typeface="Calibri"/>
              </a:rPr>
              <a:t>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Makes This Work Novel?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Five design dimensions where this thesis advances the state of the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560320" cy="8229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99031"/>
            <a:ext cx="248716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Feature richness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261872"/>
            <a:ext cx="4114800" cy="82296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353312"/>
            <a:ext cx="397763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Before: 2 – 4 statistics in prior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261872"/>
            <a:ext cx="4873752" cy="822960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353312"/>
            <a:ext cx="4754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This work: 37 dimensions covering energy, entropy, kurtosis, skewness, MAD and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48839"/>
            <a:ext cx="2560320" cy="8229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285999"/>
            <a:ext cx="248716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Temporal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2148839"/>
            <a:ext cx="4114800" cy="82296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240279"/>
            <a:ext cx="397763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Before: Single-window classification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2148839"/>
            <a:ext cx="4873752" cy="822960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240279"/>
            <a:ext cx="4754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This work: Stacked LSTM with consecutive-window consistency check across N windows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35807"/>
            <a:ext cx="2560320" cy="8229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172967"/>
            <a:ext cx="248716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CT saturation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3035807"/>
            <a:ext cx="4114800" cy="82296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3127247"/>
            <a:ext cx="397763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Before: Most papers ignore CT saturation in simulation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3035807"/>
            <a:ext cx="4873752" cy="822960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127247"/>
            <a:ext cx="4754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This work: Full CT hysteresis model; saturation explicitly included in training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22775"/>
            <a:ext cx="2560320" cy="8229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059935"/>
            <a:ext cx="248716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Hardware fallback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3922775"/>
            <a:ext cx="4114800" cy="82296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4014215"/>
            <a:ext cx="397763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Before: AI replaces the relay entirely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60" y="3922775"/>
            <a:ext cx="4873752" cy="822960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4014215"/>
            <a:ext cx="4754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This work: 87T relay preserved as speed-critical override — IEC 60255 compliant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809743"/>
            <a:ext cx="2560320" cy="8229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946903"/>
            <a:ext cx="2487168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Validation breadth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4809743"/>
            <a:ext cx="4114800" cy="822960"/>
          </a:xfrm>
          <a:prstGeom prst="rect">
            <a:avLst/>
          </a:prstGeom>
          <a:solidFill>
            <a:srgbClr val="FFF3CD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4901183"/>
            <a:ext cx="397763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Before: Narrow fault resistance / one noise level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4809743"/>
            <a:ext cx="4873752" cy="822960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4901183"/>
            <a:ext cx="4754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This work: Full sweep: 0.01–20 Ω, 1–7% SNR, ±2% CT mismatch, 0–360° inception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All Research Aims: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Every specific objective has been met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94360" cy="7772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99031"/>
            <a:ext cx="594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①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61872"/>
            <a:ext cx="3840480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53312"/>
            <a:ext cx="3749039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High-fidelity Simulink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61872"/>
            <a:ext cx="7114032" cy="777240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53312"/>
            <a:ext cx="6949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✔  300 MVA, 230/11 kV, Yd1 model with CT saturation, inrush, and all fault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12264"/>
            <a:ext cx="594360" cy="7772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49424"/>
            <a:ext cx="594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112264"/>
            <a:ext cx="3840480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203704"/>
            <a:ext cx="3749039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Adaptive dual-slope 87T relay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112264"/>
            <a:ext cx="7114032" cy="777240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203704"/>
            <a:ext cx="6949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✔  Yd1 + CT-ratio compensation implemented; dual-slope characteristic validated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62656"/>
            <a:ext cx="594360" cy="7772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962656"/>
            <a:ext cx="3840480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054096"/>
            <a:ext cx="3749039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DWT–LSTM classifier (4-class)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962656"/>
            <a:ext cx="7114032" cy="777240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054096"/>
            <a:ext cx="6949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✔  99.6 % accuracy; dependability and security both ≥ 99 %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13048"/>
            <a:ext cx="594360" cy="7772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950208"/>
            <a:ext cx="594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813048"/>
            <a:ext cx="3840480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904487"/>
            <a:ext cx="3749039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Hybrid relay integration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813048"/>
            <a:ext cx="7114032" cy="777240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904487"/>
            <a:ext cx="6949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✔  Confidence threshold + N-window check + hardware override all implemented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594360" cy="7772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80060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663440"/>
            <a:ext cx="3840480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4754879"/>
            <a:ext cx="3749039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Full robustness validation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4663440"/>
            <a:ext cx="7114032" cy="777240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754879"/>
            <a:ext cx="6949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✔  1,000+ scenarios; swept resistance, noise, CT mismatch, inception angle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513831"/>
            <a:ext cx="594360" cy="7772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65099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5513831"/>
            <a:ext cx="3840480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5605271"/>
            <a:ext cx="3749039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Benchmark against 4 baselines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5513831"/>
            <a:ext cx="7114032" cy="777240"/>
          </a:xfrm>
          <a:prstGeom prst="rect">
            <a:avLst/>
          </a:prstGeom>
          <a:solidFill>
            <a:srgbClr val="E8FFE8"/>
          </a:solidFill>
          <a:ln w="15240">
            <a:solidFill>
              <a:srgbClr val="107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5605271"/>
            <a:ext cx="6949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✔  +7.1 pp security, 62→0 false positives, 2.6× speedup vs. CHR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Course Outcome (CO) Achievement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How this thesis satisfies the programme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3474720" cy="120700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44751"/>
            <a:ext cx="3401568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CO1 — Engineering Knowledge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261872"/>
            <a:ext cx="8074152" cy="12070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399031"/>
            <a:ext cx="79095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Applied differential protection theory, wavelet mathematics, and LSTM architecture across the full design cycle.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60320"/>
            <a:ext cx="3474720" cy="120700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743200"/>
            <a:ext cx="3401568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CO2 — Problem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560320"/>
            <a:ext cx="8074152" cy="12070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697479"/>
            <a:ext cx="79095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Identified and quantified the two failure modes of conventional 87T (inrush, CT saturation) through literature and simulation.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58768"/>
            <a:ext cx="3474720" cy="120700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041648"/>
            <a:ext cx="3401568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CO3 — Design / Development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3858768"/>
            <a:ext cx="8074152" cy="12070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995928"/>
            <a:ext cx="79095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Designed the 37-dim DWT feature set and the hybrid decision logic from first principles; validated through simulation.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57216"/>
            <a:ext cx="3474720" cy="120700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340096"/>
            <a:ext cx="3401568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CO4 — Investigation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5157216"/>
            <a:ext cx="8074152" cy="120700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5294376"/>
            <a:ext cx="79095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Generated 1,000+ scenarios, analysed confusion matrices, sweep curves, and benchmarked against four prior methods.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Course Outcome (CO) Achievement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3474720" cy="9144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99031"/>
            <a:ext cx="340156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CO5 — Modern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1261872"/>
            <a:ext cx="8074152" cy="9144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371600"/>
            <a:ext cx="7909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Used MATLAB/Simulink, PyTorch, ONNX, Python (NumPy, PyWavelets) — all industry-standard tools.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40280"/>
            <a:ext cx="3474720" cy="9144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77440"/>
            <a:ext cx="340156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CO6 — Engineer &amp; Society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2240280"/>
            <a:ext cx="8074152" cy="9144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350008"/>
            <a:ext cx="7909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Addressed protection reliability as a societal need: grid stability, safety, and economic asset protection.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18688"/>
            <a:ext cx="3474720" cy="9144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355848"/>
            <a:ext cx="340156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CO7 — Ethics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3218688"/>
            <a:ext cx="8074152" cy="9144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3328416"/>
            <a:ext cx="7909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Open-source release of model, training code, and ONNX weights — reproducibility and academic integrity.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97096"/>
            <a:ext cx="3474720" cy="9144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334256"/>
            <a:ext cx="340156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CO8 — Individual &amp; Team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4197096"/>
            <a:ext cx="8074152" cy="9144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4306824"/>
            <a:ext cx="7909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Solo research execution with structured literature review, independent design decisions, and self-directed validation.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175504"/>
            <a:ext cx="3474720" cy="9144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312664"/>
            <a:ext cx="340156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CO9 — Communication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5175504"/>
            <a:ext cx="8074152" cy="91440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5285232"/>
            <a:ext cx="7909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Full thesis document, defense presentation, and structured result tables prepared to IEEE standards.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881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Contributions of This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Five original additions to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0352" cy="93268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5303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①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1234440"/>
            <a:ext cx="2926080" cy="93268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44168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37-Dimensional DWT Feature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76472" y="1234440"/>
            <a:ext cx="8092440" cy="93268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1325880"/>
            <a:ext cx="793699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Previous works used 2 – 4 features. This thesis extracts 7 statistical measures across 5 wavelet bands + 2 instantaneous values, providing a far richer signal representation.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21992"/>
            <a:ext cx="530352" cy="93268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404872"/>
            <a:ext cx="5303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2221992"/>
            <a:ext cx="2926080" cy="93268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31720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Temporal Modelling via Stacked LSTM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76472" y="2221992"/>
            <a:ext cx="8092440" cy="93268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912" y="2313432"/>
            <a:ext cx="793699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Two-layer LSTM with a consecutive-window consistency check exploits the time evolution of events — a capability no single-window classifier has.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09544"/>
            <a:ext cx="530352" cy="93268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392424"/>
            <a:ext cx="5303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" y="3209544"/>
            <a:ext cx="2926080" cy="93268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19272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Hybrid 87T + AI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76472" y="3209544"/>
            <a:ext cx="8092440" cy="93268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67912" y="3300984"/>
            <a:ext cx="793699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The conventional relay is not replaced — it is enhanced. A hardware override ensures the relay trips instantly if the differential current is catastrophically large, regardless of AI state.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197096"/>
            <a:ext cx="530352" cy="93268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379976"/>
            <a:ext cx="5303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" y="4197096"/>
            <a:ext cx="2926080" cy="93268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306824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Comprehensive Validation Matrix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76472" y="4197096"/>
            <a:ext cx="8092440" cy="93268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67912" y="4288536"/>
            <a:ext cx="793699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1,000+ scenarios covering fault resistance, noise, CT mismatch, residual flux, and inception angle — the most thorough test in this specific research area.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84648"/>
            <a:ext cx="530352" cy="93268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367528"/>
            <a:ext cx="5303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" y="5184648"/>
            <a:ext cx="2926080" cy="93268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94376"/>
            <a:ext cx="28346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Open-Source Release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76472" y="5184648"/>
            <a:ext cx="8092440" cy="932688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7912" y="5276088"/>
            <a:ext cx="793699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Plant model, MATLAB training notebook, and trained ONNX model are publicly released — enabling reproducibility and further research.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What was built, what was proven,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3200400" cy="1188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44751"/>
            <a:ext cx="31089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was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261872"/>
            <a:ext cx="8348472" cy="11887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A simulation-validated hybrid relay framework: adaptive 87T + DWT feature extraction + two-layer LSTM + hardware override.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42032"/>
            <a:ext cx="3200400" cy="1188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724912"/>
            <a:ext cx="31089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was proven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2542032"/>
            <a:ext cx="8348472" cy="11887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65176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The framework achieves ≥ 99 % dependability and security, &lt; 20 ms operating time, and eliminates all false trips from inrush and CT saturation on the validation 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22191"/>
            <a:ext cx="3200400" cy="1188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005072"/>
            <a:ext cx="31089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Why the design matters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3822191"/>
            <a:ext cx="8348472" cy="11887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93192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The conventional relay is preserved — the AI adds safety without sacrificing the speed and reliability engineers already trust.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02352"/>
            <a:ext cx="3200400" cy="1188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285232"/>
            <a:ext cx="31089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Practical impact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5102352"/>
            <a:ext cx="8348472" cy="1188720"/>
          </a:xfrm>
          <a:prstGeom prst="rect">
            <a:avLst/>
          </a:prstGeom>
          <a:solidFill>
            <a:srgbClr val="F5F7FA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521208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Reduces the risk of costly transformer damage (USD 1–3 M replacement) and unnecessary outages caused by false trips on modern low-harmonics cores.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Future Prospects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Where this research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574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C3557"/>
                </a:solidFill>
                <a:latin typeface="Calibri"/>
              </a:rPr>
              <a:t>Short-term (6 – 12 months)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74552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Hardware-in-the-loop (HIL) validation on an RTDS or OPAL-RT real-time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4552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Replay real COMTRADE disturbance records to validate against actual field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1274552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Quantisation-aware retraining and deployment on a relay-class FPGA or DSP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11274552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Robustness study under cyber-perturbed or spoofed CT measurements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611880"/>
            <a:ext cx="1154887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703320"/>
            <a:ext cx="114574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C3557"/>
                </a:solidFill>
                <a:latin typeface="Calibri"/>
              </a:rPr>
              <a:t>Long-term (research directions)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78808"/>
            <a:ext cx="11274552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Transfer learning to adapt the classifier to different transformer ratings and vector groups without retraining from scratch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36008"/>
            <a:ext cx="11274552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Online / continual learning to track ageing CTs and evolving core characteristics over the transformer's lifetime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93208"/>
            <a:ext cx="11274552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Explainable-AI (XAI) overlay using attention maps or SHAP values so protection engineers can understand why the AI decided to trip or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50408"/>
            <a:ext cx="11274552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▸  Extension to busbar, generator, and transmission-line differential protection schemes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At a Glance: What This Thesis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55657A"/>
                </a:solidFill>
                <a:latin typeface="Calibri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2743200" cy="18288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4475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574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Event classes
discriminated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371600"/>
            <a:ext cx="2743200" cy="18288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8688" y="144475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20574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Signal features
extracted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7336" y="1371600"/>
            <a:ext cx="2743200" cy="18288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17336" y="144475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20574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DWT decomposition
levels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15984" y="1371600"/>
            <a:ext cx="2743200" cy="18288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144475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984" y="20574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Validation
scenarios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29000"/>
            <a:ext cx="2743200" cy="1828800"/>
          </a:xfrm>
          <a:prstGeom prst="rect">
            <a:avLst/>
          </a:prstGeom>
          <a:solidFill>
            <a:srgbClr val="0A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50215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99.6 %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148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Overall
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3429000"/>
            <a:ext cx="2743200" cy="1828800"/>
          </a:xfrm>
          <a:prstGeom prst="rect">
            <a:avLst/>
          </a:prstGeom>
          <a:solidFill>
            <a:srgbClr val="0A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18688" y="350215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688" y="41148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False positives
on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17336" y="3429000"/>
            <a:ext cx="2743200" cy="1828800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7336" y="350215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&lt; 20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41148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Operating
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3429000"/>
            <a:ext cx="2743200" cy="1828800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15984" y="350215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41148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Baseline methods
outperformed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88952" cy="1920240"/>
          </a:xfrm>
          <a:prstGeom prst="rect">
            <a:avLst/>
          </a:prstGeom>
          <a:solidFill>
            <a:srgbClr val="14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4892040"/>
            <a:ext cx="7616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i="0">
                <a:solidFill>
                  <a:srgbClr val="F0A500"/>
                </a:solidFill>
                <a:latin typeface="Calibri"/>
              </a:rPr>
              <a:t>I welcome the committee's questions.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566160"/>
            <a:ext cx="5788152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0">
                <a:solidFill>
                  <a:srgbClr val="B0C8E8"/>
                </a:solidFill>
                <a:latin typeface="Calibri"/>
              </a:rPr>
              <a:t>Hybrid Adaptive Transformer Differential Protection — An Intelligent DWT–LSTM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80A0C0"/>
                </a:solidFill>
                <a:latin typeface="Calibri"/>
              </a:rPr>
              <a:t>Department of EECE  •  Military Institute of Science and Technology (MIST)  •  B.Sc. EEE Final Defense,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