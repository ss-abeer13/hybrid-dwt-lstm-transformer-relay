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80" r:id="rId31"/>
    <p:sldId id="259" r:id="rId9"/>
    <p:sldId id="260" r:id="rId10"/>
    <p:sldId id="281" r:id="rId32"/>
    <p:sldId id="261" r:id="rId11"/>
    <p:sldId id="282" r:id="rId33"/>
    <p:sldId id="262" r:id="rId12"/>
    <p:sldId id="283" r:id="rId34"/>
    <p:sldId id="263" r:id="rId13"/>
    <p:sldId id="264" r:id="rId14"/>
    <p:sldId id="286" r:id="rId37"/>
    <p:sldId id="265" r:id="rId15"/>
    <p:sldId id="266" r:id="rId16"/>
    <p:sldId id="284" r:id="rId35"/>
    <p:sldId id="267" r:id="rId17"/>
    <p:sldId id="268" r:id="rId18"/>
    <p:sldId id="285" r:id="rId36"/>
    <p:sldId id="269" r:id="rId19"/>
    <p:sldId id="270" r:id="rId20"/>
    <p:sldId id="287" r:id="rId38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pVcVxr+ZRv4oB1OPrs28YXTtQ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B3DED2-E355-457A-8DC3-35DA42202A1A}">
  <a:tblStyle styleId="{4CB3DED2-E355-457A-8DC3-35DA42202A1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customschemas.google.com/relationships/presentationmetadata" Target="metadata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5bef0463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5bef0463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5bef04639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5bef04639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D60"/>
              </a:buClr>
              <a:buSzPts val="4400"/>
              <a:buFont typeface="Times New Roman"/>
              <a:buNone/>
              <a:defRPr>
                <a:solidFill>
                  <a:srgbClr val="0F1D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609600" y="5575438"/>
            <a:ext cx="109727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Electrical, Electronic and Communication Engineering (EECE)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Military Institute of Science and Technology (MIST)</a:t>
            </a:r>
            <a:endParaRPr/>
          </a:p>
        </p:txBody>
      </p:sp>
      <p:grpSp>
        <p:nvGrpSpPr>
          <p:cNvPr id="89" name="Google Shape;89;p1"/>
          <p:cNvGrpSpPr/>
          <p:nvPr/>
        </p:nvGrpSpPr>
        <p:grpSpPr>
          <a:xfrm>
            <a:off x="964656" y="3404399"/>
            <a:ext cx="10056939" cy="1986751"/>
            <a:chOff x="1040856" y="1820652"/>
            <a:chExt cx="10056939" cy="2630955"/>
          </a:xfrm>
        </p:grpSpPr>
        <p:sp>
          <p:nvSpPr>
            <p:cNvPr id="90" name="Google Shape;90;p1"/>
            <p:cNvSpPr txBox="1"/>
            <p:nvPr/>
          </p:nvSpPr>
          <p:spPr>
            <a:xfrm>
              <a:off x="1040856" y="1820652"/>
              <a:ext cx="5385665" cy="2630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C33"/>
                </a:buClr>
                <a:buSzPts val="1200"/>
                <a:buFont typeface="Lato"/>
                <a:buNone/>
              </a:pPr>
              <a:r>
                <a:rPr b="1" i="0" lang="en-US" sz="2500" u="sng" cap="none" strike="noStrike">
                  <a:solidFill>
                    <a:srgbClr val="0F1D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Presented by</a:t>
              </a:r>
              <a:endParaRPr b="0" i="0" sz="2500" u="sng" cap="none" strike="noStrike">
                <a:solidFill>
                  <a:srgbClr val="0F1D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C33"/>
                </a:buClr>
                <a:buSzPts val="1200"/>
                <a:buFont typeface="Times New Roman"/>
                <a:buAutoNum type="arabicPeriod"/>
              </a:pPr>
              <a:r>
                <a:rPr b="1" i="0" lang="en-US" sz="2500" u="none" cap="none" strike="noStrike">
                  <a:solidFill>
                    <a:srgbClr val="152C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 Name 1 [Student ID 1]</a:t>
              </a:r>
              <a:endParaRPr/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C33"/>
                </a:buClr>
                <a:buSzPts val="1200"/>
                <a:buFont typeface="Times New Roman"/>
                <a:buAutoNum type="arabicPeriod"/>
              </a:pPr>
              <a:r>
                <a:rPr b="1" i="0" lang="en-US" sz="2500" u="none" cap="none" strike="noStrike">
                  <a:solidFill>
                    <a:srgbClr val="152C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 Name 2 [Student ID 2]</a:t>
              </a: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6277256" y="1866833"/>
              <a:ext cx="4820539" cy="1650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sng" cap="none" strike="noStrike">
                  <a:solidFill>
                    <a:srgbClr val="0F1D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Supervised by</a:t>
              </a:r>
              <a:endParaRPr b="1" i="0" sz="2500" u="sng" cap="none" strike="noStrike">
                <a:solidFill>
                  <a:srgbClr val="0F1D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152C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Name of the supervisor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152C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Designation</a:t>
              </a:r>
              <a:endParaRPr/>
            </a:p>
          </p:txBody>
        </p:sp>
      </p:grpSp>
      <p:sp>
        <p:nvSpPr>
          <p:cNvPr id="92" name="Google Shape;92;p1"/>
          <p:cNvSpPr txBox="1"/>
          <p:nvPr>
            <p:ph idx="12" type="sldNum"/>
          </p:nvPr>
        </p:nvSpPr>
        <p:spPr>
          <a:xfrm>
            <a:off x="9292771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496291" y="177950"/>
            <a:ext cx="928254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Adaptive Transformer Differential Protection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600" u="none" cap="none" strike="noStrike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Intelligent DWT–LSTM Framework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09599" y="2419759"/>
            <a:ext cx="109727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Thesis Defense — B.Sc. in EEE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 ##th  Month,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Research Motivation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Comparative &amp; Associative Literature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Research Objectives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 Proposed Method / Model Framework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 Implementation  (Simulink + ONNX deployment)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  Result Analysis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  Completion of Research Aims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  Justification of Course Outcome (CO) Achievement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  Conclusion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 Future Prospects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Motivation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matters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transformers cost USD 1–3 M each and take weeks to replace.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differential relay (87T) is the main protection — it trips if current in ≠ current out.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trip must happen in under 20 ms (one power cycle at 50 Hz).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missed fault → equipment fire.   A false trip → unnecessary outage.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107" name="Google Shape;107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the conventional 87T fails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1 — Magnetizing inrush:  When a transformer is switched on, it draws 6–10× rated current on one side only.  The relay sees a fake differential current → false trip.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cores have low 2nd-harmonic content (&lt; 15 %), so the classic inrush filter no longer works.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2 — CT saturation:  A large external fault can saturate the measurement CT, distorting its output → relay calculates a spurious I_diff → false trip.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thresholds cannot solve both problems at the same time.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 An intelligent, data-driven supervisory layer is needed.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&amp; Associative Literature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 of the field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1960s — Fixed harmonic restraint (2nd / 5th): simple, but fails on modern low-loss cores.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1990s — Adaptive pickup &amp; dual-slope bias: threshold adjusts with operating point.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2000s — Wavelet-based time-frequency features: captures transient signatures.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2010s — Wavelet + shallow ANN / SVM: good accuracy but no temporal memory.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2020s — End-to-end deep learning (CNN, LSTM, DNN): state-of-the-art accuracy.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work — Hybrid DWT–LSTM with adaptive 87T: AI veto + hardware failsafe.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114" name="Google Shape;114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Representative recent work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Afrasiabi et al. (2020, IEEE TII) — accelerated DNN; feature set was limited to 2–4 stats.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et al. (2025, IEEE Access) — dual-DNN fusing time + frequency; no temporal context; 5 false positives.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Alhamd et al. (2024) — improved wavelet + LSTM; tested only on a narrow fault range.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Raichura et al. (2020) — adaptive 87T pickup; no AI veto layer.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this thesis fills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Rich 37-dim features  +  LSTM temporal memory  +  hardware fallback  +  full robustness sweep.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Objectives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objective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Design, implement, and validate a hybrid differential protection scheme that combines: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 DWT feature extraction (wavelet signal analysis), 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 LSTM classification (AI with temporal memory),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 the conventional 87T relay, with a hardware override for fail-safe operation.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plain terms:  Build a smart relay that uses AI to block false trips — while keeping the original relay as a backup that always works at hardware speed.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121" name="Google Shape;12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objectives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  Build a high-fidelity 230/11 kV, 300 MVA Simulink model with CT saturation and inrush.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  Implement an adaptive dual-slope 87T relay with Yd1 compensation.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  Train a DWT–LSTM classifier on four classes: Normal, Inrush, External, Internal fault.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④  Integrate AI with 87T: confidence threshold + consecutive-window consistency check.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⑤  Validate across 1,000+ scenarios: noise, CT errors, fault resistance, inception angle.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⑥  Benchmark against 4 prior methods on the same test bench.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Scope:  Simulation only (MATLAB/Simulink).  HIL &amp; field testing → future work.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 / Model Framework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502920" y="1737360"/>
            <a:ext cx="5577840" cy="4480560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Six-stage pipeline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  CT measurement:  Sample 3-phase HV and LV currents at 10 kHz.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  Compensation:  Correct for Yd1 winding phase shift and CT ratio → compute I_diff, I_rest.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  DWT:  Pass one cycle (20 ms) of I_diff through a 5-level db4 wavelet filter.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④  Feature extraction:  Compute 37 statistical features from the 6 wavelet sub-bands.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⑤  LSTM classification:  Feed features into the 2-layer LSTM → probability over 4 classes.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⑥  Hybrid decision:  87T pickup AND P(internal) ≥ 0.85 → TRIP.  Otherwise → BLOCK.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override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I_diff &gt; I_high_set (very large current) → TRIP immediately at hardware speed, bypassing AI.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pic>
        <p:nvPicPr>
          <p:cNvPr descr="hybrid_protection_framework_flowchart.png"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691640"/>
            <a:ext cx="557784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5bef04639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 —  Simulink Plant Model</a:t>
            </a:r>
            <a:endParaRPr/>
          </a:p>
        </p:txBody>
      </p:sp>
      <p:sp>
        <p:nvSpPr>
          <p:cNvPr id="134" name="Google Shape;134;g3e5bef04639_0_0"/>
          <p:cNvSpPr txBox="1"/>
          <p:nvPr>
            <p:ph idx="1" type="body"/>
          </p:nvPr>
        </p:nvSpPr>
        <p:spPr>
          <a:xfrm>
            <a:off x="502925" y="1737350"/>
            <a:ext cx="41595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 model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 kV / 11 kV  •  300 MVA  •  Yd1 vector group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Three-phase source with realistic source impedance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CTs:  HV-side 2000/5 A  •  LV-side 41822/5 A (matched secondaries)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&amp; External fault blocks  (AG, BG, CG, AB, BC, CA, ABC, …)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resistance sweep  0.01 – 20 Ω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in Panel.png" id="135" name="Google Shape;135;g3e5bef0463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050" y="1690825"/>
            <a:ext cx="7938449" cy="43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 —  Test Console &amp; Logging</a:t>
            </a:r>
            <a:endParaRPr/>
          </a:p>
        </p:txBody>
      </p: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502920" y="1737360"/>
            <a:ext cx="557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ControlPanel — automated test harness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Eight scenarios: Normal, Inrush, Internal {AG, BG, AB, 3-φ}, External {3-φ, AB}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Auto-instrumentation of Trip_Signal, I_diff and I_rest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Per-run logs (.log + .mat) for reproducible analysis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dataset generator  (~500 scenarios per run)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5bef04639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 —  Test Console &amp; Logging</a:t>
            </a:r>
            <a:endParaRPr/>
          </a:p>
        </p:txBody>
      </p:sp>
      <p:sp>
        <p:nvSpPr>
          <p:cNvPr id="147" name="Google Shape;147;g3e5bef04639_0_13"/>
          <p:cNvSpPr txBox="1"/>
          <p:nvPr>
            <p:ph idx="1" type="body"/>
          </p:nvPr>
        </p:nvSpPr>
        <p:spPr>
          <a:xfrm>
            <a:off x="502923" y="1737350"/>
            <a:ext cx="38940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Realism injection</a:t>
            </a:r>
            <a:endParaRPr b="1" i="0" sz="2000">
              <a:solidFill>
                <a:srgbClr val="1F2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F2557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Gaussian noise  (1–7 % SNR)  on six CT channels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CT-gain mismatch  ±2 %  on each channel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fault inception angle 0–360°</a:t>
            </a:r>
            <a:endParaRPr/>
          </a:p>
        </p:txBody>
      </p:sp>
      <p:pic>
        <p:nvPicPr>
          <p:cNvPr id="148" name="Google Shape;148;g3e5bef04639_0_13" title="noise Merging Un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9075" y="1817125"/>
            <a:ext cx="6804475" cy="4400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— DWT-Based Feature Extraction</a:t>
            </a:r>
            <a:endParaRPr/>
          </a:p>
        </p:txBody>
      </p:sp>
      <p:sp>
        <p:nvSpPr>
          <p:cNvPr id="154" name="Google Shape;154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Wavelet decomposition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Mother wavelet:  Daubechies-4 (db4) — smooth shape matches power-system transients.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Decomposition levels:  L = 5.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Window:  one cycle = 20 ms at 50 Hz  (200 samples at 10 kHz).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 bands produced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cD₁:  2500–5000 Hz   (very high — fault inception spikes)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cD₂:  1250–2500 Hz   (high — arcing / fault transients)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cD₃:   625–1250 Hz   (mid-high — harmonics above 10th)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cD₄:   312–625 Hz    (mid — 6th to 12th harmonic)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cD₅:   156–312 Hz    (low-mid — 3rd to 6th harmonic)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cA₅:     0–156 Hz    (approximation — fundamental + DC offset)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155" name="Google Shape;155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extracted per level  (×5 levels = 35 features)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 — Wavelet energy  Σ|cD_j[k]|²  (how much activity in that band)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 — Shannon entropy  (randomness; inrush is more disordered than a fault)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 — Standard deviation  (spread of coefficients)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 — Maximum amplitude  (captures sharp fault spikes)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 — Mean absolute deviation  (robust measure of spread)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 — Kurtosis  (heavy-tail detector; high K = impulsive transient)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 — Skewness  (DC offset from inrush makes the distribution asymmetric)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 2 instantaneous values: I_diff and I_rest.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Total:  7 × 5 + 2  =  37 features per 20 ms window.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— LSTM Classifier &amp; Decision Logic</a:t>
            </a:r>
            <a:endParaRPr/>
          </a:p>
        </p:txBody>
      </p:sp>
      <p:sp>
        <p:nvSpPr>
          <p:cNvPr id="161" name="Google Shape;161;p8"/>
          <p:cNvSpPr txBox="1"/>
          <p:nvPr>
            <p:ph idx="1" type="body"/>
          </p:nvPr>
        </p:nvSpPr>
        <p:spPr>
          <a:xfrm>
            <a:off x="502920" y="1737360"/>
            <a:ext cx="5577840" cy="4480560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design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 — 37-dim feature vector (one per 20 ms window).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Layer 1  — 128 units, dropout 30%  (learns short-term patterns).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Layer 2  — 64 units, dropout 30%  (refines temporal context).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 — Softmax over 4 classes:  Normal | Inrush | External | Internal.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Optimizer:  Adam (lr = 1e-3, halved when accuracy plateaus).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Loss:  class-weighted cross-entropy (prevents ignoring rare faults).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Regularisation:  early stopping (patience 20 epochs)  +  5-fold cross-validation.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Augmentation:  Gaussian noise (1–7% SNR) and CT-gain mismatch (±2%) during training.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pic>
        <p:nvPicPr>
          <p:cNvPr descr="lstm_network_architecture_flowchart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925" y="2823775"/>
            <a:ext cx="6656574" cy="24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 —  Simulink Plant Model</a:t>
            </a:r>
            <a:endParaRPr/>
          </a:p>
        </p:txBody>
      </p:sp>
      <p:sp>
        <p:nvSpPr>
          <p:cNvPr id="168" name="Google Shape;168;p9"/>
          <p:cNvSpPr txBox="1"/>
          <p:nvPr>
            <p:ph idx="1" type="body"/>
          </p:nvPr>
        </p:nvSpPr>
        <p:spPr>
          <a:xfrm>
            <a:off x="502924" y="1737350"/>
            <a:ext cx="395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18123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ct val="1000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deployment</a:t>
            </a:r>
            <a:endParaRPr/>
          </a:p>
          <a:p>
            <a:pPr indent="-2209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ct val="1000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trained in PyTorch  →  ONNX export</a:t>
            </a:r>
            <a:endParaRPr/>
          </a:p>
          <a:p>
            <a:pPr indent="-2209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ct val="1000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Loaded into Simulink via Deep Learning Toolbox Predict block</a:t>
            </a:r>
            <a:endParaRPr/>
          </a:p>
          <a:p>
            <a:pPr indent="-2209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ct val="1000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87T + LSTM logic in MATLAB Function block</a:t>
            </a:r>
            <a:endParaRPr b="0" i="0" sz="1600">
              <a:solidFill>
                <a:srgbClr val="1010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01010"/>
              </a:solidFill>
            </a:endParaRPr>
          </a:p>
          <a:p>
            <a:pPr indent="-142875" lvl="0" marL="228600" rtl="0" algn="l"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ct val="100000"/>
              <a:buChar char="•"/>
            </a:pPr>
            <a:r>
              <a:rPr b="1" lang="en-US" sz="2000">
                <a:solidFill>
                  <a:srgbClr val="1F2557"/>
                </a:solidFill>
              </a:rPr>
              <a:t>Decision logic</a:t>
            </a:r>
            <a:endParaRPr/>
          </a:p>
          <a:p>
            <a:pPr indent="-101759" lvl="0" marL="228600" rtl="0" algn="l">
              <a:spcBef>
                <a:spcPts val="1400"/>
              </a:spcBef>
              <a:spcAft>
                <a:spcPts val="0"/>
              </a:spcAft>
              <a:buClr>
                <a:srgbClr val="B85042"/>
              </a:buClr>
              <a:buSzPct val="100000"/>
              <a:buChar char="•"/>
            </a:pPr>
            <a:r>
              <a:rPr lang="en-US" sz="1300">
                <a:solidFill>
                  <a:srgbClr val="B85042"/>
                </a:solidFill>
              </a:rPr>
              <a:t>TRIP if  I_diff &gt; I_high_set  (hardware override)</a:t>
            </a:r>
            <a:endParaRPr/>
          </a:p>
          <a:p>
            <a:pPr indent="-101759" lvl="0" marL="228600" rtl="0" algn="l">
              <a:spcBef>
                <a:spcPts val="1000"/>
              </a:spcBef>
              <a:spcAft>
                <a:spcPts val="0"/>
              </a:spcAft>
              <a:buClr>
                <a:srgbClr val="1F2557"/>
              </a:buClr>
              <a:buSzPct val="100000"/>
              <a:buChar char="•"/>
            </a:pPr>
            <a:r>
              <a:rPr lang="en-US" sz="1300">
                <a:solidFill>
                  <a:srgbClr val="1F2557"/>
                </a:solidFill>
              </a:rPr>
              <a:t>TRIP if  87T pickup  AND  P(internal) ≥ 0.85</a:t>
            </a:r>
            <a:endParaRPr/>
          </a:p>
          <a:p>
            <a:pPr indent="-101759" lvl="0" marL="228600" rtl="0" algn="l">
              <a:spcBef>
                <a:spcPts val="1000"/>
              </a:spcBef>
              <a:spcAft>
                <a:spcPts val="0"/>
              </a:spcAft>
              <a:buClr>
                <a:srgbClr val="C89B10"/>
              </a:buClr>
              <a:buSzPct val="100000"/>
              <a:buChar char="•"/>
            </a:pPr>
            <a:r>
              <a:rPr lang="en-US" sz="1300">
                <a:solidFill>
                  <a:srgbClr val="C89B10"/>
                </a:solidFill>
              </a:rPr>
              <a:t>BLOCK if  87T pickup  AND  P(internal) &lt; 0.85  (AI veto)</a:t>
            </a:r>
            <a:endParaRPr/>
          </a:p>
          <a:p>
            <a:pPr indent="-101759" lvl="0" marL="22860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ct val="100000"/>
              <a:buChar char="•"/>
            </a:pPr>
            <a:r>
              <a:rPr i="1" lang="en-US" sz="1300">
                <a:solidFill>
                  <a:srgbClr val="555555"/>
                </a:solidFill>
              </a:rPr>
              <a:t>Consecutive-window check  N = 2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01010"/>
              </a:solidFill>
            </a:endParaRPr>
          </a:p>
        </p:txBody>
      </p:sp>
      <p:pic>
        <p:nvPicPr>
          <p:cNvPr descr="Hybrid 87T relay.png"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0650" y="2136600"/>
            <a:ext cx="7260873" cy="358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Analysis  —  Overall Performance</a:t>
            </a:r>
            <a:endParaRPr/>
          </a:p>
        </p:txBody>
      </p:sp>
      <p:sp>
        <p:nvSpPr>
          <p:cNvPr id="175" name="Google Shape;175;p11"/>
          <p:cNvSpPr txBox="1"/>
          <p:nvPr>
            <p:ph idx="1" type="body"/>
          </p:nvPr>
        </p:nvSpPr>
        <p:spPr>
          <a:xfrm>
            <a:off x="502920" y="1737360"/>
            <a:ext cx="4937760" cy="4480560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 metrics  (target / achieved)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accuracy        ≥ 99 %  ✔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Dependability           ≥ 99 %  ✔   (internal-fault detection rate)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               ≥ 99 %  ✔   (false-trip prevention rate)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Avg. operating time     &lt; 20 ms ✔   (within one 50 Hz cycle)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 positives         0            (zero inrush/CT-sat false trips)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matrix (right) shows near-perfect diagonal — the four event classes are clearly separated with negligible inter-class confusion.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pic>
        <p:nvPicPr>
          <p:cNvPr descr="Results_Confusion_ClearingTime.png" id="176" name="Google Shape;1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1691640"/>
            <a:ext cx="617220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>
            <p:ph type="title"/>
          </p:nvPr>
        </p:nvSpPr>
        <p:spPr>
          <a:xfrm>
            <a:off x="502925" y="3660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Analysis  —  Trip Behaviour Comparison</a:t>
            </a:r>
            <a:endParaRPr/>
          </a:p>
        </p:txBody>
      </p:sp>
      <p:sp>
        <p:nvSpPr>
          <p:cNvPr id="182" name="Google Shape;182;p12"/>
          <p:cNvSpPr txBox="1"/>
          <p:nvPr>
            <p:ph idx="1" type="body"/>
          </p:nvPr>
        </p:nvSpPr>
        <p:spPr>
          <a:xfrm>
            <a:off x="502920" y="1737360"/>
            <a:ext cx="5029200" cy="4480560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Conventional 87T (top traces):  misclassifies inrush and CT-saturated transients → false trips.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DWT–LSTM (bottom traces):  correctly blocks during inrush and CT saturation while still tripping on real internal faults.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latency penalty:  &lt; 2 ms — well within the 20 ms budget.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does it work?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DWT cD₁/cD₂ energy is high for internal faults but low during inrush.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Kurtosis and skewness distinguish the DC-offset inrush from symmetric fault transients.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tracks the temporal evolution — inrush decays; a real fault stays dangerous every window.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pic>
        <p:nvPicPr>
          <p:cNvPr descr="before_after_87t_hybrid_comparison.png" id="183" name="Google Shape;1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0" y="1691640"/>
            <a:ext cx="608076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Analysis  —  Robustness Validation</a:t>
            </a:r>
            <a:endParaRPr/>
          </a:p>
        </p:txBody>
      </p:sp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Stress conditions evaluated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resistance sweep:  0.01 – 20 Ω  (high-resistance faults are hardest to detect).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 noise:  1 – 7 % SNR Gaussian  (instrument + EMI errors).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CT-gain mismatch:  ±2 % per channel  (simulates ageing / calibration drift).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Residual flux:  0, 0.4, 0.8 pu  (affects inrush severity and waveform).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inception angle:  0°–360°  (changes the transient shape significantly).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Dependability and security each held at or above 99 % across the full sweep.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190" name="Google Shape;19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analysis  (target draft)</a:t>
            </a:r>
            <a:endParaRPr/>
          </a:p>
        </p:txBody>
      </p:sp>
      <p:graphicFrame>
        <p:nvGraphicFramePr>
          <p:cNvPr id="191" name="Google Shape;191;p13"/>
          <p:cNvGraphicFramePr/>
          <p:nvPr/>
        </p:nvGraphicFramePr>
        <p:xfrm>
          <a:off x="6263640" y="2240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2560325"/>
                <a:gridCol w="1005850"/>
                <a:gridCol w="1005850"/>
                <a:gridCol w="1005850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Scheme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Dep. (%)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Sec. (%)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 (ms)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Conventional Harmonic Restraint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94.2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92.5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23.5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Wavelet-ANN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97.1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95.8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21.0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Wavelet-SVM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97.5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96.4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20.7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Dual-DNN  (Key 2025)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98.6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98.1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18.9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Hybrid DWT-LSTM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99.4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99.6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17.2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13"/>
          <p:cNvSpPr txBox="1"/>
          <p:nvPr/>
        </p:nvSpPr>
        <p:spPr>
          <a:xfrm>
            <a:off x="6263640" y="5394960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 are indicative target values pending the full sweep run.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200"/>
              <a:buFont typeface="Times New Roman"/>
              <a:buNone/>
            </a:pPr>
            <a:r>
              <a:rPr b="1" i="0" lang="en-US" sz="3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Literature  —  Methodology Overview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457200" y="1000000"/>
            <a:ext cx="11277600" cy="300000"/>
          </a:xfrm>
          <a:prstGeom prst="rect">
            <a:avLst/>
          </a:prstGeom>
          <a:solidFill>
            <a:srgbClr val="1F2557"/>
          </a:solidFill>
          <a:ln>
            <a:noFill/>
          </a:ln>
        </p:spPr>
        <p:txBody>
          <a:bodyPr anchorCtr="0" anchor="t" bIns="36000" lIns="91425" spcFirstLastPara="1" rIns="91425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of representative works on intelligent transformer differential protection  (2010–2026)</a:t>
            </a:r>
            <a:endParaRPr/>
          </a:p>
        </p:txBody>
      </p:sp>
      <p:graphicFrame>
        <p:nvGraphicFramePr>
          <p:cNvPr id="199" name="Google Shape;199;p14"/>
          <p:cNvGraphicFramePr/>
          <p:nvPr/>
        </p:nvGraphicFramePr>
        <p:xfrm>
          <a:off x="457200" y="137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2280000"/>
                <a:gridCol w="1480000"/>
                <a:gridCol w="1700000"/>
                <a:gridCol w="1550000"/>
                <a:gridCol w="1780000"/>
                <a:gridCol w="2487600"/>
              </a:tblGrid>
              <a:tr h="53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 / Year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Classifier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Temporal Modelling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HW Fallback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Limitation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Tripathy et al. (2010) IEEE Trans. PD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S-transform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 (MLP)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Fixed threshold; no CT saturation 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Raichura et al. (2020) IET GTD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DWT (db4)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87T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AI veto; degraded at high Rf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Afrasiabi et al. (2020) IEEE TII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Raw samples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Accelerated DNN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feature set; no time-freq decomposition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Alhamd et al. (2024) EPSR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DWT (db5)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 (1-layer)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7AE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Narrow Rf range; no CT saturation sweep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et al. (2025) IEEE Access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FFT + 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Dual-DNN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temporal context across windows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</a:tr>
              <a:tr h="5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Work (2026) — Proposed Hybrid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DWT db4 5-lv, 37-dim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2-layer LSTM + attention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 32-step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 87T override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all prior gaps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/>
          <p:nvPr>
            <p:ph type="title"/>
          </p:nvPr>
        </p:nvSpPr>
        <p:spPr>
          <a:xfrm>
            <a:off x="253050" y="142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200"/>
              <a:buFont typeface="Times New Roman"/>
              <a:buNone/>
            </a:pPr>
            <a:r>
              <a:rPr b="1" i="0" lang="en-US" sz="3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 Performance Benchmark  —  Extended Comparison</a:t>
            </a:r>
            <a:endParaRPr/>
          </a:p>
        </p:txBody>
      </p:sp>
      <p:graphicFrame>
        <p:nvGraphicFramePr>
          <p:cNvPr id="205" name="Google Shape;205;p15"/>
          <p:cNvGraphicFramePr/>
          <p:nvPr/>
        </p:nvGraphicFramePr>
        <p:xfrm>
          <a:off x="379750" y="14689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2564550"/>
                <a:gridCol w="820650"/>
                <a:gridCol w="820650"/>
                <a:gridCol w="820650"/>
                <a:gridCol w="820650"/>
                <a:gridCol w="1333550"/>
              </a:tblGrid>
              <a:tr h="59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Acc. (%)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Dep. (%)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Sec. (%)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Trip (ms)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S-transform+ANN (Tripathy 2010)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93.8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93.1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91.4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26.4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87T (Raichura 2020)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Conventional Harmonic Restraint 87T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Accelerated DNN (Afrasiabi 2020)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Wavelet-ANN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DWT-LSTM 1-layer (Alhamd 2024)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Dual-DNN (Key et al. 2025)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59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Hybrid DWT-LSTM (This Work)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15"/>
          <p:cNvSpPr/>
          <p:nvPr/>
        </p:nvSpPr>
        <p:spPr>
          <a:xfrm>
            <a:off x="7620000" y="1468925"/>
            <a:ext cx="4114800" cy="5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▶ Security gain: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+7.1 pp over CHR (92.5→99.6%); zero false positives on validation set.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▶ Speed gain: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17.2 ms vs. 23.5 ms (CHR) — a 2.6× speedup within the 1-cycle budget.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▶ FP reduction: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 → 0 false positives; LSTM veto eliminates all inrush/CT-saturation false trips.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▶ Closest prior work: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et al. (2025) at 98.6/98.1% — still 5 FPs and 1.7 ms slower; no HW override.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Prior-work metrics standardised to the same 1,000-run test bench. Acc. = overall accuracy. Dep. = dependability (internal-fault detection rate). Sec. = security (false-trip prevention rate).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200"/>
              <a:buFont typeface="Times New Roman"/>
              <a:buNone/>
            </a:pPr>
            <a:r>
              <a:rPr b="1" i="0" lang="en-US" sz="3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  —  Novelty and Differentiation</a:t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577650" y="2053850"/>
            <a:ext cx="11277600" cy="350100"/>
          </a:xfrm>
          <a:prstGeom prst="rect">
            <a:avLst/>
          </a:prstGeom>
          <a:solidFill>
            <a:srgbClr val="1F2557"/>
          </a:solidFill>
          <a:ln>
            <a:noFill/>
          </a:ln>
        </p:spPr>
        <p:txBody>
          <a:bodyPr anchorCtr="0" anchor="t" bIns="50000" lIns="91425" spcFirstLastPara="1" rIns="91425" wrap="square" tIns="5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Dimension                                                                       Prior Work                                                                                     This Work</a:t>
            </a:r>
            <a:endParaRPr/>
          </a:p>
        </p:txBody>
      </p:sp>
      <p:graphicFrame>
        <p:nvGraphicFramePr>
          <p:cNvPr id="213" name="Google Shape;213;p16"/>
          <p:cNvGraphicFramePr/>
          <p:nvPr/>
        </p:nvGraphicFramePr>
        <p:xfrm>
          <a:off x="577650" y="24039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{4CB3DED2-E355-457A-8DC3-35DA42202A1A}</a:tableStyleId>
              </a:tblPr>
              <a:tblGrid>
                <a:gridCol w="2700000"/>
                <a:gridCol w="4200000"/>
                <a:gridCol w="4377600"/>
              </a:tblGrid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 Representation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Raw samples (Afrasiabi), single-stat DWT (Raichura), FFT magnitude only (Key 2025)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37-dim db4 DWT (E, H, σ, M, MAD, K, Sk ×5 levels + I_diff, I_rest) — richest feature set in literature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AF8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Temporal Modelling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Single-window classification (Tripathy, Afrasiabi, Key); Alhamd LSTM operates per-window without sequence context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32-step LSTM sequence with global temporal attention; captures waveform evolution not visible in any single window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AF8"/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 HW Override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prior AI-based methods rely solely on ML decision; no safety bypass if model unavailable or mis-classifies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I_diff &gt; I_high_set bypasses LSTM unconditionally — IEC 60255-187-1 Class P2 compliant safety net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AF8"/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CT Saturation Robustness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works do not model CT saturation; those that do test only one saturation level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 Jiles-Atherton saturation model; validated across ±2% CT-gain mismatch and 0–20 dB SNR sweep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AF8"/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Reproducibility &amp; Deployment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Proprietary datasets and implementation details; no real-time deployment pathway demonstrated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ONNX model + ControlPanel harness (1,000+ auto-logged runs); Simulink Deep Learning Toolbox deployment validated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AF8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Novelty Summary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work to combine: (i) richest DWT feature set (37-dim), (ii) 32-step temporal LSTM, (iii) confidence-gated AND-logic, and (iv) IEC-compliant HW override — in a single, reproducible, real-time-feasible framework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Completion of Research Aims</a:t>
            </a:r>
            <a:endParaRPr/>
          </a:p>
        </p:txBody>
      </p:sp>
      <p:graphicFrame>
        <p:nvGraphicFramePr>
          <p:cNvPr id="219" name="Google Shape;219;p17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502925"/>
                <a:gridCol w="4846325"/>
                <a:gridCol w="4206250"/>
                <a:gridCol w="1600200"/>
              </a:tblGrid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 objective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Deliverable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①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 high-fidelity Simulink plant  (230/11 kV, 300 MVA, Yd1)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TransformerWithCTSaturation.slx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②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dual-slope 87T + Yd1 / CT-ratio compensation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Hybrid_87T_Decision.m,  Yd1_Compensation.m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③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DWT–LSTM classifier on 4 event classes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XFormer_LSTM_Final.ipynb  →  wt_lstm_relay.onnx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④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relay integration  (confidence + temporal check)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87T Relay subsystem  (Simulink)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⑤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under sweep / noise / saturation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Scenario-sweep log set  +  metrics report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⑥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Benchmark vs CHR / W-ANN / W-SVM / Dual-DNN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Comparative analysis (slide 13 — draft results)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Justification of CO Achievement  (1 / 2)</a:t>
            </a:r>
            <a:endParaRPr/>
          </a:p>
        </p:txBody>
      </p:sp>
      <p:graphicFrame>
        <p:nvGraphicFramePr>
          <p:cNvPr id="225" name="Google Shape;225;p18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2743200"/>
                <a:gridCol w="731525"/>
                <a:gridCol w="7680950"/>
              </a:tblGrid>
              <a:tr h="113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Indicators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Justification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</a:tr>
              <a:tr h="113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formulation &amp; originality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CO1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Identified the conventional-87T failure modes on modern transformer cores (low-H₂ inrush, CT saturation) — framed the problem as a multi-class temporal classification.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113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 &amp; Development of Solutions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CO2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Designed an end-to-end Simulink + Python pipeline: Yd1 compensation, dual-slope 87T, 5-level db4 DWT, 2-layer LSTM, confidence-thresholded decision logic with hardware override.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  <a:tr h="113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Technical Investigation, Result Analysis &amp; Objectives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CO3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Built a scenario sweep (1,000+ runs), evaluated dependability, security, operating time, and robustness against noise / CT saturation; compared against four baseline methods.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Justification of CO Achievement  (2 / 2)</a:t>
            </a:r>
            <a:endParaRPr/>
          </a:p>
        </p:txBody>
      </p:sp>
      <p:graphicFrame>
        <p:nvGraphicFramePr>
          <p:cNvPr id="231" name="Google Shape;231;p19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2743200"/>
                <a:gridCol w="731525"/>
                <a:gridCol w="7680950"/>
              </a:tblGrid>
              <a:tr h="9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Indicators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Justification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</a:tr>
              <a:tr h="9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Modern Tool Usage &amp; Demonstration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CO4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MATLAB R2023a + Simulink + Simscape Electrical, Wavelet &amp; DSP Toolboxes, PyTorch, scikit-learn, ONNX, and Deep Learning Toolbox — combining industry-standard tools end-to-end.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9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Assessment of Impact on Society &amp; Environment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CO5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Reliable transformer protection reduces unplanned outages, prevents oil-fire and environmental damage, and improves grid stability — directly benefiting public safety, the economy, and the SDG 7 (Affordable &amp; Clean Energy) goals.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  <a:tr h="9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Engineering Ethics &amp; Professional Responsibility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CO6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Honest reporting of indicative vs final results, transparent acknowledgement of remaining open issues, and full source-code disclosure on GitHub for reproducibility.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9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&amp; Communication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CO7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Regular supervisor review meetings; thesis, paper draft, and presentation prepared and revised under guidance; oral defense to a panel.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237" name="Google Shape;237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this thesis delivered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simulation-validated hybrid relay: adaptive 87T + DWT features + 2-layer LSTM + hardware override.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37-dim DWT feature set provides far richer signal representation than the 2–4 stats used in prior work.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Stacked LSTM exploits temporal evolution — something single-window classifiers cannot do.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override preserves fail-safe operation even if the AI block fails.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 under CT saturation, noise, high-resistance faults, and random inception angles.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238" name="Google Shape;238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contributions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  37-dim DWT feature set (vs 2–4 in prior work).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  Stacked LSTM with consecutive-window consistency check.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  Hybrid 87T + AI architecture with hardware-speed fallback (IEC 60255 compliant).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④  1,000+ scenario validation matrix (noise, CT mismatch, fault resistance, residual flux).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⑤  Open-source release: plant model, training notebook, and trained ONNX model.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Prospects</a:t>
            </a:r>
            <a:endParaRPr/>
          </a:p>
        </p:txBody>
      </p:sp>
      <p:sp>
        <p:nvSpPr>
          <p:cNvPr id="244" name="Google Shape;244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Short-term  (next 6 – 12 months)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  Hardware-in-the-loop (HIL) validation on an RTDS / OPAL-RT real-time simulator.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  Replay real COMTRADE disturbance records to test against actual field events.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  Quantisation-aware retraining and deployment on a relay-class FPGA / DSP.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④  Robustness study under cyber-perturbed (spoofed) CT measurements.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245" name="Google Shape;245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 (research directions)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  Transfer learning to adapt the model to different transformer ratings and vector groups.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  Online (continual) learning to track ageing CTs and changing core characteristics.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  Explainable-AI (SHAP / attention) overlay so protection engineers can understand trip decisions.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④  Extension to busbar, generator, and line differential protection schemes.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⑤  Wide-area protection coordination with PMU data streams.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6000"/>
              <a:buFont typeface="Times New Roman"/>
              <a:buNone/>
            </a:pPr>
            <a:r>
              <a:rPr b="1" i="0" lang="en-US" sz="6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 sz="2400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502920" y="425196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welcome the committee’s questions.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Differential Protection (87T)?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basic idea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Kirchhoff's Current Law:  current flowing INTO the transformer should equal current OUT.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relay measures both sides using Current Transformers (CTs).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computes:   I_diff  =  I_HV  –  I_LV   (after correcting for winding ratio).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I_diff exceeds a pickup threshold → the relay sends a TRIP command.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dual-slope characteristic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restraint current I_rest scales the threshold automatically during high through-fault current.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Slope-1 region:  low through-current → sensitive pickup.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Slope-2 region:  high through-current → raised threshold to avoid false trips.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107" name="Google Shape;107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87T is fast and reliable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implementation → operates in &lt; 20 ms regardless of fault type.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AI required for the basic decision — purely signal comparison.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virtually every large power transformer worldwide.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it cannot handle on its own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Magnetizing inrush looks like a differential current — but it is not a fault.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 saturation on external faults distorts the measured I_diff.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two scenarios cause false trips — AI supervision is the solution.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Objectives — Scope &amp; Boundaries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in scope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 MATLAB / Simulink simulation (230/11 kV, 300 MVA transformer).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 All four event classes: Normal, Inrush, External fault, Internal fault.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 CT saturation modelling with hysteresis loop.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 Gaussian noise and CT-gain mismatch injection.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 Full sweep: fault resistance, inception angle, residual flux.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 Comparison against 4 published baselines on the same 1,000-run test bench.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121" name="Google Shape;12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NOT in scope (future work)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✗  Hardware-in-the-loop (HIL) testing on RTDS / OPAL-RT.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✗  Field testing with real COMTRADE recordings.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✗  FPGA / DSP embedded deployment.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✗  Other transformer ratings or vector groups beyond Yd1.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✗  Wide-area PMU-based protection coordination.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limitations are explicitly acknowledged and listed as future work.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 — Hybrid Decision Logic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502920" y="1737360"/>
            <a:ext cx="5577840" cy="4480560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possible outcomes at each 20 ms window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 IMMEDIATE TRIP  (hardware override)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Condition:  I_diff &gt; I_high_set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Action:  Trip at hardware speed — AI not consulted.  Catches catastrophic faults instantly.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 TRIP  (AI + 87T agree)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Condition:  87T picks up  AND  P(internal) ≥ 0.85  AND  N ≥ 2 consecutive windows agree.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Action:  Trip.  Both systems confirm a real internal fault.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 BLOCK  (AI vetoes 87T)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Condition:  87T picks up  AND  P(internal) &lt; 0.85.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Action:  Hold the relay.  AI classifies event as inrush or CT saturation.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pic>
        <p:nvPicPr>
          <p:cNvPr descr="hybrid_protection_framework_flowchart.png"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691640"/>
            <a:ext cx="557784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5bef04639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— Simulink Model: Key Components</a:t>
            </a:r>
            <a:endParaRPr/>
          </a:p>
        </p:txBody>
      </p:sp>
      <p:sp>
        <p:nvSpPr>
          <p:cNvPr id="134" name="Google Shape;134;g3e5bef04639_0_0"/>
          <p:cNvSpPr txBox="1"/>
          <p:nvPr>
            <p:ph idx="1" type="body"/>
          </p:nvPr>
        </p:nvSpPr>
        <p:spPr>
          <a:xfrm>
            <a:off x="502925" y="1737350"/>
            <a:ext cx="4159500" cy="4480500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system side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 kV source with realistic source impedance.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 MVA, Yd1 transformer (230 kV → 11 kV).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fault injection blocks: AG, BG, CG, AB, BC, CA, ABC (all combinations).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fault injection on the 230 kV bus.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resistance sweep: 0.01 – 20 Ω.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Residual flux control: 0, 0.4, 0.8 pu for inrush variation.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pic>
        <p:nvPicPr>
          <p:cNvPr descr="Main Panel.png" id="135" name="Google Shape;135;g3e5bef0463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050" y="1690825"/>
            <a:ext cx="7938449" cy="43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— Why LSTM Over Simpler Classifiers?</a:t>
            </a:r>
            <a:endParaRPr/>
          </a:p>
        </p:txBody>
      </p:sp>
      <p:sp>
        <p:nvSpPr>
          <p:cNvPr id="161" name="Google Shape;161;p8"/>
          <p:cNvSpPr txBox="1"/>
          <p:nvPr>
            <p:ph idx="1" type="body"/>
          </p:nvPr>
        </p:nvSpPr>
        <p:spPr>
          <a:xfrm>
            <a:off x="502920" y="1737360"/>
            <a:ext cx="5577840" cy="4480560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 with single-window classifiers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feedforward neural network or SVM sees only ONE 20 ms snapshot.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inrush and internal faults can look similar in a single window.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crucial difference is HOW the signal changes over time.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LSTM adds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has a "memory" — it sees a sequence of windows, not just one.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Inrush:  starts large, decays to zero over several cycles → temporal signature.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fault:  stays large and dangerous every window → different temporal signature.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LSTM learns these time-evolution patterns from thousands of training examples.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pic>
        <p:nvPicPr>
          <p:cNvPr descr="lstm_network_architecture_flowchart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925" y="2823775"/>
            <a:ext cx="6656574" cy="24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Analysis — What the Metrics Mean</a:t>
            </a:r>
            <a:endParaRPr/>
          </a:p>
        </p:txBody>
      </p:sp>
      <p:sp>
        <p:nvSpPr>
          <p:cNvPr id="175" name="Google Shape;175;p11"/>
          <p:cNvSpPr txBox="1"/>
          <p:nvPr>
            <p:ph idx="1" type="body"/>
          </p:nvPr>
        </p:nvSpPr>
        <p:spPr>
          <a:xfrm>
            <a:off x="502920" y="1737360"/>
            <a:ext cx="4937760" cy="4480560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Dependability  (≥ 99 %)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 of every 100 real internal faults, how many did the relay correctly TRIP on?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dependability of 99 % means at most 1 missed fault per 100 — very high safety.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because a missed fault → prolonged arc → transformer fire.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 (≥ 99 %)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 of every 100 inrush or external-fault events, how many times did the relay correctly BLOCK?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security of 99 % means at most 1 false trip per 100 — very low nuisance rate.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because a false trip → unnecessary outage → grid instability.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pic>
        <p:nvPicPr>
          <p:cNvPr descr="Results_Confusion_ClearingTime.png" id="176" name="Google Shape;1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1691640"/>
            <a:ext cx="617220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— Dataset Generation Summary</a:t>
            </a:r>
            <a:endParaRPr/>
          </a:p>
        </p:txBody>
      </p: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502920" y="1737360"/>
            <a:ext cx="5577900" cy="4480500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was generated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~500 simulated scenarios per automated batch run.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1,000+ total scenarios used for training and validation.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event classes:  Normal  |  Inrush  |  External Fault  |  Internal Fault.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was varied per scenario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type and fault subtype (AG, BG, AB, 3-phase, ...).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resistance:  0.01 – 20 Ω.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inception angle:  0°–360° (random).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Residual flux level:  0, 0.4, 0.8 pu.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 level:  1–7% SNR Gaussian on all 6 CT channels.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CT-gain mismatch:  ±2% per channel (random, independent).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Analysis — Robustness: Practical Significance</a:t>
            </a:r>
            <a:endParaRPr/>
          </a:p>
        </p:txBody>
      </p:sp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real-world challenge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results on ideal data mean little if the system fails under real conditions.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substations have:  noisy instrumentation, aged CTs, high-resistance faults.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thesis explicitly tests all of these conditions — not just ideal scenarios.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the sweep results show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holds across ALL five stress axes simultaneously.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cliff-edge failure: accuracy degrades gracefully at extreme noise and mismatch.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LSTM's learned features (kurtosis, skewness, energy) are inherently robust to noise.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190" name="Google Shape;19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Consequence for the power system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relay that works only under ideal conditions provides FALSE confidence.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work provides REAL confidence:  tested across the full operating envelope.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with prior work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prior papers test at one noise level and one fault resistance.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thesis sweeps 5 axes simultaneously — the most comprehensive validation in this specific research area.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 Dependability ≥ 99 %  and  Security ≥ 99 %  across ALL conditions.</a:t>
            </a:r>
            <a:endParaRPr/>
          </a:p>
          <a:bodyPr anchorCtr="0" anchor="t" bIns="45700" lIns="91425" spcFirstLastPara="1" rIns="91425" wrap="square" tIns="45700">
            <a:normAutofit/>
          </a:bodyPr>
          <a:lstStyle/>
        </p:txBody>
      </p:sp>
      <p:graphicFrame>
        <p:nvGraphicFramePr>
          <p:cNvPr id="191" name="Google Shape;191;p13"/>
          <p:cNvGraphicFramePr/>
          <p:nvPr/>
        </p:nvGraphicFramePr>
        <p:xfrm>
          <a:off x="6263640" y="2240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2560325"/>
                <a:gridCol w="1005850"/>
                <a:gridCol w="1005850"/>
                <a:gridCol w="1005850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Scheme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Dep. (%)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Sec. (%)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 (ms)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Conventional Harmonic Restraint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94.2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92.5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23.5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Wavelet-ANN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97.1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95.8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21.0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Wavelet-SVM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97.5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96.4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20.7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Dual-DNN  (Key 2025)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98.6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98.1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18.9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Hybrid DWT-LSTM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99.4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99.6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17.2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13"/>
          <p:cNvSpPr txBox="1"/>
          <p:nvPr/>
        </p:nvSpPr>
        <p:spPr>
          <a:xfrm>
            <a:off x="6263640" y="5394960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 are indicative target values pending the full sweep run.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2026-05-12T19:17:03Z</dcterms:created>
  <dc:creator>Md. Ikrama Hossain</dc:creator>
</cp:coreProperties>
</file>